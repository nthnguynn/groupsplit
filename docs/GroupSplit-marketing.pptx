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bằng câu hỏi: lần gần nhất đi chơi cả nhóm, mất bao lâu để chốt ai nợ ai? GroupSplit làm việc đó tự động: ghi hóa đơn, tính nợ, và trả bằng một lần quét mã.
Màn hình điện thoại là góc nhìn của Chi trong chuyến Đà Lạt: hai hóa đơn đã duyệt được gom lại thành đúng một con số phải trả.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dùng riêng được khi chỉ cần một trang giới thiệu (đăng mạng xã hội, in tờ rơi). Đọc theo hàng: ba ô trên là chia và trả tiền, ba ô dưới là quỹ, thông báo và thống kê.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to ba câu trích dẫn; khán giả thường cười vì đã gặp. Câu chốt ở dưới chuyển sang phần giải pháp.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vào bước duyệt: trưởng nhóm duyệt hóa đơn trước khi tính, nên nhóm tránh được tranh cãi kiểu "khoản này tôi chưa đồng 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nhanh: A trả khách sạn nên B, C, D mỗi người nợ A 300.000; B trả bữa tối nên A, C, D mỗi người nợ B 100.000. Bình vừa nợ vừa được nợ đúng bằng nhau nên không phải chuyển. Chi và Dũng mỗi người chuyển An 400.000 là xong.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khác biệt lớn nhất. Người nợ không phải hỏi số tài khoản, người nhận không phải dò sao kê. SePay là dịch vụ theo dõi biến động số dư; người nhận bật một lần trong phần Cài đặt.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ví dụ phòng trọ 302: mỗi tháng góp quỹ, đi chợ chi từ quỹ, thủ quỹ cấp tiền mua đồ dùng chung. Ai cũng mở app là thấy quỹ còn bao nhiêu và đã chi vào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thông báo bên phải là một vòng đời hóa đơn: Bình thêm, An duyệt, Chi trả. Mọi người trong nhóm thấy cùng lúc, kể cả khi đang mở app trên máy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khán giả họ thuộc nhóm nào. Dòng "an tâm khi dùng" trả lời trước câu hỏi về bảo mật: tài khoản xác thực email, mật khẩu không lưu dạng chữ thường, mọi hóa đơn qua trưởng nhóm duyệt, đăng nhập sai nhiều lần bị chặn.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bằng lời mời dùng thử ngay tại chỗ: mở website, tạo nhóm, gửi link vào nhóm chat. Ô trắng bên phải để chèn mã QR dẫn tới tên miền thật của website trước khi trình chiếu.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903720" y="868680"/>
            <a:ext cx="5120640" cy="5120640"/>
          </a:xfrm>
          <a:prstGeom prst="pie">
            <a:avLst>
              <a:gd name="adj1" fmla="val 5400000"/>
              <a:gd name="adj2" fmla="val 16200000"/>
            </a:avLst>
          </a:prstGeom>
          <a:solidFill>
            <a:srgbClr val="CFEFE3"/>
          </a:solidFill>
          <a:ln w="12700">
            <a:solidFill>
              <a:srgbClr val="CFEFE3"/>
            </a:solidFill>
            <a:prstDash val="solid"/>
          </a:ln>
        </p:spPr>
      </p:sp>
      <p:sp>
        <p:nvSpPr>
          <p:cNvPr id="3" name="Shape 1"/>
          <p:cNvSpPr/>
          <p:nvPr/>
        </p:nvSpPr>
        <p:spPr>
          <a:xfrm>
            <a:off x="6903720" y="868680"/>
            <a:ext cx="5120640" cy="5120640"/>
          </a:xfrm>
          <a:prstGeom prst="pie">
            <a:avLst>
              <a:gd name="adj1" fmla="val 16200000"/>
              <a:gd name="adj2" fmla="val 5400000"/>
            </a:avLst>
          </a:prstGeom>
          <a:solidFill>
            <a:srgbClr val="D6E6FD"/>
          </a:solidFill>
          <a:ln w="12700">
            <a:solidFill>
              <a:srgbClr val="D6E6FD"/>
            </a:solidFill>
            <a:prstDash val="solid"/>
          </a:ln>
        </p:spPr>
      </p:sp>
      <p:pic>
        <p:nvPicPr>
          <p:cNvPr id="4" name="Image 0" descr="/Users/thnguynn/ThNguyn.Dev/GroupSplit/public/logo1.png">    </p:cNvPr>
          <p:cNvPicPr>
            <a:picLocks noChangeAspect="1"/>
          </p:cNvPicPr>
          <p:nvPr/>
        </p:nvPicPr>
        <p:blipFill>
          <a:blip r:embed="rId1"/>
          <a:stretch>
            <a:fillRect/>
          </a:stretch>
        </p:blipFill>
        <p:spPr>
          <a:xfrm>
            <a:off x="502920" y="320040"/>
            <a:ext cx="1143000" cy="1143000"/>
          </a:xfrm>
          <a:prstGeom prst="rect">
            <a:avLst/>
          </a:prstGeom>
        </p:spPr>
      </p:pic>
      <p:sp>
        <p:nvSpPr>
          <p:cNvPr id="5" name="Shape 2"/>
          <p:cNvSpPr/>
          <p:nvPr/>
        </p:nvSpPr>
        <p:spPr>
          <a:xfrm>
            <a:off x="640080" y="1600200"/>
            <a:ext cx="2419868" cy="384048"/>
          </a:xfrm>
          <a:prstGeom prst="roundRect">
            <a:avLst>
              <a:gd name="adj" fmla="val 50000"/>
            </a:avLst>
          </a:prstGeom>
          <a:solidFill>
            <a:srgbClr val="E3F6EF"/>
          </a:solidFill>
          <a:ln w="12700">
            <a:solidFill>
              <a:srgbClr val="E3F6EF"/>
            </a:solidFill>
            <a:prstDash val="solid"/>
          </a:ln>
        </p:spPr>
      </p:sp>
      <p:sp>
        <p:nvSpPr>
          <p:cNvPr id="6" name="Text 3"/>
          <p:cNvSpPr/>
          <p:nvPr/>
        </p:nvSpPr>
        <p:spPr>
          <a:xfrm>
            <a:off x="640080" y="1600200"/>
            <a:ext cx="2419868" cy="384048"/>
          </a:xfrm>
          <a:prstGeom prst="rect">
            <a:avLst/>
          </a:prstGeom>
          <a:noFill/>
          <a:ln/>
        </p:spPr>
        <p:txBody>
          <a:bodyPr wrap="square" lIns="0" tIns="0" rIns="0" bIns="0" rtlCol="0" anchor="ctr"/>
          <a:lstStyle/>
          <a:p>
            <a:pPr algn="ctr" indent="0" marL="0">
              <a:buNone/>
            </a:pPr>
            <a:r>
              <a:rPr lang="en-US" sz="1200" b="1" dirty="0">
                <a:solidFill>
                  <a:srgbClr val="0E8B6C"/>
                </a:solidFill>
                <a:latin typeface="Arial" pitchFamily="34" charset="0"/>
                <a:ea typeface="Arial" pitchFamily="34" charset="-122"/>
                <a:cs typeface="Arial" pitchFamily="34" charset="-120"/>
              </a:rPr>
              <a:t>Phiên bản 2.0 · Miễn phí</a:t>
            </a:r>
            <a:endParaRPr lang="en-US" sz="1200" dirty="0"/>
          </a:p>
        </p:txBody>
      </p:sp>
      <p:sp>
        <p:nvSpPr>
          <p:cNvPr id="7" name="Text 4"/>
          <p:cNvSpPr/>
          <p:nvPr/>
        </p:nvSpPr>
        <p:spPr>
          <a:xfrm>
            <a:off x="640080" y="2103120"/>
            <a:ext cx="6309360" cy="1874520"/>
          </a:xfrm>
          <a:prstGeom prst="rect">
            <a:avLst/>
          </a:prstGeom>
          <a:noFill/>
          <a:ln/>
        </p:spPr>
        <p:txBody>
          <a:bodyPr wrap="square" lIns="0" tIns="0" rIns="0" bIns="0" rtlCol="0" anchor="t"/>
          <a:lstStyle/>
          <a:p>
            <a:pPr indent="0" marL="0">
              <a:buNone/>
            </a:pPr>
            <a:r>
              <a:rPr lang="en-US" sz="4400" b="1" dirty="0">
                <a:solidFill>
                  <a:srgbClr val="16233D"/>
                </a:solidFill>
                <a:latin typeface="Arial" pitchFamily="34" charset="0"/>
                <a:ea typeface="Arial" pitchFamily="34" charset="-122"/>
                <a:cs typeface="Arial" pitchFamily="34" charset="-120"/>
              </a:rPr>
              <a:t>Chia tiền nhóm</a:t>
            </a:r>
            <a:endParaRPr lang="en-US" sz="4400" dirty="0"/>
          </a:p>
          <a:p>
            <a:pPr indent="0" marL="0">
              <a:buNone/>
            </a:pPr>
            <a:r>
              <a:rPr lang="en-US" sz="4400" b="1" dirty="0">
                <a:solidFill>
                  <a:srgbClr val="2F7BF5"/>
                </a:solidFill>
                <a:latin typeface="Arial" pitchFamily="34" charset="0"/>
                <a:ea typeface="Arial" pitchFamily="34" charset="-122"/>
                <a:cs typeface="Arial" pitchFamily="34" charset="-120"/>
              </a:rPr>
              <a:t>thông minh.</a:t>
            </a:r>
            <a:endParaRPr lang="en-US" sz="4400" dirty="0"/>
          </a:p>
          <a:p>
            <a:pPr indent="0" marL="0">
              <a:buNone/>
            </a:pPr>
            <a:r>
              <a:rPr lang="en-US" sz="2800" b="1" dirty="0">
                <a:solidFill>
                  <a:srgbClr val="14B88F"/>
                </a:solidFill>
                <a:latin typeface="Arial" pitchFamily="34" charset="0"/>
                <a:ea typeface="Arial" pitchFamily="34" charset="-122"/>
                <a:cs typeface="Arial" pitchFamily="34" charset="-120"/>
              </a:rPr>
              <a:t>Không còn nỗi lo tính toán.</a:t>
            </a:r>
            <a:endParaRPr lang="en-US" sz="4400" dirty="0"/>
          </a:p>
        </p:txBody>
      </p:sp>
      <p:sp>
        <p:nvSpPr>
          <p:cNvPr id="8" name="Text 5"/>
          <p:cNvSpPr/>
          <p:nvPr/>
        </p:nvSpPr>
        <p:spPr>
          <a:xfrm>
            <a:off x="640080" y="4114800"/>
            <a:ext cx="5669280" cy="914400"/>
          </a:xfrm>
          <a:prstGeom prst="rect">
            <a:avLst/>
          </a:prstGeom>
          <a:noFill/>
          <a:ln/>
        </p:spPr>
        <p:txBody>
          <a:bodyPr wrap="square" lIns="0" tIns="0" rIns="0" bIns="0" rtlCol="0" anchor="t"/>
          <a:lstStyle/>
          <a:p>
            <a:pPr indent="0" marL="0">
              <a:buNone/>
            </a:pPr>
            <a:r>
              <a:rPr lang="en-US" sz="1800" dirty="0">
                <a:solidFill>
                  <a:srgbClr val="4B5568"/>
                </a:solidFill>
                <a:latin typeface="Arial" pitchFamily="34" charset="0"/>
                <a:ea typeface="Arial" pitchFamily="34" charset="-122"/>
                <a:cs typeface="Arial" pitchFamily="34" charset="-120"/>
              </a:rPr>
              <a:t>Tự động chia hóa đơn, quản lý quỹ chung và trả nợ bằng một lần quét VietQR. Minh bạch, nhanh gọn cho mọi cuộc vui.</a:t>
            </a:r>
            <a:endParaRPr lang="en-US" sz="1800" dirty="0"/>
          </a:p>
        </p:txBody>
      </p:sp>
      <p:sp>
        <p:nvSpPr>
          <p:cNvPr id="9" name="Shape 6"/>
          <p:cNvSpPr/>
          <p:nvPr/>
        </p:nvSpPr>
        <p:spPr>
          <a:xfrm>
            <a:off x="640080" y="5212080"/>
            <a:ext cx="2834640" cy="566928"/>
          </a:xfrm>
          <a:prstGeom prst="roundRect">
            <a:avLst>
              <a:gd name="adj" fmla="val 50000"/>
            </a:avLst>
          </a:prstGeom>
          <a:solidFill>
            <a:srgbClr val="2F7BF5"/>
          </a:solidFill>
          <a:ln w="12700">
            <a:solidFill>
              <a:srgbClr val="2F7BF5"/>
            </a:solidFill>
            <a:prstDash val="solid"/>
          </a:ln>
        </p:spPr>
      </p:sp>
      <p:sp>
        <p:nvSpPr>
          <p:cNvPr id="10" name="Text 7"/>
          <p:cNvSpPr/>
          <p:nvPr/>
        </p:nvSpPr>
        <p:spPr>
          <a:xfrm>
            <a:off x="640080" y="5212080"/>
            <a:ext cx="283464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Dùng miễn phí ngay</a:t>
            </a:r>
            <a:endParaRPr lang="en-US" sz="1500" dirty="0"/>
          </a:p>
        </p:txBody>
      </p:sp>
      <p:sp>
        <p:nvSpPr>
          <p:cNvPr id="11" name="Text 8"/>
          <p:cNvSpPr/>
          <p:nvPr/>
        </p:nvSpPr>
        <p:spPr>
          <a:xfrm>
            <a:off x="3657600" y="5212080"/>
            <a:ext cx="3017520" cy="566928"/>
          </a:xfrm>
          <a:prstGeom prst="rect">
            <a:avLst/>
          </a:prstGeom>
          <a:noFill/>
          <a:ln/>
        </p:spPr>
        <p:txBody>
          <a:bodyPr wrap="square" lIns="0" tIns="0" rIns="0" bIns="0" rtlCol="0" anchor="ctr"/>
          <a:lstStyle/>
          <a:p>
            <a:pPr indent="0" marL="0">
              <a:buNone/>
            </a:pPr>
            <a:r>
              <a:rPr lang="en-US" sz="1200" dirty="0">
                <a:solidFill>
                  <a:srgbClr val="6B7385"/>
                </a:solidFill>
                <a:latin typeface="Arial" pitchFamily="34" charset="0"/>
                <a:ea typeface="Arial" pitchFamily="34" charset="-122"/>
                <a:cs typeface="Arial" pitchFamily="34" charset="-120"/>
              </a:rPr>
              <a:t>Mở trên trình duyệt điện thoại hoặc máy tính, không cần cài app.</a:t>
            </a:r>
            <a:endParaRPr lang="en-US" sz="1200" dirty="0"/>
          </a:p>
        </p:txBody>
      </p:sp>
      <p:sp>
        <p:nvSpPr>
          <p:cNvPr id="12" name="Shape 9"/>
          <p:cNvSpPr/>
          <p:nvPr/>
        </p:nvSpPr>
        <p:spPr>
          <a:xfrm>
            <a:off x="8183880" y="868680"/>
            <a:ext cx="2606040" cy="5257800"/>
          </a:xfrm>
          <a:prstGeom prst="roundRect">
            <a:avLst>
              <a:gd name="adj" fmla="val 13333"/>
            </a:avLst>
          </a:prstGeom>
          <a:solidFill>
            <a:srgbClr val="16233D"/>
          </a:solidFill>
          <a:ln w="12700">
            <a:solidFill>
              <a:srgbClr val="16233D"/>
            </a:solidFill>
            <a:prstDash val="solid"/>
          </a:ln>
        </p:spPr>
      </p:sp>
      <p:sp>
        <p:nvSpPr>
          <p:cNvPr id="13" name="Shape 10"/>
          <p:cNvSpPr/>
          <p:nvPr/>
        </p:nvSpPr>
        <p:spPr>
          <a:xfrm>
            <a:off x="8293608" y="978408"/>
            <a:ext cx="2386584" cy="5038344"/>
          </a:xfrm>
          <a:prstGeom prst="roundRect">
            <a:avLst>
              <a:gd name="adj" fmla="val 11494"/>
            </a:avLst>
          </a:prstGeom>
          <a:solidFill>
            <a:srgbClr val="FFFFFF"/>
          </a:solidFill>
          <a:ln w="12700">
            <a:solidFill>
              <a:srgbClr val="FFFFFF"/>
            </a:solidFill>
            <a:prstDash val="solid"/>
          </a:ln>
        </p:spPr>
      </p:sp>
      <p:sp>
        <p:nvSpPr>
          <p:cNvPr id="14" name="Shape 11"/>
          <p:cNvSpPr/>
          <p:nvPr/>
        </p:nvSpPr>
        <p:spPr>
          <a:xfrm>
            <a:off x="9075420" y="1051560"/>
            <a:ext cx="822960" cy="146304"/>
          </a:xfrm>
          <a:prstGeom prst="roundRect">
            <a:avLst>
              <a:gd name="adj" fmla="val 50000"/>
            </a:avLst>
          </a:prstGeom>
          <a:solidFill>
            <a:srgbClr val="16233D"/>
          </a:solidFill>
          <a:ln w="12700">
            <a:solidFill>
              <a:srgbClr val="16233D"/>
            </a:solidFill>
            <a:prstDash val="solid"/>
          </a:ln>
        </p:spPr>
      </p:sp>
      <p:sp>
        <p:nvSpPr>
          <p:cNvPr id="15" name="Text 12"/>
          <p:cNvSpPr/>
          <p:nvPr/>
        </p:nvSpPr>
        <p:spPr>
          <a:xfrm>
            <a:off x="8458200" y="1344168"/>
            <a:ext cx="2057400" cy="457200"/>
          </a:xfrm>
          <a:prstGeom prst="rect">
            <a:avLst/>
          </a:prstGeom>
          <a:noFill/>
          <a:ln/>
        </p:spPr>
        <p:txBody>
          <a:bodyPr wrap="square" lIns="0" tIns="0" rIns="0" bIns="0" rtlCol="0" anchor="t"/>
          <a:lstStyle/>
          <a:p>
            <a:pPr indent="0" marL="0">
              <a:buNone/>
            </a:pPr>
            <a:r>
              <a:rPr lang="en-US" sz="1200" b="1" dirty="0">
                <a:solidFill>
                  <a:srgbClr val="16233D"/>
                </a:solidFill>
                <a:latin typeface="Arial" pitchFamily="34" charset="0"/>
                <a:ea typeface="Arial" pitchFamily="34" charset="-122"/>
                <a:cs typeface="Arial" pitchFamily="34" charset="-120"/>
              </a:rPr>
              <a:t>Đà Lạt cuối tuần</a:t>
            </a:r>
            <a:endParaRPr lang="en-US" sz="1200" dirty="0"/>
          </a:p>
          <a:p>
            <a:pPr indent="0" marL="0">
              <a:buNone/>
            </a:pPr>
            <a:r>
              <a:rPr lang="en-US" sz="750" dirty="0">
                <a:solidFill>
                  <a:srgbClr val="6B7385"/>
                </a:solidFill>
                <a:latin typeface="Arial" pitchFamily="34" charset="0"/>
                <a:ea typeface="Arial" pitchFamily="34" charset="-122"/>
                <a:cs typeface="Arial" pitchFamily="34" charset="-120"/>
              </a:rPr>
              <a:t>4 thành viên · An là trưởng nhóm</a:t>
            </a:r>
            <a:endParaRPr lang="en-US" sz="1200" dirty="0"/>
          </a:p>
        </p:txBody>
      </p:sp>
      <p:sp>
        <p:nvSpPr>
          <p:cNvPr id="16" name="Shape 13"/>
          <p:cNvSpPr/>
          <p:nvPr/>
        </p:nvSpPr>
        <p:spPr>
          <a:xfrm>
            <a:off x="8458200" y="1892808"/>
            <a:ext cx="2057400" cy="960120"/>
          </a:xfrm>
          <a:prstGeom prst="roundRect">
            <a:avLst>
              <a:gd name="adj" fmla="val 9524"/>
            </a:avLst>
          </a:prstGeom>
          <a:solidFill>
            <a:srgbClr val="FDECEC"/>
          </a:solidFill>
          <a:ln w="12700">
            <a:solidFill>
              <a:srgbClr val="FDECEC"/>
            </a:solidFill>
            <a:prstDash val="solid"/>
          </a:ln>
        </p:spPr>
      </p:sp>
      <p:sp>
        <p:nvSpPr>
          <p:cNvPr id="17" name="Text 14"/>
          <p:cNvSpPr/>
          <p:nvPr/>
        </p:nvSpPr>
        <p:spPr>
          <a:xfrm>
            <a:off x="8567928" y="1965960"/>
            <a:ext cx="1874520" cy="868680"/>
          </a:xfrm>
          <a:prstGeom prst="rect">
            <a:avLst/>
          </a:prstGeom>
          <a:noFill/>
          <a:ln/>
        </p:spPr>
        <p:txBody>
          <a:bodyPr wrap="square" lIns="0" tIns="0" rIns="0" bIns="0" rtlCol="0" anchor="t"/>
          <a:lstStyle/>
          <a:p>
            <a:pPr indent="0" marL="0">
              <a:buNone/>
            </a:pPr>
            <a:r>
              <a:rPr lang="en-US" sz="700" b="1" spc="100" kern="0" dirty="0">
                <a:solidFill>
                  <a:srgbClr val="D9434A"/>
                </a:solidFill>
                <a:latin typeface="Arial" pitchFamily="34" charset="0"/>
                <a:ea typeface="Arial" pitchFamily="34" charset="-122"/>
                <a:cs typeface="Arial" pitchFamily="34" charset="-120"/>
              </a:rPr>
              <a:t>BẠN CẦN TRẢ</a:t>
            </a:r>
            <a:endParaRPr lang="en-US" sz="700" dirty="0"/>
          </a:p>
          <a:p>
            <a:pPr indent="0" marL="0">
              <a:buNone/>
            </a:pPr>
            <a:r>
              <a:rPr lang="en-US" sz="2000" b="1" dirty="0">
                <a:solidFill>
                  <a:srgbClr val="D9434A"/>
                </a:solidFill>
                <a:latin typeface="Arial" pitchFamily="34" charset="0"/>
                <a:ea typeface="Arial" pitchFamily="34" charset="-122"/>
                <a:cs typeface="Arial" pitchFamily="34" charset="-120"/>
              </a:rPr>
              <a:t>400.000 ₫</a:t>
            </a:r>
            <a:endParaRPr lang="en-US" sz="700" dirty="0"/>
          </a:p>
          <a:p>
            <a:pPr indent="0" marL="0">
              <a:buNone/>
            </a:pPr>
            <a:r>
              <a:rPr lang="en-US" sz="750" dirty="0">
                <a:solidFill>
                  <a:srgbClr val="4B5568"/>
                </a:solidFill>
                <a:latin typeface="Arial" pitchFamily="34" charset="0"/>
                <a:ea typeface="Arial" pitchFamily="34" charset="-122"/>
                <a:cs typeface="Arial" pitchFamily="34" charset="-120"/>
              </a:rPr>
              <a:t>cho An · gom từ 2 hóa đơn</a:t>
            </a:r>
            <a:endParaRPr lang="en-US" sz="700" dirty="0"/>
          </a:p>
        </p:txBody>
      </p:sp>
      <p:sp>
        <p:nvSpPr>
          <p:cNvPr id="18" name="Shape 15"/>
          <p:cNvSpPr/>
          <p:nvPr/>
        </p:nvSpPr>
        <p:spPr>
          <a:xfrm>
            <a:off x="8458200" y="2990088"/>
            <a:ext cx="2057400" cy="384048"/>
          </a:xfrm>
          <a:prstGeom prst="roundRect">
            <a:avLst>
              <a:gd name="adj" fmla="val 50000"/>
            </a:avLst>
          </a:prstGeom>
          <a:solidFill>
            <a:srgbClr val="2F7BF5"/>
          </a:solidFill>
          <a:ln w="12700">
            <a:solidFill>
              <a:srgbClr val="2F7BF5"/>
            </a:solidFill>
            <a:prstDash val="solid"/>
          </a:ln>
        </p:spPr>
      </p:sp>
      <p:sp>
        <p:nvSpPr>
          <p:cNvPr id="19" name="Text 16"/>
          <p:cNvSpPr/>
          <p:nvPr/>
        </p:nvSpPr>
        <p:spPr>
          <a:xfrm>
            <a:off x="8458200" y="2990088"/>
            <a:ext cx="20574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Quét VietQR để trả</a:t>
            </a:r>
            <a:endParaRPr lang="en-US" sz="1000" dirty="0"/>
          </a:p>
        </p:txBody>
      </p:sp>
      <p:sp>
        <p:nvSpPr>
          <p:cNvPr id="20" name="Text 17"/>
          <p:cNvSpPr/>
          <p:nvPr/>
        </p:nvSpPr>
        <p:spPr>
          <a:xfrm>
            <a:off x="8458200" y="3557016"/>
            <a:ext cx="2057400" cy="182880"/>
          </a:xfrm>
          <a:prstGeom prst="rect">
            <a:avLst/>
          </a:prstGeom>
          <a:noFill/>
          <a:ln/>
        </p:spPr>
        <p:txBody>
          <a:bodyPr wrap="square" lIns="0" tIns="0" rIns="0" bIns="0" rtlCol="0" anchor="t"/>
          <a:lstStyle/>
          <a:p>
            <a:pPr indent="0" marL="0">
              <a:buNone/>
            </a:pPr>
            <a:r>
              <a:rPr lang="en-US" sz="700" b="1" spc="100" kern="0" dirty="0">
                <a:solidFill>
                  <a:srgbClr val="6B7385"/>
                </a:solidFill>
                <a:latin typeface="Arial" pitchFamily="34" charset="0"/>
                <a:ea typeface="Arial" pitchFamily="34" charset="-122"/>
                <a:cs typeface="Arial" pitchFamily="34" charset="-120"/>
              </a:rPr>
              <a:t>HÓA ĐƠN GẦN ĐÂY</a:t>
            </a:r>
            <a:endParaRPr lang="en-US" sz="700" dirty="0"/>
          </a:p>
        </p:txBody>
      </p:sp>
      <p:sp>
        <p:nvSpPr>
          <p:cNvPr id="21" name="Shape 18"/>
          <p:cNvSpPr/>
          <p:nvPr/>
        </p:nvSpPr>
        <p:spPr>
          <a:xfrm>
            <a:off x="8458200" y="3858768"/>
            <a:ext cx="310896" cy="310896"/>
          </a:xfrm>
          <a:prstGeom prst="ellipse">
            <a:avLst/>
          </a:prstGeom>
          <a:solidFill>
            <a:srgbClr val="2F7BF5"/>
          </a:solidFill>
          <a:ln w="12700">
            <a:solidFill>
              <a:srgbClr val="2F7BF5"/>
            </a:solidFill>
            <a:prstDash val="solid"/>
          </a:ln>
        </p:spPr>
      </p:sp>
      <p:sp>
        <p:nvSpPr>
          <p:cNvPr id="22" name="Text 19"/>
          <p:cNvSpPr/>
          <p:nvPr/>
        </p:nvSpPr>
        <p:spPr>
          <a:xfrm>
            <a:off x="8458200" y="3858768"/>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a:t>
            </a:r>
            <a:endParaRPr lang="en-US" sz="900" dirty="0"/>
          </a:p>
        </p:txBody>
      </p:sp>
      <p:sp>
        <p:nvSpPr>
          <p:cNvPr id="23" name="Text 20"/>
          <p:cNvSpPr/>
          <p:nvPr/>
        </p:nvSpPr>
        <p:spPr>
          <a:xfrm>
            <a:off x="8842248" y="3831336"/>
            <a:ext cx="685800" cy="384048"/>
          </a:xfrm>
          <a:prstGeom prst="rect">
            <a:avLst/>
          </a:prstGeom>
          <a:noFill/>
          <a:ln/>
        </p:spPr>
        <p:txBody>
          <a:bodyPr wrap="square" lIns="0" tIns="0" rIns="0" bIns="0" rtlCol="0" anchor="t"/>
          <a:lstStyle/>
          <a:p>
            <a:pPr indent="0" marL="0">
              <a:buNone/>
            </a:pPr>
            <a:r>
              <a:rPr lang="en-US" sz="900" b="1" dirty="0">
                <a:solidFill>
                  <a:srgbClr val="16233D"/>
                </a:solidFill>
                <a:latin typeface="Arial" pitchFamily="34" charset="0"/>
                <a:ea typeface="Arial" pitchFamily="34" charset="-122"/>
                <a:cs typeface="Arial" pitchFamily="34" charset="-120"/>
              </a:rPr>
              <a:t>Khách sạn</a:t>
            </a:r>
            <a:endParaRPr lang="en-US" sz="900" dirty="0"/>
          </a:p>
          <a:p>
            <a:pPr indent="0" marL="0">
              <a:buNone/>
            </a:pPr>
            <a:r>
              <a:rPr lang="en-US" sz="750" dirty="0">
                <a:solidFill>
                  <a:srgbClr val="6B7385"/>
                </a:solidFill>
                <a:latin typeface="Arial" pitchFamily="34" charset="0"/>
                <a:ea typeface="Arial" pitchFamily="34" charset="-122"/>
                <a:cs typeface="Arial" pitchFamily="34" charset="-120"/>
              </a:rPr>
              <a:t>An trả · chia 4</a:t>
            </a:r>
            <a:endParaRPr lang="en-US" sz="900" dirty="0"/>
          </a:p>
        </p:txBody>
      </p:sp>
      <p:sp>
        <p:nvSpPr>
          <p:cNvPr id="24" name="Text 21"/>
          <p:cNvSpPr/>
          <p:nvPr/>
        </p:nvSpPr>
        <p:spPr>
          <a:xfrm>
            <a:off x="9464040" y="3831336"/>
            <a:ext cx="1051560" cy="201168"/>
          </a:xfrm>
          <a:prstGeom prst="rect">
            <a:avLst/>
          </a:prstGeom>
          <a:noFill/>
          <a:ln/>
        </p:spPr>
        <p:txBody>
          <a:bodyPr wrap="square" lIns="0" tIns="0" rIns="0" bIns="0" rtlCol="0" anchor="t"/>
          <a:lstStyle/>
          <a:p>
            <a:pPr algn="r" indent="0" marL="0">
              <a:buNone/>
            </a:pPr>
            <a:r>
              <a:rPr lang="en-US" sz="900" b="1" dirty="0">
                <a:solidFill>
                  <a:srgbClr val="16233D"/>
                </a:solidFill>
                <a:latin typeface="Arial" pitchFamily="34" charset="0"/>
                <a:ea typeface="Arial" pitchFamily="34" charset="-122"/>
                <a:cs typeface="Arial" pitchFamily="34" charset="-120"/>
              </a:rPr>
              <a:t>1.200.000 ₫</a:t>
            </a:r>
            <a:endParaRPr lang="en-US" sz="900" dirty="0"/>
          </a:p>
        </p:txBody>
      </p:sp>
      <p:sp>
        <p:nvSpPr>
          <p:cNvPr id="25" name="Shape 22"/>
          <p:cNvSpPr/>
          <p:nvPr/>
        </p:nvSpPr>
        <p:spPr>
          <a:xfrm>
            <a:off x="8458200" y="4361688"/>
            <a:ext cx="310896" cy="310896"/>
          </a:xfrm>
          <a:prstGeom prst="ellipse">
            <a:avLst/>
          </a:prstGeom>
          <a:solidFill>
            <a:srgbClr val="14B88F"/>
          </a:solidFill>
          <a:ln w="12700">
            <a:solidFill>
              <a:srgbClr val="14B88F"/>
            </a:solidFill>
            <a:prstDash val="solid"/>
          </a:ln>
        </p:spPr>
      </p:sp>
      <p:sp>
        <p:nvSpPr>
          <p:cNvPr id="26" name="Text 23"/>
          <p:cNvSpPr/>
          <p:nvPr/>
        </p:nvSpPr>
        <p:spPr>
          <a:xfrm>
            <a:off x="8458200" y="4361688"/>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B</a:t>
            </a:r>
            <a:endParaRPr lang="en-US" sz="900" dirty="0"/>
          </a:p>
        </p:txBody>
      </p:sp>
      <p:sp>
        <p:nvSpPr>
          <p:cNvPr id="27" name="Text 24"/>
          <p:cNvSpPr/>
          <p:nvPr/>
        </p:nvSpPr>
        <p:spPr>
          <a:xfrm>
            <a:off x="8842248" y="4334256"/>
            <a:ext cx="685800" cy="384048"/>
          </a:xfrm>
          <a:prstGeom prst="rect">
            <a:avLst/>
          </a:prstGeom>
          <a:noFill/>
          <a:ln/>
        </p:spPr>
        <p:txBody>
          <a:bodyPr wrap="square" lIns="0" tIns="0" rIns="0" bIns="0" rtlCol="0" anchor="t"/>
          <a:lstStyle/>
          <a:p>
            <a:pPr indent="0" marL="0">
              <a:buNone/>
            </a:pPr>
            <a:r>
              <a:rPr lang="en-US" sz="900" b="1" dirty="0">
                <a:solidFill>
                  <a:srgbClr val="16233D"/>
                </a:solidFill>
                <a:latin typeface="Arial" pitchFamily="34" charset="0"/>
                <a:ea typeface="Arial" pitchFamily="34" charset="-122"/>
                <a:cs typeface="Arial" pitchFamily="34" charset="-120"/>
              </a:rPr>
              <a:t>Ăn tối</a:t>
            </a:r>
            <a:endParaRPr lang="en-US" sz="900" dirty="0"/>
          </a:p>
          <a:p>
            <a:pPr indent="0" marL="0">
              <a:buNone/>
            </a:pPr>
            <a:r>
              <a:rPr lang="en-US" sz="750" dirty="0">
                <a:solidFill>
                  <a:srgbClr val="6B7385"/>
                </a:solidFill>
                <a:latin typeface="Arial" pitchFamily="34" charset="0"/>
                <a:ea typeface="Arial" pitchFamily="34" charset="-122"/>
                <a:cs typeface="Arial" pitchFamily="34" charset="-120"/>
              </a:rPr>
              <a:t>Bình trả · chia 4</a:t>
            </a:r>
            <a:endParaRPr lang="en-US" sz="900" dirty="0"/>
          </a:p>
        </p:txBody>
      </p:sp>
      <p:sp>
        <p:nvSpPr>
          <p:cNvPr id="28" name="Text 25"/>
          <p:cNvSpPr/>
          <p:nvPr/>
        </p:nvSpPr>
        <p:spPr>
          <a:xfrm>
            <a:off x="9464040" y="4334256"/>
            <a:ext cx="1051560" cy="201168"/>
          </a:xfrm>
          <a:prstGeom prst="rect">
            <a:avLst/>
          </a:prstGeom>
          <a:noFill/>
          <a:ln/>
        </p:spPr>
        <p:txBody>
          <a:bodyPr wrap="square" lIns="0" tIns="0" rIns="0" bIns="0" rtlCol="0" anchor="t"/>
          <a:lstStyle/>
          <a:p>
            <a:pPr algn="r" indent="0" marL="0">
              <a:buNone/>
            </a:pPr>
            <a:r>
              <a:rPr lang="en-US" sz="900" b="1" dirty="0">
                <a:solidFill>
                  <a:srgbClr val="16233D"/>
                </a:solidFill>
                <a:latin typeface="Arial" pitchFamily="34" charset="0"/>
                <a:ea typeface="Arial" pitchFamily="34" charset="-122"/>
                <a:cs typeface="Arial" pitchFamily="34" charset="-120"/>
              </a:rPr>
              <a:t>400.000 ₫</a:t>
            </a:r>
            <a:endParaRPr lang="en-US" sz="900" dirty="0"/>
          </a:p>
        </p:txBody>
      </p:sp>
      <p:sp>
        <p:nvSpPr>
          <p:cNvPr id="29" name="Shape 26"/>
          <p:cNvSpPr/>
          <p:nvPr/>
        </p:nvSpPr>
        <p:spPr>
          <a:xfrm>
            <a:off x="8458200" y="4864608"/>
            <a:ext cx="310896" cy="310896"/>
          </a:xfrm>
          <a:prstGeom prst="ellipse">
            <a:avLst/>
          </a:prstGeom>
          <a:solidFill>
            <a:srgbClr val="8B5CF6"/>
          </a:solidFill>
          <a:ln w="12700">
            <a:solidFill>
              <a:srgbClr val="8B5CF6"/>
            </a:solidFill>
            <a:prstDash val="solid"/>
          </a:ln>
        </p:spPr>
      </p:sp>
      <p:sp>
        <p:nvSpPr>
          <p:cNvPr id="30" name="Text 27"/>
          <p:cNvSpPr/>
          <p:nvPr/>
        </p:nvSpPr>
        <p:spPr>
          <a:xfrm>
            <a:off x="8458200" y="4864608"/>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D</a:t>
            </a:r>
            <a:endParaRPr lang="en-US" sz="900" dirty="0"/>
          </a:p>
        </p:txBody>
      </p:sp>
      <p:sp>
        <p:nvSpPr>
          <p:cNvPr id="31" name="Text 28"/>
          <p:cNvSpPr/>
          <p:nvPr/>
        </p:nvSpPr>
        <p:spPr>
          <a:xfrm>
            <a:off x="8842248" y="4837176"/>
            <a:ext cx="685800" cy="384048"/>
          </a:xfrm>
          <a:prstGeom prst="rect">
            <a:avLst/>
          </a:prstGeom>
          <a:noFill/>
          <a:ln/>
        </p:spPr>
        <p:txBody>
          <a:bodyPr wrap="square" lIns="0" tIns="0" rIns="0" bIns="0" rtlCol="0" anchor="t"/>
          <a:lstStyle/>
          <a:p>
            <a:pPr indent="0" marL="0">
              <a:buNone/>
            </a:pPr>
            <a:r>
              <a:rPr lang="en-US" sz="900" b="1" dirty="0">
                <a:solidFill>
                  <a:srgbClr val="16233D"/>
                </a:solidFill>
                <a:latin typeface="Arial" pitchFamily="34" charset="0"/>
                <a:ea typeface="Arial" pitchFamily="34" charset="-122"/>
                <a:cs typeface="Arial" pitchFamily="34" charset="-120"/>
              </a:rPr>
              <a:t>Vé cáp treo</a:t>
            </a:r>
            <a:endParaRPr lang="en-US" sz="900" dirty="0"/>
          </a:p>
          <a:p>
            <a:pPr indent="0" marL="0">
              <a:buNone/>
            </a:pPr>
            <a:r>
              <a:rPr lang="en-US" sz="750" dirty="0">
                <a:solidFill>
                  <a:srgbClr val="6B7385"/>
                </a:solidFill>
                <a:latin typeface="Arial" pitchFamily="34" charset="0"/>
                <a:ea typeface="Arial" pitchFamily="34" charset="-122"/>
                <a:cs typeface="Arial" pitchFamily="34" charset="-120"/>
              </a:rPr>
              <a:t>Dũng trả · chia 4</a:t>
            </a:r>
            <a:endParaRPr lang="en-US" sz="900" dirty="0"/>
          </a:p>
        </p:txBody>
      </p:sp>
      <p:sp>
        <p:nvSpPr>
          <p:cNvPr id="32" name="Text 29"/>
          <p:cNvSpPr/>
          <p:nvPr/>
        </p:nvSpPr>
        <p:spPr>
          <a:xfrm>
            <a:off x="9464040" y="4837176"/>
            <a:ext cx="1051560" cy="201168"/>
          </a:xfrm>
          <a:prstGeom prst="rect">
            <a:avLst/>
          </a:prstGeom>
          <a:noFill/>
          <a:ln/>
        </p:spPr>
        <p:txBody>
          <a:bodyPr wrap="square" lIns="0" tIns="0" rIns="0" bIns="0" rtlCol="0" anchor="t"/>
          <a:lstStyle/>
          <a:p>
            <a:pPr algn="r" indent="0" marL="0">
              <a:buNone/>
            </a:pPr>
            <a:r>
              <a:rPr lang="en-US" sz="900" b="1" dirty="0">
                <a:solidFill>
                  <a:srgbClr val="16233D"/>
                </a:solidFill>
                <a:latin typeface="Arial" pitchFamily="34" charset="0"/>
                <a:ea typeface="Arial" pitchFamily="34" charset="-122"/>
                <a:cs typeface="Arial" pitchFamily="34" charset="-120"/>
              </a:rPr>
              <a:t>600.000 ₫</a:t>
            </a:r>
            <a:endParaRPr lang="en-US" sz="900" dirty="0"/>
          </a:p>
        </p:txBody>
      </p:sp>
      <p:sp>
        <p:nvSpPr>
          <p:cNvPr id="33" name="Shape 30"/>
          <p:cNvSpPr/>
          <p:nvPr/>
        </p:nvSpPr>
        <p:spPr>
          <a:xfrm>
            <a:off x="9857232" y="5047488"/>
            <a:ext cx="658368" cy="164592"/>
          </a:xfrm>
          <a:prstGeom prst="roundRect">
            <a:avLst>
              <a:gd name="adj" fmla="val 50000"/>
            </a:avLst>
          </a:prstGeom>
          <a:solidFill>
            <a:srgbClr val="FDF3DC"/>
          </a:solidFill>
          <a:ln w="12700">
            <a:solidFill>
              <a:srgbClr val="FDF3DC"/>
            </a:solidFill>
            <a:prstDash val="solid"/>
          </a:ln>
        </p:spPr>
      </p:sp>
      <p:sp>
        <p:nvSpPr>
          <p:cNvPr id="34" name="Text 31"/>
          <p:cNvSpPr/>
          <p:nvPr/>
        </p:nvSpPr>
        <p:spPr>
          <a:xfrm>
            <a:off x="9857232" y="5047488"/>
            <a:ext cx="658368" cy="164592"/>
          </a:xfrm>
          <a:prstGeom prst="rect">
            <a:avLst/>
          </a:prstGeom>
          <a:noFill/>
          <a:ln/>
        </p:spPr>
        <p:txBody>
          <a:bodyPr wrap="square" lIns="0" tIns="0" rIns="0" bIns="0" rtlCol="0" anchor="ctr"/>
          <a:lstStyle/>
          <a:p>
            <a:pPr algn="ctr" indent="0" marL="0">
              <a:buNone/>
            </a:pPr>
            <a:r>
              <a:rPr lang="en-US" sz="650" b="1" dirty="0">
                <a:solidFill>
                  <a:srgbClr val="B7791F"/>
                </a:solidFill>
                <a:latin typeface="Arial" pitchFamily="34" charset="0"/>
                <a:ea typeface="Arial" pitchFamily="34" charset="-122"/>
                <a:cs typeface="Arial" pitchFamily="34" charset="-120"/>
              </a:rPr>
              <a:t>Chờ duyệt</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11535" cy="274320"/>
          </a:xfrm>
          <a:prstGeom prst="rect">
            <a:avLst/>
          </a:prstGeom>
          <a:noFill/>
          <a:ln/>
        </p:spPr>
        <p:txBody>
          <a:bodyPr wrap="square" lIns="0" tIns="0" rIns="0" bIns="0" rtlCol="0" anchor="ctr"/>
          <a:lstStyle/>
          <a:p>
            <a:pPr indent="0" marL="0">
              <a:buNone/>
            </a:pPr>
            <a:r>
              <a:rPr lang="en-US" sz="1100" b="1" spc="200" kern="0" dirty="0">
                <a:solidFill>
                  <a:srgbClr val="14B88F"/>
                </a:solidFill>
                <a:latin typeface="Arial" pitchFamily="34" charset="0"/>
                <a:ea typeface="Arial" pitchFamily="34" charset="-122"/>
                <a:cs typeface="Arial" pitchFamily="34" charset="-120"/>
              </a:rPr>
              <a:t>TẤT CẢ TRONG MỘT ỨNG DỤNG</a:t>
            </a:r>
            <a:endParaRPr lang="en-US" sz="1100" dirty="0"/>
          </a:p>
        </p:txBody>
      </p:sp>
      <p:sp>
        <p:nvSpPr>
          <p:cNvPr id="3" name="Text 1"/>
          <p:cNvSpPr/>
          <p:nvPr/>
        </p:nvSpPr>
        <p:spPr>
          <a:xfrm>
            <a:off x="640080" y="868680"/>
            <a:ext cx="10911535" cy="822960"/>
          </a:xfrm>
          <a:prstGeom prst="rect">
            <a:avLst/>
          </a:prstGeom>
          <a:noFill/>
          <a:ln/>
        </p:spPr>
        <p:txBody>
          <a:bodyPr wrap="square" lIns="0" tIns="0" rIns="0" bIns="0" rtlCol="0" anchor="t"/>
          <a:lstStyle/>
          <a:p>
            <a:pPr indent="0" marL="0">
              <a:buNone/>
            </a:pPr>
            <a:r>
              <a:rPr lang="en-US" sz="3000" b="1" dirty="0">
                <a:solidFill>
                  <a:srgbClr val="16233D"/>
                </a:solidFill>
                <a:latin typeface="Arial" pitchFamily="34" charset="0"/>
                <a:ea typeface="Arial" pitchFamily="34" charset="-122"/>
                <a:cs typeface="Arial" pitchFamily="34" charset="-120"/>
              </a:rPr>
              <a:t>Mọi thứ nhóm bạn cần để </a:t>
            </a:r>
            <a:pPr indent="0" marL="0">
              <a:buNone/>
            </a:pPr>
            <a:r>
              <a:rPr lang="en-US" sz="3000" b="1" dirty="0">
                <a:solidFill>
                  <a:srgbClr val="2F7BF5"/>
                </a:solidFill>
                <a:latin typeface="Arial" pitchFamily="34" charset="0"/>
                <a:ea typeface="Arial" pitchFamily="34" charset="-122"/>
                <a:cs typeface="Arial" pitchFamily="34" charset="-120"/>
              </a:rPr>
              <a:t>chốt sổ trong vài phút</a:t>
            </a:r>
            <a:endParaRPr lang="en-US" sz="3000" dirty="0"/>
          </a:p>
        </p:txBody>
      </p:sp>
      <p:sp>
        <p:nvSpPr>
          <p:cNvPr id="4" name="Shape 2"/>
          <p:cNvSpPr/>
          <p:nvPr/>
        </p:nvSpPr>
        <p:spPr>
          <a:xfrm>
            <a:off x="640080" y="1828800"/>
            <a:ext cx="3454298" cy="1920240"/>
          </a:xfrm>
          <a:prstGeom prst="roundRect">
            <a:avLst>
              <a:gd name="adj" fmla="val 5714"/>
            </a:avLst>
          </a:prstGeom>
          <a:solidFill>
            <a:srgbClr val="F5F8FC"/>
          </a:solidFill>
          <a:ln w="12700">
            <a:solidFill>
              <a:srgbClr val="F5F8FC"/>
            </a:solidFill>
            <a:prstDash val="solid"/>
          </a:ln>
        </p:spPr>
      </p:sp>
      <p:sp>
        <p:nvSpPr>
          <p:cNvPr id="5" name="Shape 3"/>
          <p:cNvSpPr/>
          <p:nvPr/>
        </p:nvSpPr>
        <p:spPr>
          <a:xfrm>
            <a:off x="914400" y="2084832"/>
            <a:ext cx="502920" cy="502920"/>
          </a:xfrm>
          <a:prstGeom prst="ellipse">
            <a:avLst/>
          </a:prstGeom>
          <a:solidFill>
            <a:srgbClr val="14B88F"/>
          </a:solidFill>
          <a:ln w="12700">
            <a:solidFill>
              <a:srgbClr val="14B88F"/>
            </a:solidFill>
            <a:prstDash val="solid"/>
          </a:ln>
        </p:spPr>
      </p:sp>
      <p:sp>
        <p:nvSpPr>
          <p:cNvPr id="6" name="Text 4"/>
          <p:cNvSpPr/>
          <p:nvPr/>
        </p:nvSpPr>
        <p:spPr>
          <a:xfrm>
            <a:off x="914400" y="20848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914400" y="2715768"/>
            <a:ext cx="2905658" cy="941832"/>
          </a:xfrm>
          <a:prstGeom prst="rect">
            <a:avLst/>
          </a:prstGeom>
          <a:noFill/>
          <a:ln/>
        </p:spPr>
        <p:txBody>
          <a:bodyPr wrap="square" lIns="0" tIns="0" rIns="0" bIns="0" rtlCol="0" anchor="t"/>
          <a:lstStyle/>
          <a:p>
            <a:pPr indent="0" marL="0">
              <a:spcAft>
                <a:spcPts val="400"/>
              </a:spcAft>
              <a:buNone/>
            </a:pPr>
            <a:r>
              <a:rPr lang="en-US" sz="1600" b="1" dirty="0">
                <a:solidFill>
                  <a:srgbClr val="16233D"/>
                </a:solidFill>
                <a:latin typeface="Arial" pitchFamily="34" charset="0"/>
                <a:ea typeface="Arial" pitchFamily="34" charset="-122"/>
                <a:cs typeface="Arial" pitchFamily="34" charset="-120"/>
              </a:rPr>
              <a:t>Chia hóa đơn linh hoạt</a:t>
            </a:r>
            <a:endParaRPr lang="en-US" sz="1600" dirty="0"/>
          </a:p>
          <a:p>
            <a:pPr indent="0" marL="0">
              <a:buNone/>
            </a:pPr>
            <a:r>
              <a:rPr lang="en-US" sz="1250" dirty="0">
                <a:solidFill>
                  <a:srgbClr val="4B5568"/>
                </a:solidFill>
                <a:latin typeface="Arial" pitchFamily="34" charset="0"/>
                <a:ea typeface="Arial" pitchFamily="34" charset="-122"/>
                <a:cs typeface="Arial" pitchFamily="34" charset="-120"/>
              </a:rPr>
              <a:t>Chia đều, theo số tiền, theo phần trăm hoặc theo suất cho người ăn nhiều.</a:t>
            </a:r>
            <a:endParaRPr lang="en-US" sz="1600" dirty="0"/>
          </a:p>
        </p:txBody>
      </p:sp>
      <p:sp>
        <p:nvSpPr>
          <p:cNvPr id="8" name="Shape 6"/>
          <p:cNvSpPr/>
          <p:nvPr/>
        </p:nvSpPr>
        <p:spPr>
          <a:xfrm>
            <a:off x="4368698" y="1828800"/>
            <a:ext cx="3454298" cy="1920240"/>
          </a:xfrm>
          <a:prstGeom prst="roundRect">
            <a:avLst>
              <a:gd name="adj" fmla="val 5714"/>
            </a:avLst>
          </a:prstGeom>
          <a:solidFill>
            <a:srgbClr val="F5F8FC"/>
          </a:solidFill>
          <a:ln w="12700">
            <a:solidFill>
              <a:srgbClr val="F5F8FC"/>
            </a:solidFill>
            <a:prstDash val="solid"/>
          </a:ln>
        </p:spPr>
      </p:sp>
      <p:sp>
        <p:nvSpPr>
          <p:cNvPr id="9" name="Shape 7"/>
          <p:cNvSpPr/>
          <p:nvPr/>
        </p:nvSpPr>
        <p:spPr>
          <a:xfrm>
            <a:off x="4643018" y="2084832"/>
            <a:ext cx="502920" cy="502920"/>
          </a:xfrm>
          <a:prstGeom prst="ellipse">
            <a:avLst/>
          </a:prstGeom>
          <a:solidFill>
            <a:srgbClr val="2F7BF5"/>
          </a:solidFill>
          <a:ln w="12700">
            <a:solidFill>
              <a:srgbClr val="2F7BF5"/>
            </a:solidFill>
            <a:prstDash val="solid"/>
          </a:ln>
        </p:spPr>
      </p:sp>
      <p:sp>
        <p:nvSpPr>
          <p:cNvPr id="10" name="Text 8"/>
          <p:cNvSpPr/>
          <p:nvPr/>
        </p:nvSpPr>
        <p:spPr>
          <a:xfrm>
            <a:off x="4643018" y="20848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11" name="Text 9"/>
          <p:cNvSpPr/>
          <p:nvPr/>
        </p:nvSpPr>
        <p:spPr>
          <a:xfrm>
            <a:off x="4643018" y="2715768"/>
            <a:ext cx="2905658" cy="941832"/>
          </a:xfrm>
          <a:prstGeom prst="rect">
            <a:avLst/>
          </a:prstGeom>
          <a:noFill/>
          <a:ln/>
        </p:spPr>
        <p:txBody>
          <a:bodyPr wrap="square" lIns="0" tIns="0" rIns="0" bIns="0" rtlCol="0" anchor="t"/>
          <a:lstStyle/>
          <a:p>
            <a:pPr indent="0" marL="0">
              <a:spcAft>
                <a:spcPts val="400"/>
              </a:spcAft>
              <a:buNone/>
            </a:pPr>
            <a:r>
              <a:rPr lang="en-US" sz="1600" b="1" dirty="0">
                <a:solidFill>
                  <a:srgbClr val="16233D"/>
                </a:solidFill>
                <a:latin typeface="Arial" pitchFamily="34" charset="0"/>
                <a:ea typeface="Arial" pitchFamily="34" charset="-122"/>
                <a:cs typeface="Arial" pitchFamily="34" charset="-120"/>
              </a:rPr>
              <a:t>Tự tính ai nợ ai</a:t>
            </a:r>
            <a:endParaRPr lang="en-US" sz="1600" dirty="0"/>
          </a:p>
          <a:p>
            <a:pPr indent="0" marL="0">
              <a:buNone/>
            </a:pPr>
            <a:r>
              <a:rPr lang="en-US" sz="1250" dirty="0">
                <a:solidFill>
                  <a:srgbClr val="4B5568"/>
                </a:solidFill>
                <a:latin typeface="Arial" pitchFamily="34" charset="0"/>
                <a:ea typeface="Arial" pitchFamily="34" charset="-122"/>
                <a:cs typeface="Arial" pitchFamily="34" charset="-120"/>
              </a:rPr>
              <a:t>Mọi khoản gom qua trưởng nhóm, mỗi người chỉ cần nhìn một con số.</a:t>
            </a:r>
            <a:endParaRPr lang="en-US" sz="1600" dirty="0"/>
          </a:p>
        </p:txBody>
      </p:sp>
      <p:sp>
        <p:nvSpPr>
          <p:cNvPr id="12" name="Shape 10"/>
          <p:cNvSpPr/>
          <p:nvPr/>
        </p:nvSpPr>
        <p:spPr>
          <a:xfrm>
            <a:off x="8097317" y="1828800"/>
            <a:ext cx="3454298" cy="1920240"/>
          </a:xfrm>
          <a:prstGeom prst="roundRect">
            <a:avLst>
              <a:gd name="adj" fmla="val 5714"/>
            </a:avLst>
          </a:prstGeom>
          <a:solidFill>
            <a:srgbClr val="F5F8FC"/>
          </a:solidFill>
          <a:ln w="12700">
            <a:solidFill>
              <a:srgbClr val="F5F8FC"/>
            </a:solidFill>
            <a:prstDash val="solid"/>
          </a:ln>
        </p:spPr>
      </p:sp>
      <p:sp>
        <p:nvSpPr>
          <p:cNvPr id="13" name="Shape 11"/>
          <p:cNvSpPr/>
          <p:nvPr/>
        </p:nvSpPr>
        <p:spPr>
          <a:xfrm>
            <a:off x="8371637" y="2084832"/>
            <a:ext cx="502920" cy="502920"/>
          </a:xfrm>
          <a:prstGeom prst="ellipse">
            <a:avLst/>
          </a:prstGeom>
          <a:solidFill>
            <a:srgbClr val="14B88F"/>
          </a:solidFill>
          <a:ln w="12700">
            <a:solidFill>
              <a:srgbClr val="14B88F"/>
            </a:solidFill>
            <a:prstDash val="solid"/>
          </a:ln>
        </p:spPr>
      </p:sp>
      <p:sp>
        <p:nvSpPr>
          <p:cNvPr id="14" name="Text 12"/>
          <p:cNvSpPr/>
          <p:nvPr/>
        </p:nvSpPr>
        <p:spPr>
          <a:xfrm>
            <a:off x="8371637" y="2084832"/>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QR</a:t>
            </a:r>
            <a:endParaRPr lang="en-US" sz="1200" dirty="0"/>
          </a:p>
        </p:txBody>
      </p:sp>
      <p:sp>
        <p:nvSpPr>
          <p:cNvPr id="15" name="Text 13"/>
          <p:cNvSpPr/>
          <p:nvPr/>
        </p:nvSpPr>
        <p:spPr>
          <a:xfrm>
            <a:off x="8371637" y="2715768"/>
            <a:ext cx="2905658" cy="941832"/>
          </a:xfrm>
          <a:prstGeom prst="rect">
            <a:avLst/>
          </a:prstGeom>
          <a:noFill/>
          <a:ln/>
        </p:spPr>
        <p:txBody>
          <a:bodyPr wrap="square" lIns="0" tIns="0" rIns="0" bIns="0" rtlCol="0" anchor="t"/>
          <a:lstStyle/>
          <a:p>
            <a:pPr indent="0" marL="0">
              <a:spcAft>
                <a:spcPts val="400"/>
              </a:spcAft>
              <a:buNone/>
            </a:pPr>
            <a:r>
              <a:rPr lang="en-US" sz="1600" b="1" dirty="0">
                <a:solidFill>
                  <a:srgbClr val="16233D"/>
                </a:solidFill>
                <a:latin typeface="Arial" pitchFamily="34" charset="0"/>
                <a:ea typeface="Arial" pitchFamily="34" charset="-122"/>
                <a:cs typeface="Arial" pitchFamily="34" charset="-120"/>
              </a:rPr>
              <a:t>Trả nợ một chạm</a:t>
            </a:r>
            <a:endParaRPr lang="en-US" sz="1600" dirty="0"/>
          </a:p>
          <a:p>
            <a:pPr indent="0" marL="0">
              <a:buNone/>
            </a:pPr>
            <a:r>
              <a:rPr lang="en-US" sz="1250" dirty="0">
                <a:solidFill>
                  <a:srgbClr val="4B5568"/>
                </a:solidFill>
                <a:latin typeface="Arial" pitchFamily="34" charset="0"/>
                <a:ea typeface="Arial" pitchFamily="34" charset="-122"/>
                <a:cs typeface="Arial" pitchFamily="34" charset="-120"/>
              </a:rPr>
              <a:t>Mã VietQR điền sẵn số tiền và nội dung; bật SePay là tiền về tự xác nhận.</a:t>
            </a:r>
            <a:endParaRPr lang="en-US" sz="1600" dirty="0"/>
          </a:p>
        </p:txBody>
      </p:sp>
      <p:sp>
        <p:nvSpPr>
          <p:cNvPr id="16" name="Shape 14"/>
          <p:cNvSpPr/>
          <p:nvPr/>
        </p:nvSpPr>
        <p:spPr>
          <a:xfrm>
            <a:off x="640080" y="3977640"/>
            <a:ext cx="3454298" cy="1920240"/>
          </a:xfrm>
          <a:prstGeom prst="roundRect">
            <a:avLst>
              <a:gd name="adj" fmla="val 5714"/>
            </a:avLst>
          </a:prstGeom>
          <a:solidFill>
            <a:srgbClr val="F5F8FC"/>
          </a:solidFill>
          <a:ln w="12700">
            <a:solidFill>
              <a:srgbClr val="F5F8FC"/>
            </a:solidFill>
            <a:prstDash val="solid"/>
          </a:ln>
        </p:spPr>
      </p:sp>
      <p:sp>
        <p:nvSpPr>
          <p:cNvPr id="17" name="Shape 15"/>
          <p:cNvSpPr/>
          <p:nvPr/>
        </p:nvSpPr>
        <p:spPr>
          <a:xfrm>
            <a:off x="914400" y="4233672"/>
            <a:ext cx="502920" cy="502920"/>
          </a:xfrm>
          <a:prstGeom prst="ellipse">
            <a:avLst/>
          </a:prstGeom>
          <a:solidFill>
            <a:srgbClr val="2F7BF5"/>
          </a:solidFill>
          <a:ln w="12700">
            <a:solidFill>
              <a:srgbClr val="2F7BF5"/>
            </a:solidFill>
            <a:prstDash val="solid"/>
          </a:ln>
        </p:spPr>
      </p:sp>
      <p:sp>
        <p:nvSpPr>
          <p:cNvPr id="18" name="Text 16"/>
          <p:cNvSpPr/>
          <p:nvPr/>
        </p:nvSpPr>
        <p:spPr>
          <a:xfrm>
            <a:off x="914400" y="423367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19" name="Text 17"/>
          <p:cNvSpPr/>
          <p:nvPr/>
        </p:nvSpPr>
        <p:spPr>
          <a:xfrm>
            <a:off x="914400" y="4864608"/>
            <a:ext cx="2905658" cy="941832"/>
          </a:xfrm>
          <a:prstGeom prst="rect">
            <a:avLst/>
          </a:prstGeom>
          <a:noFill/>
          <a:ln/>
        </p:spPr>
        <p:txBody>
          <a:bodyPr wrap="square" lIns="0" tIns="0" rIns="0" bIns="0" rtlCol="0" anchor="t"/>
          <a:lstStyle/>
          <a:p>
            <a:pPr indent="0" marL="0">
              <a:spcAft>
                <a:spcPts val="400"/>
              </a:spcAft>
              <a:buNone/>
            </a:pPr>
            <a:r>
              <a:rPr lang="en-US" sz="1600" b="1" dirty="0">
                <a:solidFill>
                  <a:srgbClr val="16233D"/>
                </a:solidFill>
                <a:latin typeface="Arial" pitchFamily="34" charset="0"/>
                <a:ea typeface="Arial" pitchFamily="34" charset="-122"/>
                <a:cs typeface="Arial" pitchFamily="34" charset="-120"/>
              </a:rPr>
              <a:t>Quỹ nhóm minh bạch</a:t>
            </a:r>
            <a:endParaRPr lang="en-US" sz="1600" dirty="0"/>
          </a:p>
          <a:p>
            <a:pPr indent="0" marL="0">
              <a:buNone/>
            </a:pPr>
            <a:r>
              <a:rPr lang="en-US" sz="1250" dirty="0">
                <a:solidFill>
                  <a:srgbClr val="4B5568"/>
                </a:solidFill>
                <a:latin typeface="Arial" pitchFamily="34" charset="0"/>
                <a:ea typeface="Arial" pitchFamily="34" charset="-122"/>
                <a:cs typeface="Arial" pitchFamily="34" charset="-120"/>
              </a:rPr>
              <a:t>Góp quỹ, chi từ quỹ, thủ quỹ cấp tiền; ai cũng thấy quỹ còn bao nhiêu.</a:t>
            </a:r>
            <a:endParaRPr lang="en-US" sz="1600" dirty="0"/>
          </a:p>
        </p:txBody>
      </p:sp>
      <p:sp>
        <p:nvSpPr>
          <p:cNvPr id="20" name="Shape 18"/>
          <p:cNvSpPr/>
          <p:nvPr/>
        </p:nvSpPr>
        <p:spPr>
          <a:xfrm>
            <a:off x="4368698" y="3977640"/>
            <a:ext cx="3454298" cy="1920240"/>
          </a:xfrm>
          <a:prstGeom prst="roundRect">
            <a:avLst>
              <a:gd name="adj" fmla="val 5714"/>
            </a:avLst>
          </a:prstGeom>
          <a:solidFill>
            <a:srgbClr val="F5F8FC"/>
          </a:solidFill>
          <a:ln w="12700">
            <a:solidFill>
              <a:srgbClr val="F5F8FC"/>
            </a:solidFill>
            <a:prstDash val="solid"/>
          </a:ln>
        </p:spPr>
      </p:sp>
      <p:sp>
        <p:nvSpPr>
          <p:cNvPr id="21" name="Shape 19"/>
          <p:cNvSpPr/>
          <p:nvPr/>
        </p:nvSpPr>
        <p:spPr>
          <a:xfrm>
            <a:off x="4643018" y="4233672"/>
            <a:ext cx="502920" cy="502920"/>
          </a:xfrm>
          <a:prstGeom prst="ellipse">
            <a:avLst/>
          </a:prstGeom>
          <a:solidFill>
            <a:srgbClr val="14B88F"/>
          </a:solidFill>
          <a:ln w="12700">
            <a:solidFill>
              <a:srgbClr val="14B88F"/>
            </a:solidFill>
            <a:prstDash val="solid"/>
          </a:ln>
        </p:spPr>
      </p:sp>
      <p:sp>
        <p:nvSpPr>
          <p:cNvPr id="22" name="Text 20"/>
          <p:cNvSpPr/>
          <p:nvPr/>
        </p:nvSpPr>
        <p:spPr>
          <a:xfrm>
            <a:off x="4643018" y="423367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23" name="Text 21"/>
          <p:cNvSpPr/>
          <p:nvPr/>
        </p:nvSpPr>
        <p:spPr>
          <a:xfrm>
            <a:off x="4643018" y="4864608"/>
            <a:ext cx="2905658" cy="941832"/>
          </a:xfrm>
          <a:prstGeom prst="rect">
            <a:avLst/>
          </a:prstGeom>
          <a:noFill/>
          <a:ln/>
        </p:spPr>
        <p:txBody>
          <a:bodyPr wrap="square" lIns="0" tIns="0" rIns="0" bIns="0" rtlCol="0" anchor="t"/>
          <a:lstStyle/>
          <a:p>
            <a:pPr indent="0" marL="0">
              <a:spcAft>
                <a:spcPts val="400"/>
              </a:spcAft>
              <a:buNone/>
            </a:pPr>
            <a:r>
              <a:rPr lang="en-US" sz="1600" b="1" dirty="0">
                <a:solidFill>
                  <a:srgbClr val="16233D"/>
                </a:solidFill>
                <a:latin typeface="Arial" pitchFamily="34" charset="0"/>
                <a:ea typeface="Arial" pitchFamily="34" charset="-122"/>
                <a:cs typeface="Arial" pitchFamily="34" charset="-120"/>
              </a:rPr>
              <a:t>Thông báo tức thì</a:t>
            </a:r>
            <a:endParaRPr lang="en-US" sz="1600" dirty="0"/>
          </a:p>
          <a:p>
            <a:pPr indent="0" marL="0">
              <a:buNone/>
            </a:pPr>
            <a:r>
              <a:rPr lang="en-US" sz="1250" dirty="0">
                <a:solidFill>
                  <a:srgbClr val="4B5568"/>
                </a:solidFill>
                <a:latin typeface="Arial" pitchFamily="34" charset="0"/>
                <a:ea typeface="Arial" pitchFamily="34" charset="-122"/>
                <a:cs typeface="Arial" pitchFamily="34" charset="-120"/>
              </a:rPr>
              <a:t>Trong app, qua Zalo và email; màn hình cả nhóm tự cập nhật.</a:t>
            </a:r>
            <a:endParaRPr lang="en-US" sz="1600" dirty="0"/>
          </a:p>
        </p:txBody>
      </p:sp>
      <p:sp>
        <p:nvSpPr>
          <p:cNvPr id="24" name="Shape 22"/>
          <p:cNvSpPr/>
          <p:nvPr/>
        </p:nvSpPr>
        <p:spPr>
          <a:xfrm>
            <a:off x="8097317" y="3977640"/>
            <a:ext cx="3454298" cy="1920240"/>
          </a:xfrm>
          <a:prstGeom prst="roundRect">
            <a:avLst>
              <a:gd name="adj" fmla="val 5714"/>
            </a:avLst>
          </a:prstGeom>
          <a:solidFill>
            <a:srgbClr val="F5F8FC"/>
          </a:solidFill>
          <a:ln w="12700">
            <a:solidFill>
              <a:srgbClr val="F5F8FC"/>
            </a:solidFill>
            <a:prstDash val="solid"/>
          </a:ln>
        </p:spPr>
      </p:sp>
      <p:sp>
        <p:nvSpPr>
          <p:cNvPr id="25" name="Shape 23"/>
          <p:cNvSpPr/>
          <p:nvPr/>
        </p:nvSpPr>
        <p:spPr>
          <a:xfrm>
            <a:off x="8371637" y="4233672"/>
            <a:ext cx="502920" cy="502920"/>
          </a:xfrm>
          <a:prstGeom prst="ellipse">
            <a:avLst/>
          </a:prstGeom>
          <a:solidFill>
            <a:srgbClr val="2F7BF5"/>
          </a:solidFill>
          <a:ln w="12700">
            <a:solidFill>
              <a:srgbClr val="2F7BF5"/>
            </a:solidFill>
            <a:prstDash val="solid"/>
          </a:ln>
        </p:spPr>
      </p:sp>
      <p:sp>
        <p:nvSpPr>
          <p:cNvPr id="26" name="Text 24"/>
          <p:cNvSpPr/>
          <p:nvPr/>
        </p:nvSpPr>
        <p:spPr>
          <a:xfrm>
            <a:off x="8371637" y="423367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27" name="Text 25"/>
          <p:cNvSpPr/>
          <p:nvPr/>
        </p:nvSpPr>
        <p:spPr>
          <a:xfrm>
            <a:off x="8371637" y="4864608"/>
            <a:ext cx="2905658" cy="941832"/>
          </a:xfrm>
          <a:prstGeom prst="rect">
            <a:avLst/>
          </a:prstGeom>
          <a:noFill/>
          <a:ln/>
        </p:spPr>
        <p:txBody>
          <a:bodyPr wrap="square" lIns="0" tIns="0" rIns="0" bIns="0" rtlCol="0" anchor="t"/>
          <a:lstStyle/>
          <a:p>
            <a:pPr indent="0" marL="0">
              <a:spcAft>
                <a:spcPts val="400"/>
              </a:spcAft>
              <a:buNone/>
            </a:pPr>
            <a:r>
              <a:rPr lang="en-US" sz="1600" b="1" dirty="0">
                <a:solidFill>
                  <a:srgbClr val="16233D"/>
                </a:solidFill>
                <a:latin typeface="Arial" pitchFamily="34" charset="0"/>
                <a:ea typeface="Arial" pitchFamily="34" charset="-122"/>
                <a:cs typeface="Arial" pitchFamily="34" charset="-120"/>
              </a:rPr>
              <a:t>Thống kê chi tiêu</a:t>
            </a:r>
            <a:endParaRPr lang="en-US" sz="1600" dirty="0"/>
          </a:p>
          <a:p>
            <a:pPr indent="0" marL="0">
              <a:buNone/>
            </a:pPr>
            <a:r>
              <a:rPr lang="en-US" sz="1250" dirty="0">
                <a:solidFill>
                  <a:srgbClr val="4B5568"/>
                </a:solidFill>
                <a:latin typeface="Arial" pitchFamily="34" charset="0"/>
                <a:ea typeface="Arial" pitchFamily="34" charset="-122"/>
                <a:cs typeface="Arial" pitchFamily="34" charset="-120"/>
              </a:rPr>
              <a:t>Biểu đồ theo thời gian, theo nhóm và theo danh mục.</a:t>
            </a:r>
            <a:endParaRPr lang="en-US" sz="1600" dirty="0"/>
          </a:p>
        </p:txBody>
      </p:sp>
      <p:sp>
        <p:nvSpPr>
          <p:cNvPr id="28" name="Shape 26"/>
          <p:cNvSpPr/>
          <p:nvPr/>
        </p:nvSpPr>
        <p:spPr>
          <a:xfrm>
            <a:off x="640080" y="6144768"/>
            <a:ext cx="2013326" cy="347472"/>
          </a:xfrm>
          <a:prstGeom prst="roundRect">
            <a:avLst>
              <a:gd name="adj" fmla="val 50000"/>
            </a:avLst>
          </a:prstGeom>
          <a:solidFill>
            <a:srgbClr val="E3F6EF"/>
          </a:solidFill>
          <a:ln w="12700">
            <a:solidFill>
              <a:srgbClr val="E3F6EF"/>
            </a:solidFill>
            <a:prstDash val="solid"/>
          </a:ln>
        </p:spPr>
      </p:sp>
      <p:sp>
        <p:nvSpPr>
          <p:cNvPr id="29" name="Text 27"/>
          <p:cNvSpPr/>
          <p:nvPr/>
        </p:nvSpPr>
        <p:spPr>
          <a:xfrm>
            <a:off x="640080" y="6144768"/>
            <a:ext cx="2013326" cy="347472"/>
          </a:xfrm>
          <a:prstGeom prst="rect">
            <a:avLst/>
          </a:prstGeom>
          <a:noFill/>
          <a:ln/>
        </p:spPr>
        <p:txBody>
          <a:bodyPr wrap="square" lIns="0" tIns="0" rIns="0" bIns="0" rtlCol="0" anchor="ctr"/>
          <a:lstStyle/>
          <a:p>
            <a:pPr algn="ctr" indent="0" marL="0">
              <a:buNone/>
            </a:pPr>
            <a:r>
              <a:rPr lang="en-US" sz="1100" b="1" dirty="0">
                <a:solidFill>
                  <a:srgbClr val="0E8B6C"/>
                </a:solidFill>
                <a:latin typeface="Arial" pitchFamily="34" charset="0"/>
                <a:ea typeface="Arial" pitchFamily="34" charset="-122"/>
                <a:cs typeface="Arial" pitchFamily="34" charset="-120"/>
              </a:rPr>
              <a:t>✓  Hoàn toàn miễn phí</a:t>
            </a:r>
            <a:endParaRPr lang="en-US" sz="1100" dirty="0"/>
          </a:p>
        </p:txBody>
      </p:sp>
      <p:sp>
        <p:nvSpPr>
          <p:cNvPr id="30" name="Shape 28"/>
          <p:cNvSpPr/>
          <p:nvPr/>
        </p:nvSpPr>
        <p:spPr>
          <a:xfrm>
            <a:off x="2790566" y="6144768"/>
            <a:ext cx="1934870" cy="347472"/>
          </a:xfrm>
          <a:prstGeom prst="roundRect">
            <a:avLst>
              <a:gd name="adj" fmla="val 50000"/>
            </a:avLst>
          </a:prstGeom>
          <a:solidFill>
            <a:srgbClr val="E3F6EF"/>
          </a:solidFill>
          <a:ln w="12700">
            <a:solidFill>
              <a:srgbClr val="E3F6EF"/>
            </a:solidFill>
            <a:prstDash val="solid"/>
          </a:ln>
        </p:spPr>
      </p:sp>
      <p:sp>
        <p:nvSpPr>
          <p:cNvPr id="31" name="Text 29"/>
          <p:cNvSpPr/>
          <p:nvPr/>
        </p:nvSpPr>
        <p:spPr>
          <a:xfrm>
            <a:off x="2790566" y="6144768"/>
            <a:ext cx="1934870" cy="347472"/>
          </a:xfrm>
          <a:prstGeom prst="rect">
            <a:avLst/>
          </a:prstGeom>
          <a:noFill/>
          <a:ln/>
        </p:spPr>
        <p:txBody>
          <a:bodyPr wrap="square" lIns="0" tIns="0" rIns="0" bIns="0" rtlCol="0" anchor="ctr"/>
          <a:lstStyle/>
          <a:p>
            <a:pPr algn="ctr" indent="0" marL="0">
              <a:buNone/>
            </a:pPr>
            <a:r>
              <a:rPr lang="en-US" sz="1100" b="1" dirty="0">
                <a:solidFill>
                  <a:srgbClr val="0E8B6C"/>
                </a:solidFill>
                <a:latin typeface="Arial" pitchFamily="34" charset="0"/>
                <a:ea typeface="Arial" pitchFamily="34" charset="-122"/>
                <a:cs typeface="Arial" pitchFamily="34" charset="-120"/>
              </a:rPr>
              <a:t>✓  Không cần cài app</a:t>
            </a:r>
            <a:endParaRPr lang="en-US" sz="1100" dirty="0"/>
          </a:p>
        </p:txBody>
      </p:sp>
      <p:sp>
        <p:nvSpPr>
          <p:cNvPr id="32" name="Shape 30"/>
          <p:cNvSpPr/>
          <p:nvPr/>
        </p:nvSpPr>
        <p:spPr>
          <a:xfrm>
            <a:off x="4862596" y="6144768"/>
            <a:ext cx="3111703" cy="347472"/>
          </a:xfrm>
          <a:prstGeom prst="roundRect">
            <a:avLst>
              <a:gd name="adj" fmla="val 50000"/>
            </a:avLst>
          </a:prstGeom>
          <a:solidFill>
            <a:srgbClr val="E3F6EF"/>
          </a:solidFill>
          <a:ln w="12700">
            <a:solidFill>
              <a:srgbClr val="E3F6EF"/>
            </a:solidFill>
            <a:prstDash val="solid"/>
          </a:ln>
        </p:spPr>
      </p:sp>
      <p:sp>
        <p:nvSpPr>
          <p:cNvPr id="33" name="Text 31"/>
          <p:cNvSpPr/>
          <p:nvPr/>
        </p:nvSpPr>
        <p:spPr>
          <a:xfrm>
            <a:off x="4862596" y="6144768"/>
            <a:ext cx="3111703" cy="347472"/>
          </a:xfrm>
          <a:prstGeom prst="rect">
            <a:avLst/>
          </a:prstGeom>
          <a:noFill/>
          <a:ln/>
        </p:spPr>
        <p:txBody>
          <a:bodyPr wrap="square" lIns="0" tIns="0" rIns="0" bIns="0" rtlCol="0" anchor="ctr"/>
          <a:lstStyle/>
          <a:p>
            <a:pPr algn="ctr" indent="0" marL="0">
              <a:buNone/>
            </a:pPr>
            <a:r>
              <a:rPr lang="en-US" sz="1100" b="1" dirty="0">
                <a:solidFill>
                  <a:srgbClr val="0E8B6C"/>
                </a:solidFill>
                <a:latin typeface="Arial" pitchFamily="34" charset="0"/>
                <a:ea typeface="Arial" pitchFamily="34" charset="-122"/>
                <a:cs typeface="Arial" pitchFamily="34" charset="-120"/>
              </a:rPr>
              <a:t>✓  Dùng trên điện thoại và máy tính</a:t>
            </a:r>
            <a:endParaRPr lang="en-US" sz="1100" dirty="0"/>
          </a:p>
        </p:txBody>
      </p:sp>
      <p:sp>
        <p:nvSpPr>
          <p:cNvPr id="34" name="Shape 32"/>
          <p:cNvSpPr/>
          <p:nvPr/>
        </p:nvSpPr>
        <p:spPr>
          <a:xfrm>
            <a:off x="8111460" y="6144768"/>
            <a:ext cx="2170237" cy="347472"/>
          </a:xfrm>
          <a:prstGeom prst="roundRect">
            <a:avLst>
              <a:gd name="adj" fmla="val 50000"/>
            </a:avLst>
          </a:prstGeom>
          <a:solidFill>
            <a:srgbClr val="E3F6EF"/>
          </a:solidFill>
          <a:ln w="12700">
            <a:solidFill>
              <a:srgbClr val="E3F6EF"/>
            </a:solidFill>
            <a:prstDash val="solid"/>
          </a:ln>
        </p:spPr>
      </p:sp>
      <p:sp>
        <p:nvSpPr>
          <p:cNvPr id="35" name="Text 33"/>
          <p:cNvSpPr/>
          <p:nvPr/>
        </p:nvSpPr>
        <p:spPr>
          <a:xfrm>
            <a:off x="8111460" y="6144768"/>
            <a:ext cx="2170237" cy="347472"/>
          </a:xfrm>
          <a:prstGeom prst="rect">
            <a:avLst/>
          </a:prstGeom>
          <a:noFill/>
          <a:ln/>
        </p:spPr>
        <p:txBody>
          <a:bodyPr wrap="square" lIns="0" tIns="0" rIns="0" bIns="0" rtlCol="0" anchor="ctr"/>
          <a:lstStyle/>
          <a:p>
            <a:pPr algn="ctr" indent="0" marL="0">
              <a:buNone/>
            </a:pPr>
            <a:r>
              <a:rPr lang="en-US" sz="1100" b="1" dirty="0">
                <a:solidFill>
                  <a:srgbClr val="0E8B6C"/>
                </a:solidFill>
                <a:latin typeface="Arial" pitchFamily="34" charset="0"/>
                <a:ea typeface="Arial" pitchFamily="34" charset="-122"/>
                <a:cs typeface="Arial" pitchFamily="34" charset="-120"/>
              </a:rPr>
              <a:t>✓  Mật khẩu được mã hóa</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11535" cy="274320"/>
          </a:xfrm>
          <a:prstGeom prst="rect">
            <a:avLst/>
          </a:prstGeom>
          <a:noFill/>
          <a:ln/>
        </p:spPr>
        <p:txBody>
          <a:bodyPr wrap="square" lIns="0" tIns="0" rIns="0" bIns="0" rtlCol="0" anchor="ctr"/>
          <a:lstStyle/>
          <a:p>
            <a:pPr indent="0" marL="0">
              <a:buNone/>
            </a:pPr>
            <a:r>
              <a:rPr lang="en-US" sz="1100" b="1" spc="200" kern="0" dirty="0">
                <a:solidFill>
                  <a:srgbClr val="14B88F"/>
                </a:solidFill>
                <a:latin typeface="Arial" pitchFamily="34" charset="0"/>
                <a:ea typeface="Arial" pitchFamily="34" charset="-122"/>
                <a:cs typeface="Arial" pitchFamily="34" charset="-120"/>
              </a:rPr>
              <a:t>QUEN KHÔNG?</a:t>
            </a:r>
            <a:endParaRPr lang="en-US" sz="1100" dirty="0"/>
          </a:p>
        </p:txBody>
      </p:sp>
      <p:sp>
        <p:nvSpPr>
          <p:cNvPr id="3" name="Text 1"/>
          <p:cNvSpPr/>
          <p:nvPr/>
        </p:nvSpPr>
        <p:spPr>
          <a:xfrm>
            <a:off x="640080" y="868680"/>
            <a:ext cx="10911535" cy="822960"/>
          </a:xfrm>
          <a:prstGeom prst="rect">
            <a:avLst/>
          </a:prstGeom>
          <a:noFill/>
          <a:ln/>
        </p:spPr>
        <p:txBody>
          <a:bodyPr wrap="square" lIns="0" tIns="0" rIns="0" bIns="0" rtlCol="0" anchor="t"/>
          <a:lstStyle/>
          <a:p>
            <a:pPr indent="0" marL="0">
              <a:buNone/>
            </a:pPr>
            <a:r>
              <a:rPr lang="en-US" sz="3400" b="1" dirty="0">
                <a:solidFill>
                  <a:srgbClr val="16233D"/>
                </a:solidFill>
                <a:latin typeface="Arial" pitchFamily="34" charset="0"/>
                <a:ea typeface="Arial" pitchFamily="34" charset="-122"/>
                <a:cs typeface="Arial" pitchFamily="34" charset="-120"/>
              </a:rPr>
              <a:t>Đi chơi thì vui, </a:t>
            </a:r>
            <a:pPr indent="0" marL="0">
              <a:buNone/>
            </a:pPr>
            <a:r>
              <a:rPr lang="en-US" sz="3400" b="1" dirty="0">
                <a:solidFill>
                  <a:srgbClr val="D9434A"/>
                </a:solidFill>
                <a:latin typeface="Arial" pitchFamily="34" charset="0"/>
                <a:ea typeface="Arial" pitchFamily="34" charset="-122"/>
                <a:cs typeface="Arial" pitchFamily="34" charset="-120"/>
              </a:rPr>
              <a:t>chốt sổ thì mệt.</a:t>
            </a:r>
            <a:endParaRPr lang="en-US" sz="3400" dirty="0"/>
          </a:p>
        </p:txBody>
      </p:sp>
      <p:sp>
        <p:nvSpPr>
          <p:cNvPr id="4" name="Shape 2"/>
          <p:cNvSpPr/>
          <p:nvPr/>
        </p:nvSpPr>
        <p:spPr>
          <a:xfrm>
            <a:off x="640080" y="2011680"/>
            <a:ext cx="3454298" cy="2514600"/>
          </a:xfrm>
          <a:prstGeom prst="roundRect">
            <a:avLst>
              <a:gd name="adj" fmla="val 4364"/>
            </a:avLst>
          </a:prstGeom>
          <a:solidFill>
            <a:srgbClr val="F5F8FC"/>
          </a:solidFill>
          <a:ln w="12700">
            <a:solidFill>
              <a:srgbClr val="F5F8FC"/>
            </a:solidFill>
            <a:prstDash val="solid"/>
          </a:ln>
        </p:spPr>
      </p:sp>
      <p:sp>
        <p:nvSpPr>
          <p:cNvPr id="5" name="Shape 3"/>
          <p:cNvSpPr/>
          <p:nvPr/>
        </p:nvSpPr>
        <p:spPr>
          <a:xfrm>
            <a:off x="640080" y="2011680"/>
            <a:ext cx="73152" cy="2514600"/>
          </a:xfrm>
          <a:prstGeom prst="rect">
            <a:avLst/>
          </a:prstGeom>
          <a:solidFill>
            <a:srgbClr val="D9434A"/>
          </a:solidFill>
          <a:ln w="12700">
            <a:solidFill>
              <a:srgbClr val="D9434A"/>
            </a:solidFill>
            <a:prstDash val="solid"/>
          </a:ln>
        </p:spPr>
      </p:sp>
      <p:sp>
        <p:nvSpPr>
          <p:cNvPr id="6" name="Text 4"/>
          <p:cNvSpPr/>
          <p:nvPr/>
        </p:nvSpPr>
        <p:spPr>
          <a:xfrm>
            <a:off x="960120" y="2331720"/>
            <a:ext cx="2859938" cy="2011680"/>
          </a:xfrm>
          <a:prstGeom prst="rect">
            <a:avLst/>
          </a:prstGeom>
          <a:noFill/>
          <a:ln/>
        </p:spPr>
        <p:txBody>
          <a:bodyPr wrap="square" lIns="0" tIns="0" rIns="0" bIns="0" rtlCol="0" anchor="t"/>
          <a:lstStyle/>
          <a:p>
            <a:pPr indent="0" marL="0">
              <a:spcAft>
                <a:spcPts val="1000"/>
              </a:spcAft>
              <a:buNone/>
            </a:pPr>
            <a:r>
              <a:rPr lang="en-US" sz="1900" b="1" dirty="0">
                <a:solidFill>
                  <a:srgbClr val="16233D"/>
                </a:solidFill>
                <a:latin typeface="Arial" pitchFamily="34" charset="0"/>
                <a:ea typeface="Arial" pitchFamily="34" charset="-122"/>
                <a:cs typeface="Arial" pitchFamily="34" charset="-120"/>
              </a:rPr>
              <a:t>“Ai trả tiền xăng hôm qua nhỉ?”</a:t>
            </a:r>
            <a:endParaRPr lang="en-US" sz="1900" dirty="0"/>
          </a:p>
          <a:p>
            <a:pPr indent="0" marL="0">
              <a:buNone/>
            </a:pPr>
            <a:r>
              <a:rPr lang="en-US" sz="1400" dirty="0">
                <a:solidFill>
                  <a:srgbClr val="4B5568"/>
                </a:solidFill>
                <a:latin typeface="Arial" pitchFamily="34" charset="0"/>
                <a:ea typeface="Arial" pitchFamily="34" charset="-122"/>
                <a:cs typeface="Arial" pitchFamily="34" charset="-120"/>
              </a:rPr>
              <a:t>Hóa đơn trôi mất trong nhóm chat, cuối chuyến ngồi lục lại từng tin nhắn.</a:t>
            </a:r>
            <a:endParaRPr lang="en-US" sz="1900" dirty="0"/>
          </a:p>
        </p:txBody>
      </p:sp>
      <p:sp>
        <p:nvSpPr>
          <p:cNvPr id="7" name="Shape 5"/>
          <p:cNvSpPr/>
          <p:nvPr/>
        </p:nvSpPr>
        <p:spPr>
          <a:xfrm>
            <a:off x="4368698" y="2011680"/>
            <a:ext cx="3454298" cy="2514600"/>
          </a:xfrm>
          <a:prstGeom prst="roundRect">
            <a:avLst>
              <a:gd name="adj" fmla="val 4364"/>
            </a:avLst>
          </a:prstGeom>
          <a:solidFill>
            <a:srgbClr val="F5F8FC"/>
          </a:solidFill>
          <a:ln w="12700">
            <a:solidFill>
              <a:srgbClr val="F5F8FC"/>
            </a:solidFill>
            <a:prstDash val="solid"/>
          </a:ln>
        </p:spPr>
      </p:sp>
      <p:sp>
        <p:nvSpPr>
          <p:cNvPr id="8" name="Shape 6"/>
          <p:cNvSpPr/>
          <p:nvPr/>
        </p:nvSpPr>
        <p:spPr>
          <a:xfrm>
            <a:off x="4368698" y="2011680"/>
            <a:ext cx="73152" cy="2514600"/>
          </a:xfrm>
          <a:prstGeom prst="rect">
            <a:avLst/>
          </a:prstGeom>
          <a:solidFill>
            <a:srgbClr val="D9434A"/>
          </a:solidFill>
          <a:ln w="12700">
            <a:solidFill>
              <a:srgbClr val="D9434A"/>
            </a:solidFill>
            <a:prstDash val="solid"/>
          </a:ln>
        </p:spPr>
      </p:sp>
      <p:sp>
        <p:nvSpPr>
          <p:cNvPr id="9" name="Text 7"/>
          <p:cNvSpPr/>
          <p:nvPr/>
        </p:nvSpPr>
        <p:spPr>
          <a:xfrm>
            <a:off x="4688738" y="2331720"/>
            <a:ext cx="2859938" cy="2011680"/>
          </a:xfrm>
          <a:prstGeom prst="rect">
            <a:avLst/>
          </a:prstGeom>
          <a:noFill/>
          <a:ln/>
        </p:spPr>
        <p:txBody>
          <a:bodyPr wrap="square" lIns="0" tIns="0" rIns="0" bIns="0" rtlCol="0" anchor="t"/>
          <a:lstStyle/>
          <a:p>
            <a:pPr indent="0" marL="0">
              <a:spcAft>
                <a:spcPts val="1000"/>
              </a:spcAft>
              <a:buNone/>
            </a:pPr>
            <a:r>
              <a:rPr lang="en-US" sz="1900" b="1" dirty="0">
                <a:solidFill>
                  <a:srgbClr val="16233D"/>
                </a:solidFill>
                <a:latin typeface="Arial" pitchFamily="34" charset="0"/>
                <a:ea typeface="Arial" pitchFamily="34" charset="-122"/>
                <a:cs typeface="Arial" pitchFamily="34" charset="-120"/>
              </a:rPr>
              <a:t>“Nhắc tiền thì ngại quá…”</a:t>
            </a:r>
            <a:endParaRPr lang="en-US" sz="1900" dirty="0"/>
          </a:p>
          <a:p>
            <a:pPr indent="0" marL="0">
              <a:buNone/>
            </a:pPr>
            <a:r>
              <a:rPr lang="en-US" sz="1400" dirty="0">
                <a:solidFill>
                  <a:srgbClr val="4B5568"/>
                </a:solidFill>
                <a:latin typeface="Arial" pitchFamily="34" charset="0"/>
                <a:ea typeface="Arial" pitchFamily="34" charset="-122"/>
                <a:cs typeface="Arial" pitchFamily="34" charset="-120"/>
              </a:rPr>
              <a:t>Khoản nhỏ để lâu thành khó nói, người ứng tiền đành chịu thiệt.</a:t>
            </a:r>
            <a:endParaRPr lang="en-US" sz="1900" dirty="0"/>
          </a:p>
        </p:txBody>
      </p:sp>
      <p:sp>
        <p:nvSpPr>
          <p:cNvPr id="10" name="Shape 8"/>
          <p:cNvSpPr/>
          <p:nvPr/>
        </p:nvSpPr>
        <p:spPr>
          <a:xfrm>
            <a:off x="8097317" y="2011680"/>
            <a:ext cx="3454298" cy="2514600"/>
          </a:xfrm>
          <a:prstGeom prst="roundRect">
            <a:avLst>
              <a:gd name="adj" fmla="val 4364"/>
            </a:avLst>
          </a:prstGeom>
          <a:solidFill>
            <a:srgbClr val="F5F8FC"/>
          </a:solidFill>
          <a:ln w="12700">
            <a:solidFill>
              <a:srgbClr val="F5F8FC"/>
            </a:solidFill>
            <a:prstDash val="solid"/>
          </a:ln>
        </p:spPr>
      </p:sp>
      <p:sp>
        <p:nvSpPr>
          <p:cNvPr id="11" name="Shape 9"/>
          <p:cNvSpPr/>
          <p:nvPr/>
        </p:nvSpPr>
        <p:spPr>
          <a:xfrm>
            <a:off x="8097317" y="2011680"/>
            <a:ext cx="73152" cy="2514600"/>
          </a:xfrm>
          <a:prstGeom prst="rect">
            <a:avLst/>
          </a:prstGeom>
          <a:solidFill>
            <a:srgbClr val="D9434A"/>
          </a:solidFill>
          <a:ln w="12700">
            <a:solidFill>
              <a:srgbClr val="D9434A"/>
            </a:solidFill>
            <a:prstDash val="solid"/>
          </a:ln>
        </p:spPr>
      </p:sp>
      <p:sp>
        <p:nvSpPr>
          <p:cNvPr id="12" name="Text 10"/>
          <p:cNvSpPr/>
          <p:nvPr/>
        </p:nvSpPr>
        <p:spPr>
          <a:xfrm>
            <a:off x="8417357" y="2331720"/>
            <a:ext cx="2859938" cy="2011680"/>
          </a:xfrm>
          <a:prstGeom prst="rect">
            <a:avLst/>
          </a:prstGeom>
          <a:noFill/>
          <a:ln/>
        </p:spPr>
        <p:txBody>
          <a:bodyPr wrap="square" lIns="0" tIns="0" rIns="0" bIns="0" rtlCol="0" anchor="t"/>
          <a:lstStyle/>
          <a:p>
            <a:pPr indent="0" marL="0">
              <a:spcAft>
                <a:spcPts val="1000"/>
              </a:spcAft>
              <a:buNone/>
            </a:pPr>
            <a:r>
              <a:rPr lang="en-US" sz="1900" b="1" dirty="0">
                <a:solidFill>
                  <a:srgbClr val="16233D"/>
                </a:solidFill>
                <a:latin typeface="Arial" pitchFamily="34" charset="0"/>
                <a:ea typeface="Arial" pitchFamily="34" charset="-122"/>
                <a:cs typeface="Arial" pitchFamily="34" charset="-120"/>
              </a:rPr>
              <a:t>“Chuyển rồi đó, check đi!”</a:t>
            </a:r>
            <a:endParaRPr lang="en-US" sz="1900" dirty="0"/>
          </a:p>
          <a:p>
            <a:pPr indent="0" marL="0">
              <a:buNone/>
            </a:pPr>
            <a:r>
              <a:rPr lang="en-US" sz="1400" dirty="0">
                <a:solidFill>
                  <a:srgbClr val="4B5568"/>
                </a:solidFill>
                <a:latin typeface="Arial" pitchFamily="34" charset="0"/>
                <a:ea typeface="Arial" pitchFamily="34" charset="-122"/>
                <a:cs typeface="Arial" pitchFamily="34" charset="-120"/>
              </a:rPr>
              <a:t>Người nhận phải mở app ngân hàng dò từng giao dịch để biết ai đã trả.</a:t>
            </a:r>
            <a:endParaRPr lang="en-US" sz="1900" dirty="0"/>
          </a:p>
        </p:txBody>
      </p:sp>
      <p:sp>
        <p:nvSpPr>
          <p:cNvPr id="13" name="Shape 11"/>
          <p:cNvSpPr/>
          <p:nvPr/>
        </p:nvSpPr>
        <p:spPr>
          <a:xfrm>
            <a:off x="640080" y="4846320"/>
            <a:ext cx="10911535" cy="960120"/>
          </a:xfrm>
          <a:prstGeom prst="roundRect">
            <a:avLst>
              <a:gd name="adj" fmla="val 11429"/>
            </a:avLst>
          </a:prstGeom>
          <a:solidFill>
            <a:srgbClr val="E3F6EF"/>
          </a:solidFill>
          <a:ln w="12700">
            <a:solidFill>
              <a:srgbClr val="E3F6EF"/>
            </a:solidFill>
            <a:prstDash val="solid"/>
          </a:ln>
        </p:spPr>
      </p:sp>
      <p:sp>
        <p:nvSpPr>
          <p:cNvPr id="14" name="Text 12"/>
          <p:cNvSpPr/>
          <p:nvPr/>
        </p:nvSpPr>
        <p:spPr>
          <a:xfrm>
            <a:off x="1005840" y="4846320"/>
            <a:ext cx="10180015" cy="960120"/>
          </a:xfrm>
          <a:prstGeom prst="rect">
            <a:avLst/>
          </a:prstGeom>
          <a:noFill/>
          <a:ln/>
        </p:spPr>
        <p:txBody>
          <a:bodyPr wrap="square" lIns="0" tIns="0" rIns="0" bIns="0" rtlCol="0" anchor="ctr"/>
          <a:lstStyle/>
          <a:p>
            <a:pPr indent="0" marL="0">
              <a:buNone/>
            </a:pPr>
            <a:r>
              <a:rPr lang="en-US" sz="1700" b="1" dirty="0">
                <a:solidFill>
                  <a:srgbClr val="0E8B6C"/>
                </a:solidFill>
                <a:latin typeface="Arial" pitchFamily="34" charset="0"/>
                <a:ea typeface="Arial" pitchFamily="34" charset="-122"/>
                <a:cs typeface="Arial" pitchFamily="34" charset="-120"/>
              </a:rPr>
              <a:t>GroupSplit </a:t>
            </a:r>
            <a:pPr indent="0" marL="0">
              <a:buNone/>
            </a:pPr>
            <a:r>
              <a:rPr lang="en-US" sz="1700" dirty="0">
                <a:solidFill>
                  <a:srgbClr val="16233D"/>
                </a:solidFill>
                <a:latin typeface="Arial" pitchFamily="34" charset="0"/>
                <a:ea typeface="Arial" pitchFamily="34" charset="-122"/>
                <a:cs typeface="Arial" pitchFamily="34" charset="-120"/>
              </a:rPr>
              <a:t>ghi lại từng hóa đơn, tự tính ai nợ ai và báo cho cả nhóm, để không ai phải làm kế toán bất đắc dĩ.</a:t>
            </a:r>
            <a:endParaRPr lang="en-US" sz="1700" dirty="0"/>
          </a:p>
        </p:txBody>
      </p:sp>
      <p:sp>
        <p:nvSpPr>
          <p:cNvPr id="15" name="Text 13"/>
          <p:cNvSpPr/>
          <p:nvPr/>
        </p:nvSpPr>
        <p:spPr>
          <a:xfrm>
            <a:off x="640080" y="6355080"/>
            <a:ext cx="2743200" cy="274320"/>
          </a:xfrm>
          <a:prstGeom prst="rect">
            <a:avLst/>
          </a:prstGeom>
          <a:noFill/>
          <a:ln/>
        </p:spPr>
        <p:txBody>
          <a:bodyPr wrap="square" lIns="0" tIns="0" rIns="0" bIns="0" rtlCol="0" anchor="ctr"/>
          <a:lstStyle/>
          <a:p>
            <a:pPr indent="0" marL="0">
              <a:buNone/>
            </a:pPr>
            <a:r>
              <a:rPr lang="en-US" sz="1100" b="1" dirty="0">
                <a:solidFill>
                  <a:srgbClr val="16233D"/>
                </a:solidFill>
                <a:latin typeface="Arial" pitchFamily="34" charset="0"/>
                <a:ea typeface="Arial" pitchFamily="34" charset="-122"/>
                <a:cs typeface="Arial" pitchFamily="34" charset="-120"/>
              </a:rPr>
              <a:t>Group</a:t>
            </a:r>
            <a:pPr indent="0" marL="0">
              <a:buNone/>
            </a:pPr>
            <a:r>
              <a:rPr lang="en-US" sz="1100" b="1" dirty="0">
                <a:solidFill>
                  <a:srgbClr val="2F7BF5"/>
                </a:solidFill>
                <a:latin typeface="Arial" pitchFamily="34" charset="0"/>
                <a:ea typeface="Arial" pitchFamily="34" charset="-122"/>
                <a:cs typeface="Arial" pitchFamily="34" charset="-120"/>
              </a:rPr>
              <a:t>Split</a:t>
            </a:r>
            <a:endParaRPr lang="en-US" sz="1100" dirty="0"/>
          </a:p>
        </p:txBody>
      </p:sp>
      <p:sp>
        <p:nvSpPr>
          <p:cNvPr id="16" name="Text 14"/>
          <p:cNvSpPr/>
          <p:nvPr/>
        </p:nvSpPr>
        <p:spPr>
          <a:xfrm>
            <a:off x="10637215" y="6355080"/>
            <a:ext cx="914400" cy="274320"/>
          </a:xfrm>
          <a:prstGeom prst="rect">
            <a:avLst/>
          </a:prstGeom>
          <a:noFill/>
          <a:ln/>
        </p:spPr>
        <p:txBody>
          <a:bodyPr wrap="square" lIns="0" tIns="0" rIns="0" bIns="0" rtlCol="0" anchor="ctr"/>
          <a:lstStyle/>
          <a:p>
            <a:pPr algn="r" indent="0" marL="0">
              <a:buNone/>
            </a:pPr>
            <a:r>
              <a:rPr lang="en-US" sz="1000" dirty="0">
                <a:solidFill>
                  <a:srgbClr val="6B7385"/>
                </a:solidFill>
                <a:latin typeface="Arial" pitchFamily="34" charset="0"/>
                <a:ea typeface="Arial" pitchFamily="34" charset="-122"/>
                <a:cs typeface="Arial"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11535" cy="274320"/>
          </a:xfrm>
          <a:prstGeom prst="rect">
            <a:avLst/>
          </a:prstGeom>
          <a:noFill/>
          <a:ln/>
        </p:spPr>
        <p:txBody>
          <a:bodyPr wrap="square" lIns="0" tIns="0" rIns="0" bIns="0" rtlCol="0" anchor="ctr"/>
          <a:lstStyle/>
          <a:p>
            <a:pPr indent="0" marL="0">
              <a:buNone/>
            </a:pPr>
            <a:r>
              <a:rPr lang="en-US" sz="1100" b="1" spc="200" kern="0" dirty="0">
                <a:solidFill>
                  <a:srgbClr val="14B88F"/>
                </a:solidFill>
                <a:latin typeface="Arial" pitchFamily="34" charset="0"/>
                <a:ea typeface="Arial" pitchFamily="34" charset="-122"/>
                <a:cs typeface="Arial" pitchFamily="34" charset="-120"/>
              </a:rPr>
              <a:t>CÁCH HOẠT ĐỘNG</a:t>
            </a:r>
            <a:endParaRPr lang="en-US" sz="1100" dirty="0"/>
          </a:p>
        </p:txBody>
      </p:sp>
      <p:sp>
        <p:nvSpPr>
          <p:cNvPr id="3" name="Text 1"/>
          <p:cNvSpPr/>
          <p:nvPr/>
        </p:nvSpPr>
        <p:spPr>
          <a:xfrm>
            <a:off x="640080" y="868680"/>
            <a:ext cx="10911535" cy="822960"/>
          </a:xfrm>
          <a:prstGeom prst="rect">
            <a:avLst/>
          </a:prstGeom>
          <a:noFill/>
          <a:ln/>
        </p:spPr>
        <p:txBody>
          <a:bodyPr wrap="square" lIns="0" tIns="0" rIns="0" bIns="0" rtlCol="0" anchor="t"/>
          <a:lstStyle/>
          <a:p>
            <a:pPr indent="0" marL="0">
              <a:buNone/>
            </a:pPr>
            <a:r>
              <a:rPr lang="en-US" sz="3400" b="1" dirty="0">
                <a:solidFill>
                  <a:srgbClr val="16233D"/>
                </a:solidFill>
                <a:latin typeface="Arial" pitchFamily="34" charset="0"/>
                <a:ea typeface="Arial" pitchFamily="34" charset="-122"/>
                <a:cs typeface="Arial" pitchFamily="34" charset="-120"/>
              </a:rPr>
              <a:t>Ba bước, </a:t>
            </a:r>
            <a:pPr indent="0" marL="0">
              <a:buNone/>
            </a:pPr>
            <a:r>
              <a:rPr lang="en-US" sz="3400" b="1" dirty="0">
                <a:solidFill>
                  <a:srgbClr val="2F7BF5"/>
                </a:solidFill>
                <a:latin typeface="Arial" pitchFamily="34" charset="0"/>
                <a:ea typeface="Arial" pitchFamily="34" charset="-122"/>
                <a:cs typeface="Arial" pitchFamily="34" charset="-120"/>
              </a:rPr>
              <a:t>không cần ai làm kế toán</a:t>
            </a:r>
            <a:endParaRPr lang="en-US" sz="3400" dirty="0"/>
          </a:p>
        </p:txBody>
      </p:sp>
      <p:sp>
        <p:nvSpPr>
          <p:cNvPr id="4" name="Text 2"/>
          <p:cNvSpPr/>
          <p:nvPr/>
        </p:nvSpPr>
        <p:spPr>
          <a:xfrm>
            <a:off x="640080" y="2148840"/>
            <a:ext cx="1097280" cy="1097280"/>
          </a:xfrm>
          <a:prstGeom prst="rect">
            <a:avLst/>
          </a:prstGeom>
          <a:noFill/>
          <a:ln/>
        </p:spPr>
        <p:txBody>
          <a:bodyPr wrap="square" lIns="0" tIns="0" rIns="0" bIns="0" rtlCol="0" anchor="t"/>
          <a:lstStyle/>
          <a:p>
            <a:pPr indent="0" marL="0">
              <a:buNone/>
            </a:pPr>
            <a:r>
              <a:rPr lang="en-US" sz="7200" b="1" dirty="0">
                <a:solidFill>
                  <a:srgbClr val="14B88F"/>
                </a:solidFill>
                <a:latin typeface="Arial" pitchFamily="34" charset="0"/>
                <a:ea typeface="Arial" pitchFamily="34" charset="-122"/>
                <a:cs typeface="Arial" pitchFamily="34" charset="-120"/>
              </a:rPr>
              <a:t>1</a:t>
            </a:r>
            <a:endParaRPr lang="en-US" sz="7200" dirty="0"/>
          </a:p>
        </p:txBody>
      </p:sp>
      <p:sp>
        <p:nvSpPr>
          <p:cNvPr id="5" name="Text 3"/>
          <p:cNvSpPr/>
          <p:nvPr/>
        </p:nvSpPr>
        <p:spPr>
          <a:xfrm>
            <a:off x="640080" y="3383280"/>
            <a:ext cx="3271418" cy="1645920"/>
          </a:xfrm>
          <a:prstGeom prst="rect">
            <a:avLst/>
          </a:prstGeom>
          <a:noFill/>
          <a:ln/>
        </p:spPr>
        <p:txBody>
          <a:bodyPr wrap="square" lIns="0" tIns="0" rIns="0" bIns="0" rtlCol="0" anchor="t"/>
          <a:lstStyle/>
          <a:p>
            <a:pPr indent="0" marL="0">
              <a:spcAft>
                <a:spcPts val="800"/>
              </a:spcAft>
              <a:buNone/>
            </a:pPr>
            <a:r>
              <a:rPr lang="en-US" sz="2000" b="1" dirty="0">
                <a:solidFill>
                  <a:srgbClr val="16233D"/>
                </a:solidFill>
                <a:latin typeface="Arial" pitchFamily="34" charset="0"/>
                <a:ea typeface="Arial" pitchFamily="34" charset="-122"/>
                <a:cs typeface="Arial" pitchFamily="34" charset="-120"/>
              </a:rPr>
              <a:t>Tạo nhóm, gửi link mời</a:t>
            </a:r>
            <a:endParaRPr lang="en-US" sz="2000" dirty="0"/>
          </a:p>
          <a:p>
            <a:pPr indent="0" marL="0">
              <a:buNone/>
            </a:pPr>
            <a:r>
              <a:rPr lang="en-US" sz="1500" dirty="0">
                <a:solidFill>
                  <a:srgbClr val="4B5568"/>
                </a:solidFill>
                <a:latin typeface="Arial" pitchFamily="34" charset="0"/>
                <a:ea typeface="Arial" pitchFamily="34" charset="-122"/>
                <a:cs typeface="Arial" pitchFamily="34" charset="-120"/>
              </a:rPr>
              <a:t>Bạn bè bấm link là xin vào nhóm, trưởng nhóm duyệt một chạm.</a:t>
            </a:r>
            <a:endParaRPr lang="en-US" sz="2000" dirty="0"/>
          </a:p>
        </p:txBody>
      </p:sp>
      <p:sp>
        <p:nvSpPr>
          <p:cNvPr id="6" name="Text 4"/>
          <p:cNvSpPr/>
          <p:nvPr/>
        </p:nvSpPr>
        <p:spPr>
          <a:xfrm>
            <a:off x="3957218" y="2377440"/>
            <a:ext cx="457200" cy="548640"/>
          </a:xfrm>
          <a:prstGeom prst="rect">
            <a:avLst/>
          </a:prstGeom>
          <a:noFill/>
          <a:ln/>
        </p:spPr>
        <p:txBody>
          <a:bodyPr wrap="square" lIns="0" tIns="0" rIns="0" bIns="0" rtlCol="0" anchor="ctr"/>
          <a:lstStyle/>
          <a:p>
            <a:pPr algn="ctr" indent="0" marL="0">
              <a:buNone/>
            </a:pPr>
            <a:r>
              <a:rPr lang="en-US" sz="2800" dirty="0">
                <a:solidFill>
                  <a:srgbClr val="6B7385"/>
                </a:solidFill>
                <a:latin typeface="Arial" pitchFamily="34" charset="0"/>
                <a:ea typeface="Arial" pitchFamily="34" charset="-122"/>
                <a:cs typeface="Arial" pitchFamily="34" charset="-120"/>
              </a:rPr>
              <a:t>→</a:t>
            </a:r>
            <a:endParaRPr lang="en-US" sz="2800" dirty="0"/>
          </a:p>
        </p:txBody>
      </p:sp>
      <p:sp>
        <p:nvSpPr>
          <p:cNvPr id="7" name="Text 5"/>
          <p:cNvSpPr/>
          <p:nvPr/>
        </p:nvSpPr>
        <p:spPr>
          <a:xfrm>
            <a:off x="4460138" y="2148840"/>
            <a:ext cx="1097280" cy="1097280"/>
          </a:xfrm>
          <a:prstGeom prst="rect">
            <a:avLst/>
          </a:prstGeom>
          <a:noFill/>
          <a:ln/>
        </p:spPr>
        <p:txBody>
          <a:bodyPr wrap="square" lIns="0" tIns="0" rIns="0" bIns="0" rtlCol="0" anchor="t"/>
          <a:lstStyle/>
          <a:p>
            <a:pPr indent="0" marL="0">
              <a:buNone/>
            </a:pPr>
            <a:r>
              <a:rPr lang="en-US" sz="7200" b="1" dirty="0">
                <a:solidFill>
                  <a:srgbClr val="2F7BF5"/>
                </a:solidFill>
                <a:latin typeface="Arial" pitchFamily="34" charset="0"/>
                <a:ea typeface="Arial" pitchFamily="34" charset="-122"/>
                <a:cs typeface="Arial" pitchFamily="34" charset="-120"/>
              </a:rPr>
              <a:t>2</a:t>
            </a:r>
            <a:endParaRPr lang="en-US" sz="7200" dirty="0"/>
          </a:p>
        </p:txBody>
      </p:sp>
      <p:sp>
        <p:nvSpPr>
          <p:cNvPr id="8" name="Text 6"/>
          <p:cNvSpPr/>
          <p:nvPr/>
        </p:nvSpPr>
        <p:spPr>
          <a:xfrm>
            <a:off x="4460138" y="3383280"/>
            <a:ext cx="3271418" cy="1645920"/>
          </a:xfrm>
          <a:prstGeom prst="rect">
            <a:avLst/>
          </a:prstGeom>
          <a:noFill/>
          <a:ln/>
        </p:spPr>
        <p:txBody>
          <a:bodyPr wrap="square" lIns="0" tIns="0" rIns="0" bIns="0" rtlCol="0" anchor="t"/>
          <a:lstStyle/>
          <a:p>
            <a:pPr indent="0" marL="0">
              <a:spcAft>
                <a:spcPts val="800"/>
              </a:spcAft>
              <a:buNone/>
            </a:pPr>
            <a:r>
              <a:rPr lang="en-US" sz="2000" b="1" dirty="0">
                <a:solidFill>
                  <a:srgbClr val="16233D"/>
                </a:solidFill>
                <a:latin typeface="Arial" pitchFamily="34" charset="0"/>
                <a:ea typeface="Arial" pitchFamily="34" charset="-122"/>
                <a:cs typeface="Arial" pitchFamily="34" charset="-120"/>
              </a:rPr>
              <a:t>Ghi hóa đơn ngay khi trả</a:t>
            </a:r>
            <a:endParaRPr lang="en-US" sz="2000" dirty="0"/>
          </a:p>
          <a:p>
            <a:pPr indent="0" marL="0">
              <a:buNone/>
            </a:pPr>
            <a:r>
              <a:rPr lang="en-US" sz="1500" dirty="0">
                <a:solidFill>
                  <a:srgbClr val="4B5568"/>
                </a:solidFill>
                <a:latin typeface="Arial" pitchFamily="34" charset="0"/>
                <a:ea typeface="Arial" pitchFamily="34" charset="-122"/>
                <a:cs typeface="Arial" pitchFamily="34" charset="-120"/>
              </a:rPr>
              <a:t>Chọn người trả, cách chia; trưởng nhóm duyệt là hóa đơn vào sổ.</a:t>
            </a:r>
            <a:endParaRPr lang="en-US" sz="2000" dirty="0"/>
          </a:p>
        </p:txBody>
      </p:sp>
      <p:sp>
        <p:nvSpPr>
          <p:cNvPr id="9" name="Text 7"/>
          <p:cNvSpPr/>
          <p:nvPr/>
        </p:nvSpPr>
        <p:spPr>
          <a:xfrm>
            <a:off x="7777277" y="2377440"/>
            <a:ext cx="457200" cy="548640"/>
          </a:xfrm>
          <a:prstGeom prst="rect">
            <a:avLst/>
          </a:prstGeom>
          <a:noFill/>
          <a:ln/>
        </p:spPr>
        <p:txBody>
          <a:bodyPr wrap="square" lIns="0" tIns="0" rIns="0" bIns="0" rtlCol="0" anchor="ctr"/>
          <a:lstStyle/>
          <a:p>
            <a:pPr algn="ctr" indent="0" marL="0">
              <a:buNone/>
            </a:pPr>
            <a:r>
              <a:rPr lang="en-US" sz="2800" dirty="0">
                <a:solidFill>
                  <a:srgbClr val="6B7385"/>
                </a:solidFill>
                <a:latin typeface="Arial" pitchFamily="34" charset="0"/>
                <a:ea typeface="Arial" pitchFamily="34" charset="-122"/>
                <a:cs typeface="Arial" pitchFamily="34" charset="-120"/>
              </a:rPr>
              <a:t>→</a:t>
            </a:r>
            <a:endParaRPr lang="en-US" sz="2800" dirty="0"/>
          </a:p>
        </p:txBody>
      </p:sp>
      <p:sp>
        <p:nvSpPr>
          <p:cNvPr id="10" name="Text 8"/>
          <p:cNvSpPr/>
          <p:nvPr/>
        </p:nvSpPr>
        <p:spPr>
          <a:xfrm>
            <a:off x="8280197" y="2148840"/>
            <a:ext cx="1097280" cy="1097280"/>
          </a:xfrm>
          <a:prstGeom prst="rect">
            <a:avLst/>
          </a:prstGeom>
          <a:noFill/>
          <a:ln/>
        </p:spPr>
        <p:txBody>
          <a:bodyPr wrap="square" lIns="0" tIns="0" rIns="0" bIns="0" rtlCol="0" anchor="t"/>
          <a:lstStyle/>
          <a:p>
            <a:pPr indent="0" marL="0">
              <a:buNone/>
            </a:pPr>
            <a:r>
              <a:rPr lang="en-US" sz="7200" b="1" dirty="0">
                <a:solidFill>
                  <a:srgbClr val="14B88F"/>
                </a:solidFill>
                <a:latin typeface="Arial" pitchFamily="34" charset="0"/>
                <a:ea typeface="Arial" pitchFamily="34" charset="-122"/>
                <a:cs typeface="Arial" pitchFamily="34" charset="-120"/>
              </a:rPr>
              <a:t>3</a:t>
            </a:r>
            <a:endParaRPr lang="en-US" sz="7200" dirty="0"/>
          </a:p>
        </p:txBody>
      </p:sp>
      <p:sp>
        <p:nvSpPr>
          <p:cNvPr id="11" name="Text 9"/>
          <p:cNvSpPr/>
          <p:nvPr/>
        </p:nvSpPr>
        <p:spPr>
          <a:xfrm>
            <a:off x="8280197" y="3383280"/>
            <a:ext cx="3271418" cy="1645920"/>
          </a:xfrm>
          <a:prstGeom prst="rect">
            <a:avLst/>
          </a:prstGeom>
          <a:noFill/>
          <a:ln/>
        </p:spPr>
        <p:txBody>
          <a:bodyPr wrap="square" lIns="0" tIns="0" rIns="0" bIns="0" rtlCol="0" anchor="t"/>
          <a:lstStyle/>
          <a:p>
            <a:pPr indent="0" marL="0">
              <a:spcAft>
                <a:spcPts val="800"/>
              </a:spcAft>
              <a:buNone/>
            </a:pPr>
            <a:r>
              <a:rPr lang="en-US" sz="2000" b="1" dirty="0">
                <a:solidFill>
                  <a:srgbClr val="16233D"/>
                </a:solidFill>
                <a:latin typeface="Arial" pitchFamily="34" charset="0"/>
                <a:ea typeface="Arial" pitchFamily="34" charset="-122"/>
                <a:cs typeface="Arial" pitchFamily="34" charset="-120"/>
              </a:rPr>
              <a:t>Quét QR trả nợ</a:t>
            </a:r>
            <a:endParaRPr lang="en-US" sz="2000" dirty="0"/>
          </a:p>
          <a:p>
            <a:pPr indent="0" marL="0">
              <a:buNone/>
            </a:pPr>
            <a:r>
              <a:rPr lang="en-US" sz="1500" dirty="0">
                <a:solidFill>
                  <a:srgbClr val="4B5568"/>
                </a:solidFill>
                <a:latin typeface="Arial" pitchFamily="34" charset="0"/>
                <a:ea typeface="Arial" pitchFamily="34" charset="-122"/>
                <a:cs typeface="Arial" pitchFamily="34" charset="-120"/>
              </a:rPr>
              <a:t>Mỗi người thấy đúng số tiền phải trả, quét VietQR là xong.</a:t>
            </a:r>
            <a:endParaRPr lang="en-US" sz="2000" dirty="0"/>
          </a:p>
        </p:txBody>
      </p:sp>
      <p:sp>
        <p:nvSpPr>
          <p:cNvPr id="12" name="Shape 10"/>
          <p:cNvSpPr/>
          <p:nvPr/>
        </p:nvSpPr>
        <p:spPr>
          <a:xfrm>
            <a:off x="640080" y="5166360"/>
            <a:ext cx="10911535" cy="731520"/>
          </a:xfrm>
          <a:prstGeom prst="roundRect">
            <a:avLst>
              <a:gd name="adj" fmla="val 15000"/>
            </a:avLst>
          </a:prstGeom>
          <a:solidFill>
            <a:srgbClr val="F5F8FC"/>
          </a:solidFill>
          <a:ln w="12700">
            <a:solidFill>
              <a:srgbClr val="F5F8FC"/>
            </a:solidFill>
            <a:prstDash val="solid"/>
          </a:ln>
        </p:spPr>
      </p:sp>
      <p:sp>
        <p:nvSpPr>
          <p:cNvPr id="13" name="Text 11"/>
          <p:cNvSpPr/>
          <p:nvPr/>
        </p:nvSpPr>
        <p:spPr>
          <a:xfrm>
            <a:off x="960120" y="5166360"/>
            <a:ext cx="10271455" cy="731520"/>
          </a:xfrm>
          <a:prstGeom prst="rect">
            <a:avLst/>
          </a:prstGeom>
          <a:noFill/>
          <a:ln/>
        </p:spPr>
        <p:txBody>
          <a:bodyPr wrap="square" lIns="0" tIns="0" rIns="0" bIns="0" rtlCol="0" anchor="ctr"/>
          <a:lstStyle/>
          <a:p>
            <a:pPr indent="0" marL="0">
              <a:buNone/>
            </a:pPr>
            <a:r>
              <a:rPr lang="en-US" sz="1400" dirty="0">
                <a:solidFill>
                  <a:srgbClr val="4B5568"/>
                </a:solidFill>
                <a:latin typeface="Arial" pitchFamily="34" charset="0"/>
                <a:ea typeface="Arial" pitchFamily="34" charset="-122"/>
                <a:cs typeface="Arial" pitchFamily="34" charset="-120"/>
              </a:rPr>
              <a:t>Hóa đơn chờ duyệt chưa được tính vào nợ, nên không ai bị ghi nhầm một khoản chưa thống nhất.</a:t>
            </a:r>
            <a:endParaRPr lang="en-US" sz="1400" dirty="0"/>
          </a:p>
        </p:txBody>
      </p:sp>
      <p:sp>
        <p:nvSpPr>
          <p:cNvPr id="14" name="Text 12"/>
          <p:cNvSpPr/>
          <p:nvPr/>
        </p:nvSpPr>
        <p:spPr>
          <a:xfrm>
            <a:off x="640080" y="6355080"/>
            <a:ext cx="2743200" cy="274320"/>
          </a:xfrm>
          <a:prstGeom prst="rect">
            <a:avLst/>
          </a:prstGeom>
          <a:noFill/>
          <a:ln/>
        </p:spPr>
        <p:txBody>
          <a:bodyPr wrap="square" lIns="0" tIns="0" rIns="0" bIns="0" rtlCol="0" anchor="ctr"/>
          <a:lstStyle/>
          <a:p>
            <a:pPr indent="0" marL="0">
              <a:buNone/>
            </a:pPr>
            <a:r>
              <a:rPr lang="en-US" sz="1100" b="1" dirty="0">
                <a:solidFill>
                  <a:srgbClr val="16233D"/>
                </a:solidFill>
                <a:latin typeface="Arial" pitchFamily="34" charset="0"/>
                <a:ea typeface="Arial" pitchFamily="34" charset="-122"/>
                <a:cs typeface="Arial" pitchFamily="34" charset="-120"/>
              </a:rPr>
              <a:t>Group</a:t>
            </a:r>
            <a:pPr indent="0" marL="0">
              <a:buNone/>
            </a:pPr>
            <a:r>
              <a:rPr lang="en-US" sz="1100" b="1" dirty="0">
                <a:solidFill>
                  <a:srgbClr val="2F7BF5"/>
                </a:solidFill>
                <a:latin typeface="Arial" pitchFamily="34" charset="0"/>
                <a:ea typeface="Arial" pitchFamily="34" charset="-122"/>
                <a:cs typeface="Arial" pitchFamily="34" charset="-120"/>
              </a:rPr>
              <a:t>Split</a:t>
            </a:r>
            <a:endParaRPr lang="en-US" sz="1100" dirty="0"/>
          </a:p>
        </p:txBody>
      </p:sp>
      <p:sp>
        <p:nvSpPr>
          <p:cNvPr id="15" name="Text 13"/>
          <p:cNvSpPr/>
          <p:nvPr/>
        </p:nvSpPr>
        <p:spPr>
          <a:xfrm>
            <a:off x="10637215" y="6355080"/>
            <a:ext cx="914400" cy="274320"/>
          </a:xfrm>
          <a:prstGeom prst="rect">
            <a:avLst/>
          </a:prstGeom>
          <a:noFill/>
          <a:ln/>
        </p:spPr>
        <p:txBody>
          <a:bodyPr wrap="square" lIns="0" tIns="0" rIns="0" bIns="0" rtlCol="0" anchor="ctr"/>
          <a:lstStyle/>
          <a:p>
            <a:pPr algn="r" indent="0" marL="0">
              <a:buNone/>
            </a:pPr>
            <a:r>
              <a:rPr lang="en-US" sz="1000" dirty="0">
                <a:solidFill>
                  <a:srgbClr val="6B7385"/>
                </a:solidFill>
                <a:latin typeface="Arial" pitchFamily="34" charset="0"/>
                <a:ea typeface="Arial" pitchFamily="34" charset="-122"/>
                <a:cs typeface="Arial"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11535" cy="274320"/>
          </a:xfrm>
          <a:prstGeom prst="rect">
            <a:avLst/>
          </a:prstGeom>
          <a:noFill/>
          <a:ln/>
        </p:spPr>
        <p:txBody>
          <a:bodyPr wrap="square" lIns="0" tIns="0" rIns="0" bIns="0" rtlCol="0" anchor="ctr"/>
          <a:lstStyle/>
          <a:p>
            <a:pPr indent="0" marL="0">
              <a:buNone/>
            </a:pPr>
            <a:r>
              <a:rPr lang="en-US" sz="1100" b="1" spc="200" kern="0" dirty="0">
                <a:solidFill>
                  <a:srgbClr val="14B88F"/>
                </a:solidFill>
                <a:latin typeface="Arial" pitchFamily="34" charset="0"/>
                <a:ea typeface="Arial" pitchFamily="34" charset="-122"/>
                <a:cs typeface="Arial" pitchFamily="34" charset="-120"/>
              </a:rPr>
              <a:t>TỰ TÍNH AI NỢ AI</a:t>
            </a:r>
            <a:endParaRPr lang="en-US" sz="1100" dirty="0"/>
          </a:p>
        </p:txBody>
      </p:sp>
      <p:sp>
        <p:nvSpPr>
          <p:cNvPr id="3" name="Text 1"/>
          <p:cNvSpPr/>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233D"/>
                </a:solidFill>
                <a:latin typeface="Arial" pitchFamily="34" charset="0"/>
                <a:ea typeface="Arial" pitchFamily="34" charset="-122"/>
                <a:cs typeface="Arial" pitchFamily="34" charset="-120"/>
              </a:rPr>
              <a:t>4 người, 2 hóa đơn, </a:t>
            </a:r>
            <a:pPr indent="0" marL="0">
              <a:buNone/>
            </a:pPr>
            <a:r>
              <a:rPr lang="en-US" sz="3200" b="1" dirty="0">
                <a:solidFill>
                  <a:srgbClr val="2F7BF5"/>
                </a:solidFill>
                <a:latin typeface="Arial" pitchFamily="34" charset="0"/>
                <a:ea typeface="Arial" pitchFamily="34" charset="-122"/>
                <a:cs typeface="Arial" pitchFamily="34" charset="-120"/>
              </a:rPr>
              <a:t>chỉ 2 lần chuyển khoản</a:t>
            </a:r>
            <a:endParaRPr lang="en-US" sz="3200" dirty="0"/>
          </a:p>
        </p:txBody>
      </p:sp>
      <p:sp>
        <p:nvSpPr>
          <p:cNvPr id="4" name="Shape 2"/>
          <p:cNvSpPr/>
          <p:nvPr/>
        </p:nvSpPr>
        <p:spPr>
          <a:xfrm>
            <a:off x="640080" y="2103120"/>
            <a:ext cx="3931920" cy="1280160"/>
          </a:xfrm>
          <a:prstGeom prst="roundRect">
            <a:avLst>
              <a:gd name="adj" fmla="val 8571"/>
            </a:avLst>
          </a:prstGeom>
          <a:solidFill>
            <a:srgbClr val="F5F8FC"/>
          </a:solidFill>
          <a:ln w="12700">
            <a:solidFill>
              <a:srgbClr val="F5F8FC"/>
            </a:solidFill>
            <a:prstDash val="solid"/>
          </a:ln>
        </p:spPr>
      </p:sp>
      <p:sp>
        <p:nvSpPr>
          <p:cNvPr id="5" name="Shape 3"/>
          <p:cNvSpPr/>
          <p:nvPr/>
        </p:nvSpPr>
        <p:spPr>
          <a:xfrm>
            <a:off x="914400" y="2450592"/>
            <a:ext cx="548640" cy="548640"/>
          </a:xfrm>
          <a:prstGeom prst="ellipse">
            <a:avLst/>
          </a:prstGeom>
          <a:solidFill>
            <a:srgbClr val="2F7BF5"/>
          </a:solidFill>
          <a:ln w="12700">
            <a:solidFill>
              <a:srgbClr val="2F7BF5"/>
            </a:solidFill>
            <a:prstDash val="solid"/>
          </a:ln>
        </p:spPr>
      </p:sp>
      <p:sp>
        <p:nvSpPr>
          <p:cNvPr id="6" name="Text 4"/>
          <p:cNvSpPr/>
          <p:nvPr/>
        </p:nvSpPr>
        <p:spPr>
          <a:xfrm>
            <a:off x="914400" y="2450592"/>
            <a:ext cx="548640" cy="54864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a:t>
            </a:r>
            <a:endParaRPr lang="en-US" sz="900" dirty="0"/>
          </a:p>
        </p:txBody>
      </p:sp>
      <p:sp>
        <p:nvSpPr>
          <p:cNvPr id="7" name="Text 5"/>
          <p:cNvSpPr/>
          <p:nvPr/>
        </p:nvSpPr>
        <p:spPr>
          <a:xfrm>
            <a:off x="1645920" y="2377440"/>
            <a:ext cx="1828800" cy="822960"/>
          </a:xfrm>
          <a:prstGeom prst="rect">
            <a:avLst/>
          </a:prstGeom>
          <a:noFill/>
          <a:ln/>
        </p:spPr>
        <p:txBody>
          <a:bodyPr wrap="square" lIns="0" tIns="0" rIns="0" bIns="0" rtlCol="0" anchor="t"/>
          <a:lstStyle/>
          <a:p>
            <a:pPr indent="0" marL="0">
              <a:buNone/>
            </a:pPr>
            <a:r>
              <a:rPr lang="en-US" sz="1700" b="1" dirty="0">
                <a:solidFill>
                  <a:srgbClr val="16233D"/>
                </a:solidFill>
                <a:latin typeface="Arial" pitchFamily="34" charset="0"/>
                <a:ea typeface="Arial" pitchFamily="34" charset="-122"/>
                <a:cs typeface="Arial" pitchFamily="34" charset="-120"/>
              </a:rPr>
              <a:t>Khách sạn</a:t>
            </a:r>
            <a:endParaRPr lang="en-US" sz="1700" dirty="0"/>
          </a:p>
          <a:p>
            <a:pPr indent="0" marL="0">
              <a:buNone/>
            </a:pPr>
            <a:r>
              <a:rPr lang="en-US" sz="1200" dirty="0">
                <a:solidFill>
                  <a:srgbClr val="6B7385"/>
                </a:solidFill>
                <a:latin typeface="Arial" pitchFamily="34" charset="0"/>
                <a:ea typeface="Arial" pitchFamily="34" charset="-122"/>
                <a:cs typeface="Arial" pitchFamily="34" charset="-120"/>
              </a:rPr>
              <a:t>An trả · chia 4 người</a:t>
            </a:r>
            <a:endParaRPr lang="en-US" sz="1700" dirty="0"/>
          </a:p>
        </p:txBody>
      </p:sp>
      <p:sp>
        <p:nvSpPr>
          <p:cNvPr id="8" name="Text 6"/>
          <p:cNvSpPr/>
          <p:nvPr/>
        </p:nvSpPr>
        <p:spPr>
          <a:xfrm>
            <a:off x="3017520" y="2377440"/>
            <a:ext cx="1371600" cy="365760"/>
          </a:xfrm>
          <a:prstGeom prst="rect">
            <a:avLst/>
          </a:prstGeom>
          <a:noFill/>
          <a:ln/>
        </p:spPr>
        <p:txBody>
          <a:bodyPr wrap="square" lIns="0" tIns="0" rIns="0" bIns="0" rtlCol="0" anchor="t"/>
          <a:lstStyle/>
          <a:p>
            <a:pPr algn="r" indent="0" marL="0">
              <a:buNone/>
            </a:pPr>
            <a:r>
              <a:rPr lang="en-US" sz="1500" b="1" dirty="0">
                <a:solidFill>
                  <a:srgbClr val="16233D"/>
                </a:solidFill>
                <a:latin typeface="Arial" pitchFamily="34" charset="0"/>
                <a:ea typeface="Arial" pitchFamily="34" charset="-122"/>
                <a:cs typeface="Arial" pitchFamily="34" charset="-120"/>
              </a:rPr>
              <a:t>1.200.000 ₫</a:t>
            </a:r>
            <a:endParaRPr lang="en-US" sz="1500" dirty="0"/>
          </a:p>
        </p:txBody>
      </p:sp>
      <p:sp>
        <p:nvSpPr>
          <p:cNvPr id="9" name="Shape 7"/>
          <p:cNvSpPr/>
          <p:nvPr/>
        </p:nvSpPr>
        <p:spPr>
          <a:xfrm>
            <a:off x="640080" y="3611880"/>
            <a:ext cx="3931920" cy="1280160"/>
          </a:xfrm>
          <a:prstGeom prst="roundRect">
            <a:avLst>
              <a:gd name="adj" fmla="val 8571"/>
            </a:avLst>
          </a:prstGeom>
          <a:solidFill>
            <a:srgbClr val="F5F8FC"/>
          </a:solidFill>
          <a:ln w="12700">
            <a:solidFill>
              <a:srgbClr val="F5F8FC"/>
            </a:solidFill>
            <a:prstDash val="solid"/>
          </a:ln>
        </p:spPr>
      </p:sp>
      <p:sp>
        <p:nvSpPr>
          <p:cNvPr id="10" name="Shape 8"/>
          <p:cNvSpPr/>
          <p:nvPr/>
        </p:nvSpPr>
        <p:spPr>
          <a:xfrm>
            <a:off x="914400" y="3959352"/>
            <a:ext cx="548640" cy="548640"/>
          </a:xfrm>
          <a:prstGeom prst="ellipse">
            <a:avLst/>
          </a:prstGeom>
          <a:solidFill>
            <a:srgbClr val="14B88F"/>
          </a:solidFill>
          <a:ln w="12700">
            <a:solidFill>
              <a:srgbClr val="14B88F"/>
            </a:solidFill>
            <a:prstDash val="solid"/>
          </a:ln>
        </p:spPr>
      </p:sp>
      <p:sp>
        <p:nvSpPr>
          <p:cNvPr id="11" name="Text 9"/>
          <p:cNvSpPr/>
          <p:nvPr/>
        </p:nvSpPr>
        <p:spPr>
          <a:xfrm>
            <a:off x="914400" y="3959352"/>
            <a:ext cx="548640" cy="54864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B</a:t>
            </a:r>
            <a:endParaRPr lang="en-US" sz="900" dirty="0"/>
          </a:p>
        </p:txBody>
      </p:sp>
      <p:sp>
        <p:nvSpPr>
          <p:cNvPr id="12" name="Text 10"/>
          <p:cNvSpPr/>
          <p:nvPr/>
        </p:nvSpPr>
        <p:spPr>
          <a:xfrm>
            <a:off x="1645920" y="3886200"/>
            <a:ext cx="1828800" cy="822960"/>
          </a:xfrm>
          <a:prstGeom prst="rect">
            <a:avLst/>
          </a:prstGeom>
          <a:noFill/>
          <a:ln/>
        </p:spPr>
        <p:txBody>
          <a:bodyPr wrap="square" lIns="0" tIns="0" rIns="0" bIns="0" rtlCol="0" anchor="t"/>
          <a:lstStyle/>
          <a:p>
            <a:pPr indent="0" marL="0">
              <a:buNone/>
            </a:pPr>
            <a:r>
              <a:rPr lang="en-US" sz="1700" b="1" dirty="0">
                <a:solidFill>
                  <a:srgbClr val="16233D"/>
                </a:solidFill>
                <a:latin typeface="Arial" pitchFamily="34" charset="0"/>
                <a:ea typeface="Arial" pitchFamily="34" charset="-122"/>
                <a:cs typeface="Arial" pitchFamily="34" charset="-120"/>
              </a:rPr>
              <a:t>Ăn tối</a:t>
            </a:r>
            <a:endParaRPr lang="en-US" sz="1700" dirty="0"/>
          </a:p>
          <a:p>
            <a:pPr indent="0" marL="0">
              <a:buNone/>
            </a:pPr>
            <a:r>
              <a:rPr lang="en-US" sz="1200" dirty="0">
                <a:solidFill>
                  <a:srgbClr val="6B7385"/>
                </a:solidFill>
                <a:latin typeface="Arial" pitchFamily="34" charset="0"/>
                <a:ea typeface="Arial" pitchFamily="34" charset="-122"/>
                <a:cs typeface="Arial" pitchFamily="34" charset="-120"/>
              </a:rPr>
              <a:t>Bình trả · chia 4 người</a:t>
            </a:r>
            <a:endParaRPr lang="en-US" sz="1700" dirty="0"/>
          </a:p>
        </p:txBody>
      </p:sp>
      <p:sp>
        <p:nvSpPr>
          <p:cNvPr id="13" name="Text 11"/>
          <p:cNvSpPr/>
          <p:nvPr/>
        </p:nvSpPr>
        <p:spPr>
          <a:xfrm>
            <a:off x="3017520" y="3886200"/>
            <a:ext cx="1371600" cy="365760"/>
          </a:xfrm>
          <a:prstGeom prst="rect">
            <a:avLst/>
          </a:prstGeom>
          <a:noFill/>
          <a:ln/>
        </p:spPr>
        <p:txBody>
          <a:bodyPr wrap="square" lIns="0" tIns="0" rIns="0" bIns="0" rtlCol="0" anchor="t"/>
          <a:lstStyle/>
          <a:p>
            <a:pPr algn="r" indent="0" marL="0">
              <a:buNone/>
            </a:pPr>
            <a:r>
              <a:rPr lang="en-US" sz="1500" b="1" dirty="0">
                <a:solidFill>
                  <a:srgbClr val="16233D"/>
                </a:solidFill>
                <a:latin typeface="Arial" pitchFamily="34" charset="0"/>
                <a:ea typeface="Arial" pitchFamily="34" charset="-122"/>
                <a:cs typeface="Arial" pitchFamily="34" charset="-120"/>
              </a:rPr>
              <a:t>400.000 ₫</a:t>
            </a:r>
            <a:endParaRPr lang="en-US" sz="1500" dirty="0"/>
          </a:p>
        </p:txBody>
      </p:sp>
      <p:sp>
        <p:nvSpPr>
          <p:cNvPr id="14" name="Text 12"/>
          <p:cNvSpPr/>
          <p:nvPr/>
        </p:nvSpPr>
        <p:spPr>
          <a:xfrm>
            <a:off x="4709160" y="2926080"/>
            <a:ext cx="822960" cy="822960"/>
          </a:xfrm>
          <a:prstGeom prst="rect">
            <a:avLst/>
          </a:prstGeom>
          <a:noFill/>
          <a:ln/>
        </p:spPr>
        <p:txBody>
          <a:bodyPr wrap="square" lIns="0" tIns="0" rIns="0" bIns="0" rtlCol="0" anchor="ctr"/>
          <a:lstStyle/>
          <a:p>
            <a:pPr algn="ctr" indent="0" marL="0">
              <a:buNone/>
            </a:pPr>
            <a:r>
              <a:rPr lang="en-US" sz="4000" dirty="0">
                <a:solidFill>
                  <a:srgbClr val="6B7385"/>
                </a:solidFill>
                <a:latin typeface="Arial" pitchFamily="34" charset="0"/>
                <a:ea typeface="Arial" pitchFamily="34" charset="-122"/>
                <a:cs typeface="Arial" pitchFamily="34" charset="-120"/>
              </a:rPr>
              <a:t>→</a:t>
            </a:r>
            <a:endParaRPr lang="en-US" sz="4000" dirty="0"/>
          </a:p>
        </p:txBody>
      </p:sp>
      <p:sp>
        <p:nvSpPr>
          <p:cNvPr id="15" name="Shape 13"/>
          <p:cNvSpPr/>
          <p:nvPr/>
        </p:nvSpPr>
        <p:spPr>
          <a:xfrm>
            <a:off x="5669280" y="2011680"/>
            <a:ext cx="5879592" cy="841248"/>
          </a:xfrm>
          <a:prstGeom prst="roundRect">
            <a:avLst>
              <a:gd name="adj" fmla="val 13043"/>
            </a:avLst>
          </a:prstGeom>
          <a:solidFill>
            <a:srgbClr val="FDECEC"/>
          </a:solidFill>
          <a:ln w="12700">
            <a:solidFill>
              <a:srgbClr val="FDECEC"/>
            </a:solidFill>
            <a:prstDash val="solid"/>
          </a:ln>
        </p:spPr>
      </p:sp>
      <p:sp>
        <p:nvSpPr>
          <p:cNvPr id="16" name="Shape 14"/>
          <p:cNvSpPr/>
          <p:nvPr/>
        </p:nvSpPr>
        <p:spPr>
          <a:xfrm>
            <a:off x="5897880" y="2203704"/>
            <a:ext cx="457200" cy="457200"/>
          </a:xfrm>
          <a:prstGeom prst="ellipse">
            <a:avLst/>
          </a:prstGeom>
          <a:solidFill>
            <a:srgbClr val="8B5CF6"/>
          </a:solidFill>
          <a:ln w="12700">
            <a:solidFill>
              <a:srgbClr val="8B5CF6"/>
            </a:solidFill>
            <a:prstDash val="solid"/>
          </a:ln>
        </p:spPr>
      </p:sp>
      <p:sp>
        <p:nvSpPr>
          <p:cNvPr id="17" name="Text 15"/>
          <p:cNvSpPr/>
          <p:nvPr/>
        </p:nvSpPr>
        <p:spPr>
          <a:xfrm>
            <a:off x="5897880" y="2203704"/>
            <a:ext cx="4572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a:t>
            </a:r>
            <a:endParaRPr lang="en-US" sz="900" dirty="0"/>
          </a:p>
        </p:txBody>
      </p:sp>
      <p:sp>
        <p:nvSpPr>
          <p:cNvPr id="18" name="Text 16"/>
          <p:cNvSpPr/>
          <p:nvPr/>
        </p:nvSpPr>
        <p:spPr>
          <a:xfrm>
            <a:off x="6537960" y="2011680"/>
            <a:ext cx="3200400" cy="841248"/>
          </a:xfrm>
          <a:prstGeom prst="rect">
            <a:avLst/>
          </a:prstGeom>
          <a:noFill/>
          <a:ln/>
        </p:spPr>
        <p:txBody>
          <a:bodyPr wrap="square" lIns="0" tIns="0" rIns="0" bIns="0" rtlCol="0" anchor="ctr"/>
          <a:lstStyle/>
          <a:p>
            <a:pPr indent="0" marL="0">
              <a:buNone/>
            </a:pPr>
            <a:r>
              <a:rPr lang="en-US" sz="1700" b="1" dirty="0">
                <a:solidFill>
                  <a:srgbClr val="16233D"/>
                </a:solidFill>
                <a:latin typeface="Arial" pitchFamily="34" charset="0"/>
                <a:ea typeface="Arial" pitchFamily="34" charset="-122"/>
                <a:cs typeface="Arial" pitchFamily="34" charset="-120"/>
              </a:rPr>
              <a:t>Chi </a:t>
            </a:r>
            <a:pPr indent="0" marL="0">
              <a:buNone/>
            </a:pPr>
            <a:r>
              <a:rPr lang="en-US" sz="1700" dirty="0">
                <a:solidFill>
                  <a:srgbClr val="4B5568"/>
                </a:solidFill>
                <a:latin typeface="Arial" pitchFamily="34" charset="0"/>
                <a:ea typeface="Arial" pitchFamily="34" charset="-122"/>
                <a:cs typeface="Arial" pitchFamily="34" charset="-120"/>
              </a:rPr>
              <a:t>chuyển An</a:t>
            </a:r>
            <a:endParaRPr lang="en-US" sz="1700" dirty="0"/>
          </a:p>
        </p:txBody>
      </p:sp>
      <p:sp>
        <p:nvSpPr>
          <p:cNvPr id="19" name="Text 17"/>
          <p:cNvSpPr/>
          <p:nvPr/>
        </p:nvSpPr>
        <p:spPr>
          <a:xfrm>
            <a:off x="9509760" y="2011680"/>
            <a:ext cx="1828800" cy="841248"/>
          </a:xfrm>
          <a:prstGeom prst="rect">
            <a:avLst/>
          </a:prstGeom>
          <a:noFill/>
          <a:ln/>
        </p:spPr>
        <p:txBody>
          <a:bodyPr wrap="square" lIns="0" tIns="0" rIns="0" bIns="0" rtlCol="0" anchor="ctr"/>
          <a:lstStyle/>
          <a:p>
            <a:pPr algn="r" indent="0" marL="0">
              <a:buNone/>
            </a:pPr>
            <a:r>
              <a:rPr lang="en-US" sz="2000" b="1" dirty="0">
                <a:solidFill>
                  <a:srgbClr val="D9434A"/>
                </a:solidFill>
                <a:latin typeface="Arial" pitchFamily="34" charset="0"/>
                <a:ea typeface="Arial" pitchFamily="34" charset="-122"/>
                <a:cs typeface="Arial" pitchFamily="34" charset="-120"/>
              </a:rPr>
              <a:t>400.000 ₫</a:t>
            </a:r>
            <a:endParaRPr lang="en-US" sz="2000" dirty="0"/>
          </a:p>
        </p:txBody>
      </p:sp>
      <p:sp>
        <p:nvSpPr>
          <p:cNvPr id="20" name="Shape 18"/>
          <p:cNvSpPr/>
          <p:nvPr/>
        </p:nvSpPr>
        <p:spPr>
          <a:xfrm>
            <a:off x="5669280" y="3035808"/>
            <a:ext cx="5879592" cy="841248"/>
          </a:xfrm>
          <a:prstGeom prst="roundRect">
            <a:avLst>
              <a:gd name="adj" fmla="val 13043"/>
            </a:avLst>
          </a:prstGeom>
          <a:solidFill>
            <a:srgbClr val="FDECEC"/>
          </a:solidFill>
          <a:ln w="12700">
            <a:solidFill>
              <a:srgbClr val="FDECEC"/>
            </a:solidFill>
            <a:prstDash val="solid"/>
          </a:ln>
        </p:spPr>
      </p:sp>
      <p:sp>
        <p:nvSpPr>
          <p:cNvPr id="21" name="Shape 19"/>
          <p:cNvSpPr/>
          <p:nvPr/>
        </p:nvSpPr>
        <p:spPr>
          <a:xfrm>
            <a:off x="5897880" y="3227832"/>
            <a:ext cx="457200" cy="457200"/>
          </a:xfrm>
          <a:prstGeom prst="ellipse">
            <a:avLst/>
          </a:prstGeom>
          <a:solidFill>
            <a:srgbClr val="F59E0B"/>
          </a:solidFill>
          <a:ln w="12700">
            <a:solidFill>
              <a:srgbClr val="F59E0B"/>
            </a:solidFill>
            <a:prstDash val="solid"/>
          </a:ln>
        </p:spPr>
      </p:sp>
      <p:sp>
        <p:nvSpPr>
          <p:cNvPr id="22" name="Text 20"/>
          <p:cNvSpPr/>
          <p:nvPr/>
        </p:nvSpPr>
        <p:spPr>
          <a:xfrm>
            <a:off x="5897880" y="3227832"/>
            <a:ext cx="4572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D</a:t>
            </a:r>
            <a:endParaRPr lang="en-US" sz="900" dirty="0"/>
          </a:p>
        </p:txBody>
      </p:sp>
      <p:sp>
        <p:nvSpPr>
          <p:cNvPr id="23" name="Text 21"/>
          <p:cNvSpPr/>
          <p:nvPr/>
        </p:nvSpPr>
        <p:spPr>
          <a:xfrm>
            <a:off x="6537960" y="3035808"/>
            <a:ext cx="3200400" cy="841248"/>
          </a:xfrm>
          <a:prstGeom prst="rect">
            <a:avLst/>
          </a:prstGeom>
          <a:noFill/>
          <a:ln/>
        </p:spPr>
        <p:txBody>
          <a:bodyPr wrap="square" lIns="0" tIns="0" rIns="0" bIns="0" rtlCol="0" anchor="ctr"/>
          <a:lstStyle/>
          <a:p>
            <a:pPr indent="0" marL="0">
              <a:buNone/>
            </a:pPr>
            <a:r>
              <a:rPr lang="en-US" sz="1700" b="1" dirty="0">
                <a:solidFill>
                  <a:srgbClr val="16233D"/>
                </a:solidFill>
                <a:latin typeface="Arial" pitchFamily="34" charset="0"/>
                <a:ea typeface="Arial" pitchFamily="34" charset="-122"/>
                <a:cs typeface="Arial" pitchFamily="34" charset="-120"/>
              </a:rPr>
              <a:t>Dũng </a:t>
            </a:r>
            <a:pPr indent="0" marL="0">
              <a:buNone/>
            </a:pPr>
            <a:r>
              <a:rPr lang="en-US" sz="1700" dirty="0">
                <a:solidFill>
                  <a:srgbClr val="4B5568"/>
                </a:solidFill>
                <a:latin typeface="Arial" pitchFamily="34" charset="0"/>
                <a:ea typeface="Arial" pitchFamily="34" charset="-122"/>
                <a:cs typeface="Arial" pitchFamily="34" charset="-120"/>
              </a:rPr>
              <a:t>chuyển An</a:t>
            </a:r>
            <a:endParaRPr lang="en-US" sz="1700" dirty="0"/>
          </a:p>
        </p:txBody>
      </p:sp>
      <p:sp>
        <p:nvSpPr>
          <p:cNvPr id="24" name="Text 22"/>
          <p:cNvSpPr/>
          <p:nvPr/>
        </p:nvSpPr>
        <p:spPr>
          <a:xfrm>
            <a:off x="9509760" y="3035808"/>
            <a:ext cx="1828800" cy="841248"/>
          </a:xfrm>
          <a:prstGeom prst="rect">
            <a:avLst/>
          </a:prstGeom>
          <a:noFill/>
          <a:ln/>
        </p:spPr>
        <p:txBody>
          <a:bodyPr wrap="square" lIns="0" tIns="0" rIns="0" bIns="0" rtlCol="0" anchor="ctr"/>
          <a:lstStyle/>
          <a:p>
            <a:pPr algn="r" indent="0" marL="0">
              <a:buNone/>
            </a:pPr>
            <a:r>
              <a:rPr lang="en-US" sz="2000" b="1" dirty="0">
                <a:solidFill>
                  <a:srgbClr val="D9434A"/>
                </a:solidFill>
                <a:latin typeface="Arial" pitchFamily="34" charset="0"/>
                <a:ea typeface="Arial" pitchFamily="34" charset="-122"/>
                <a:cs typeface="Arial" pitchFamily="34" charset="-120"/>
              </a:rPr>
              <a:t>400.000 ₫</a:t>
            </a:r>
            <a:endParaRPr lang="en-US" sz="2000" dirty="0"/>
          </a:p>
        </p:txBody>
      </p:sp>
      <p:sp>
        <p:nvSpPr>
          <p:cNvPr id="25" name="Shape 23"/>
          <p:cNvSpPr/>
          <p:nvPr/>
        </p:nvSpPr>
        <p:spPr>
          <a:xfrm>
            <a:off x="5669280" y="4059936"/>
            <a:ext cx="5879592" cy="841248"/>
          </a:xfrm>
          <a:prstGeom prst="roundRect">
            <a:avLst>
              <a:gd name="adj" fmla="val 13043"/>
            </a:avLst>
          </a:prstGeom>
          <a:solidFill>
            <a:srgbClr val="E3F6EF"/>
          </a:solidFill>
          <a:ln w="12700">
            <a:solidFill>
              <a:srgbClr val="E3F6EF"/>
            </a:solidFill>
            <a:prstDash val="solid"/>
          </a:ln>
        </p:spPr>
      </p:sp>
      <p:sp>
        <p:nvSpPr>
          <p:cNvPr id="26" name="Shape 24"/>
          <p:cNvSpPr/>
          <p:nvPr/>
        </p:nvSpPr>
        <p:spPr>
          <a:xfrm>
            <a:off x="5897880" y="4251960"/>
            <a:ext cx="457200" cy="457200"/>
          </a:xfrm>
          <a:prstGeom prst="ellipse">
            <a:avLst/>
          </a:prstGeom>
          <a:solidFill>
            <a:srgbClr val="14B88F"/>
          </a:solidFill>
          <a:ln w="12700">
            <a:solidFill>
              <a:srgbClr val="14B88F"/>
            </a:solidFill>
            <a:prstDash val="solid"/>
          </a:ln>
        </p:spPr>
      </p:sp>
      <p:sp>
        <p:nvSpPr>
          <p:cNvPr id="27" name="Text 25"/>
          <p:cNvSpPr/>
          <p:nvPr/>
        </p:nvSpPr>
        <p:spPr>
          <a:xfrm>
            <a:off x="5897880" y="4251960"/>
            <a:ext cx="4572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B</a:t>
            </a:r>
            <a:endParaRPr lang="en-US" sz="900" dirty="0"/>
          </a:p>
        </p:txBody>
      </p:sp>
      <p:sp>
        <p:nvSpPr>
          <p:cNvPr id="28" name="Text 26"/>
          <p:cNvSpPr/>
          <p:nvPr/>
        </p:nvSpPr>
        <p:spPr>
          <a:xfrm>
            <a:off x="6537960" y="4059936"/>
            <a:ext cx="3200400" cy="841248"/>
          </a:xfrm>
          <a:prstGeom prst="rect">
            <a:avLst/>
          </a:prstGeom>
          <a:noFill/>
          <a:ln/>
        </p:spPr>
        <p:txBody>
          <a:bodyPr wrap="square" lIns="0" tIns="0" rIns="0" bIns="0" rtlCol="0" anchor="ctr"/>
          <a:lstStyle/>
          <a:p>
            <a:pPr indent="0" marL="0">
              <a:buNone/>
            </a:pPr>
            <a:r>
              <a:rPr lang="en-US" sz="1700" b="1" dirty="0">
                <a:solidFill>
                  <a:srgbClr val="16233D"/>
                </a:solidFill>
                <a:latin typeface="Arial" pitchFamily="34" charset="0"/>
                <a:ea typeface="Arial" pitchFamily="34" charset="-122"/>
                <a:cs typeface="Arial" pitchFamily="34" charset="-120"/>
              </a:rPr>
              <a:t>Bình </a:t>
            </a:r>
            <a:pPr indent="0" marL="0">
              <a:buNone/>
            </a:pPr>
            <a:r>
              <a:rPr lang="en-US" sz="1700" dirty="0">
                <a:solidFill>
                  <a:srgbClr val="4B5568"/>
                </a:solidFill>
                <a:latin typeface="Arial" pitchFamily="34" charset="0"/>
                <a:ea typeface="Arial" pitchFamily="34" charset="-122"/>
                <a:cs typeface="Arial" pitchFamily="34" charset="-120"/>
              </a:rPr>
              <a:t>không cần chuyển</a:t>
            </a:r>
            <a:endParaRPr lang="en-US" sz="1700" dirty="0"/>
          </a:p>
        </p:txBody>
      </p:sp>
      <p:sp>
        <p:nvSpPr>
          <p:cNvPr id="29" name="Text 27"/>
          <p:cNvSpPr/>
          <p:nvPr/>
        </p:nvSpPr>
        <p:spPr>
          <a:xfrm>
            <a:off x="9509760" y="4059936"/>
            <a:ext cx="1828800" cy="841248"/>
          </a:xfrm>
          <a:prstGeom prst="rect">
            <a:avLst/>
          </a:prstGeom>
          <a:noFill/>
          <a:ln/>
        </p:spPr>
        <p:txBody>
          <a:bodyPr wrap="square" lIns="0" tIns="0" rIns="0" bIns="0" rtlCol="0" anchor="ctr"/>
          <a:lstStyle/>
          <a:p>
            <a:pPr algn="r" indent="0" marL="0">
              <a:buNone/>
            </a:pPr>
            <a:r>
              <a:rPr lang="en-US" sz="2000" b="1" dirty="0">
                <a:solidFill>
                  <a:srgbClr val="0E8B6C"/>
                </a:solidFill>
                <a:latin typeface="Arial" pitchFamily="34" charset="0"/>
                <a:ea typeface="Arial" pitchFamily="34" charset="-122"/>
                <a:cs typeface="Arial" pitchFamily="34" charset="-120"/>
              </a:rPr>
              <a:t>0 ₫</a:t>
            </a:r>
            <a:endParaRPr lang="en-US" sz="2000" dirty="0"/>
          </a:p>
        </p:txBody>
      </p:sp>
      <p:sp>
        <p:nvSpPr>
          <p:cNvPr id="30" name="Text 28"/>
          <p:cNvSpPr/>
          <p:nvPr/>
        </p:nvSpPr>
        <p:spPr>
          <a:xfrm>
            <a:off x="5669280" y="5166360"/>
            <a:ext cx="5879592" cy="822960"/>
          </a:xfrm>
          <a:prstGeom prst="rect">
            <a:avLst/>
          </a:prstGeom>
          <a:noFill/>
          <a:ln/>
        </p:spPr>
        <p:txBody>
          <a:bodyPr wrap="square" lIns="0" tIns="0" rIns="0" bIns="0" rtlCol="0" anchor="t"/>
          <a:lstStyle/>
          <a:p>
            <a:pPr indent="0" marL="0">
              <a:buNone/>
            </a:pPr>
            <a:r>
              <a:rPr lang="en-US" sz="1350" dirty="0">
                <a:solidFill>
                  <a:srgbClr val="4B5568"/>
                </a:solidFill>
                <a:latin typeface="Arial" pitchFamily="34" charset="0"/>
                <a:ea typeface="Arial" pitchFamily="34" charset="-122"/>
                <a:cs typeface="Arial" pitchFamily="34" charset="-120"/>
              </a:rPr>
              <a:t>Thay vì 6 khoản nợ chằng chịt giữa từng cặp, mọi khoản gom qua trưởng nhóm An. Nhóm đông bao nhiêu, mỗi người cũng chỉ chuyển tối đa một lần.</a:t>
            </a:r>
            <a:endParaRPr lang="en-US" sz="1350" dirty="0"/>
          </a:p>
        </p:txBody>
      </p:sp>
      <p:sp>
        <p:nvSpPr>
          <p:cNvPr id="31" name="Text 29"/>
          <p:cNvSpPr/>
          <p:nvPr/>
        </p:nvSpPr>
        <p:spPr>
          <a:xfrm>
            <a:off x="640080" y="6355080"/>
            <a:ext cx="2743200" cy="274320"/>
          </a:xfrm>
          <a:prstGeom prst="rect">
            <a:avLst/>
          </a:prstGeom>
          <a:noFill/>
          <a:ln/>
        </p:spPr>
        <p:txBody>
          <a:bodyPr wrap="square" lIns="0" tIns="0" rIns="0" bIns="0" rtlCol="0" anchor="ctr"/>
          <a:lstStyle/>
          <a:p>
            <a:pPr indent="0" marL="0">
              <a:buNone/>
            </a:pPr>
            <a:r>
              <a:rPr lang="en-US" sz="1100" b="1" dirty="0">
                <a:solidFill>
                  <a:srgbClr val="16233D"/>
                </a:solidFill>
                <a:latin typeface="Arial" pitchFamily="34" charset="0"/>
                <a:ea typeface="Arial" pitchFamily="34" charset="-122"/>
                <a:cs typeface="Arial" pitchFamily="34" charset="-120"/>
              </a:rPr>
              <a:t>Group</a:t>
            </a:r>
            <a:pPr indent="0" marL="0">
              <a:buNone/>
            </a:pPr>
            <a:r>
              <a:rPr lang="en-US" sz="1100" b="1" dirty="0">
                <a:solidFill>
                  <a:srgbClr val="2F7BF5"/>
                </a:solidFill>
                <a:latin typeface="Arial" pitchFamily="34" charset="0"/>
                <a:ea typeface="Arial" pitchFamily="34" charset="-122"/>
                <a:cs typeface="Arial" pitchFamily="34" charset="-120"/>
              </a:rPr>
              <a:t>Split</a:t>
            </a:r>
            <a:endParaRPr lang="en-US" sz="1100" dirty="0"/>
          </a:p>
        </p:txBody>
      </p:sp>
      <p:sp>
        <p:nvSpPr>
          <p:cNvPr id="32" name="Text 30"/>
          <p:cNvSpPr/>
          <p:nvPr/>
        </p:nvSpPr>
        <p:spPr>
          <a:xfrm>
            <a:off x="10637215" y="6355080"/>
            <a:ext cx="914400" cy="274320"/>
          </a:xfrm>
          <a:prstGeom prst="rect">
            <a:avLst/>
          </a:prstGeom>
          <a:noFill/>
          <a:ln/>
        </p:spPr>
        <p:txBody>
          <a:bodyPr wrap="square" lIns="0" tIns="0" rIns="0" bIns="0" rtlCol="0" anchor="ctr"/>
          <a:lstStyle/>
          <a:p>
            <a:pPr algn="r" indent="0" marL="0">
              <a:buNone/>
            </a:pPr>
            <a:r>
              <a:rPr lang="en-US" sz="1000" dirty="0">
                <a:solidFill>
                  <a:srgbClr val="6B7385"/>
                </a:solidFill>
                <a:latin typeface="Arial" pitchFamily="34" charset="0"/>
                <a:ea typeface="Arial" pitchFamily="34" charset="-122"/>
                <a:cs typeface="Arial"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097280"/>
            <a:ext cx="4572000" cy="4572000"/>
          </a:xfrm>
          <a:prstGeom prst="pie">
            <a:avLst>
              <a:gd name="adj1" fmla="val 5400000"/>
              <a:gd name="adj2" fmla="val 16200000"/>
            </a:avLst>
          </a:prstGeom>
          <a:solidFill>
            <a:srgbClr val="CFEFE3"/>
          </a:solidFill>
          <a:ln w="12700">
            <a:solidFill>
              <a:srgbClr val="CFEFE3"/>
            </a:solidFill>
            <a:prstDash val="solid"/>
          </a:ln>
        </p:spPr>
      </p:sp>
      <p:sp>
        <p:nvSpPr>
          <p:cNvPr id="3" name="Shape 1"/>
          <p:cNvSpPr/>
          <p:nvPr/>
        </p:nvSpPr>
        <p:spPr>
          <a:xfrm>
            <a:off x="457200" y="1097280"/>
            <a:ext cx="4572000" cy="4572000"/>
          </a:xfrm>
          <a:prstGeom prst="pie">
            <a:avLst>
              <a:gd name="adj1" fmla="val 16200000"/>
              <a:gd name="adj2" fmla="val 5400000"/>
            </a:avLst>
          </a:prstGeom>
          <a:solidFill>
            <a:srgbClr val="D6E6FD"/>
          </a:solidFill>
          <a:ln w="12700">
            <a:solidFill>
              <a:srgbClr val="D6E6FD"/>
            </a:solidFill>
            <a:prstDash val="solid"/>
          </a:ln>
        </p:spPr>
      </p:sp>
      <p:sp>
        <p:nvSpPr>
          <p:cNvPr id="4" name="Shape 2"/>
          <p:cNvSpPr/>
          <p:nvPr/>
        </p:nvSpPr>
        <p:spPr>
          <a:xfrm>
            <a:off x="1463040" y="822960"/>
            <a:ext cx="2606040" cy="5257800"/>
          </a:xfrm>
          <a:prstGeom prst="roundRect">
            <a:avLst>
              <a:gd name="adj" fmla="val 13333"/>
            </a:avLst>
          </a:prstGeom>
          <a:solidFill>
            <a:srgbClr val="16233D"/>
          </a:solidFill>
          <a:ln w="12700">
            <a:solidFill>
              <a:srgbClr val="16233D"/>
            </a:solidFill>
            <a:prstDash val="solid"/>
          </a:ln>
        </p:spPr>
      </p:sp>
      <p:sp>
        <p:nvSpPr>
          <p:cNvPr id="5" name="Shape 3"/>
          <p:cNvSpPr/>
          <p:nvPr/>
        </p:nvSpPr>
        <p:spPr>
          <a:xfrm>
            <a:off x="1572768" y="932688"/>
            <a:ext cx="2386584" cy="5038344"/>
          </a:xfrm>
          <a:prstGeom prst="roundRect">
            <a:avLst>
              <a:gd name="adj" fmla="val 11494"/>
            </a:avLst>
          </a:prstGeom>
          <a:solidFill>
            <a:srgbClr val="FFFFFF"/>
          </a:solidFill>
          <a:ln w="12700">
            <a:solidFill>
              <a:srgbClr val="FFFFFF"/>
            </a:solidFill>
            <a:prstDash val="solid"/>
          </a:ln>
        </p:spPr>
      </p:sp>
      <p:sp>
        <p:nvSpPr>
          <p:cNvPr id="6" name="Shape 4"/>
          <p:cNvSpPr/>
          <p:nvPr/>
        </p:nvSpPr>
        <p:spPr>
          <a:xfrm>
            <a:off x="2354580" y="1005840"/>
            <a:ext cx="822960" cy="146304"/>
          </a:xfrm>
          <a:prstGeom prst="roundRect">
            <a:avLst>
              <a:gd name="adj" fmla="val 50000"/>
            </a:avLst>
          </a:prstGeom>
          <a:solidFill>
            <a:srgbClr val="16233D"/>
          </a:solidFill>
          <a:ln w="12700">
            <a:solidFill>
              <a:srgbClr val="16233D"/>
            </a:solidFill>
            <a:prstDash val="solid"/>
          </a:ln>
        </p:spPr>
      </p:sp>
      <p:sp>
        <p:nvSpPr>
          <p:cNvPr id="7" name="Text 5"/>
          <p:cNvSpPr/>
          <p:nvPr/>
        </p:nvSpPr>
        <p:spPr>
          <a:xfrm>
            <a:off x="1737360" y="1298448"/>
            <a:ext cx="2057400" cy="457200"/>
          </a:xfrm>
          <a:prstGeom prst="rect">
            <a:avLst/>
          </a:prstGeom>
          <a:noFill/>
          <a:ln/>
        </p:spPr>
        <p:txBody>
          <a:bodyPr wrap="square" lIns="0" tIns="0" rIns="0" bIns="0" rtlCol="0" anchor="t"/>
          <a:lstStyle/>
          <a:p>
            <a:pPr algn="ctr" indent="0" marL="0">
              <a:buNone/>
            </a:pPr>
            <a:r>
              <a:rPr lang="en-US" sz="1100" b="1" dirty="0">
                <a:solidFill>
                  <a:srgbClr val="16233D"/>
                </a:solidFill>
                <a:latin typeface="Arial" pitchFamily="34" charset="0"/>
                <a:ea typeface="Arial" pitchFamily="34" charset="-122"/>
                <a:cs typeface="Arial" pitchFamily="34" charset="-120"/>
              </a:rPr>
              <a:t>Chuyển khoản cho An</a:t>
            </a:r>
            <a:endParaRPr lang="en-US" sz="1100" dirty="0"/>
          </a:p>
          <a:p>
            <a:pPr algn="ctr" indent="0" marL="0">
              <a:buNone/>
            </a:pPr>
            <a:r>
              <a:rPr lang="en-US" sz="750" dirty="0">
                <a:solidFill>
                  <a:srgbClr val="6B7385"/>
                </a:solidFill>
                <a:latin typeface="Arial" pitchFamily="34" charset="0"/>
                <a:ea typeface="Arial" pitchFamily="34" charset="-122"/>
                <a:cs typeface="Arial" pitchFamily="34" charset="-120"/>
              </a:rPr>
              <a:t>Ngân hàng và số tài khoản đã điền sẵn</a:t>
            </a:r>
            <a:endParaRPr lang="en-US" sz="1100" dirty="0"/>
          </a:p>
        </p:txBody>
      </p:sp>
      <p:sp>
        <p:nvSpPr>
          <p:cNvPr id="8" name="Text 6"/>
          <p:cNvSpPr/>
          <p:nvPr/>
        </p:nvSpPr>
        <p:spPr>
          <a:xfrm>
            <a:off x="1737360" y="1801368"/>
            <a:ext cx="2057400" cy="411480"/>
          </a:xfrm>
          <a:prstGeom prst="rect">
            <a:avLst/>
          </a:prstGeom>
          <a:noFill/>
          <a:ln/>
        </p:spPr>
        <p:txBody>
          <a:bodyPr wrap="square" lIns="0" tIns="0" rIns="0" bIns="0" rtlCol="0" anchor="t"/>
          <a:lstStyle/>
          <a:p>
            <a:pPr algn="ctr" indent="0" marL="0">
              <a:buNone/>
            </a:pPr>
            <a:r>
              <a:rPr lang="en-US" sz="2200" b="1" dirty="0">
                <a:solidFill>
                  <a:srgbClr val="16233D"/>
                </a:solidFill>
                <a:latin typeface="Arial" pitchFamily="34" charset="0"/>
                <a:ea typeface="Arial" pitchFamily="34" charset="-122"/>
                <a:cs typeface="Arial" pitchFamily="34" charset="-120"/>
              </a:rPr>
              <a:t>400.000 ₫</a:t>
            </a:r>
            <a:endParaRPr lang="en-US" sz="2200" dirty="0"/>
          </a:p>
        </p:txBody>
      </p:sp>
      <p:sp>
        <p:nvSpPr>
          <p:cNvPr id="9" name="Shape 7"/>
          <p:cNvSpPr/>
          <p:nvPr/>
        </p:nvSpPr>
        <p:spPr>
          <a:xfrm>
            <a:off x="1828800" y="2322576"/>
            <a:ext cx="1874520" cy="1874520"/>
          </a:xfrm>
          <a:prstGeom prst="roundRect">
            <a:avLst>
              <a:gd name="adj" fmla="val 3902"/>
            </a:avLst>
          </a:prstGeom>
          <a:solidFill>
            <a:srgbClr val="FFFFFF"/>
          </a:solidFill>
          <a:ln w="12700">
            <a:solidFill>
              <a:srgbClr val="E3E8EF"/>
            </a:solidFill>
            <a:prstDash val="solid"/>
          </a:ln>
        </p:spPr>
      </p:sp>
      <p:sp>
        <p:nvSpPr>
          <p:cNvPr id="10" name="Shape 8"/>
          <p:cNvSpPr/>
          <p:nvPr/>
        </p:nvSpPr>
        <p:spPr>
          <a:xfrm>
            <a:off x="1920240" y="2414016"/>
            <a:ext cx="1691640" cy="1691640"/>
          </a:xfrm>
          <a:prstGeom prst="rect">
            <a:avLst/>
          </a:prstGeom>
          <a:solidFill>
            <a:srgbClr val="FFFFFF"/>
          </a:solidFill>
          <a:ln w="12700">
            <a:solidFill>
              <a:srgbClr val="FFFFFF"/>
            </a:solidFill>
            <a:prstDash val="solid"/>
          </a:ln>
        </p:spPr>
      </p:sp>
      <p:sp>
        <p:nvSpPr>
          <p:cNvPr id="11" name="Shape 9"/>
          <p:cNvSpPr/>
          <p:nvPr/>
        </p:nvSpPr>
        <p:spPr>
          <a:xfrm>
            <a:off x="2645229" y="2414016"/>
            <a:ext cx="80554" cy="80554"/>
          </a:xfrm>
          <a:prstGeom prst="rect">
            <a:avLst/>
          </a:prstGeom>
          <a:solidFill>
            <a:srgbClr val="16233D"/>
          </a:solidFill>
          <a:ln w="12700">
            <a:solidFill>
              <a:srgbClr val="16233D"/>
            </a:solidFill>
            <a:prstDash val="solid"/>
          </a:ln>
        </p:spPr>
      </p:sp>
      <p:sp>
        <p:nvSpPr>
          <p:cNvPr id="12" name="Shape 10"/>
          <p:cNvSpPr/>
          <p:nvPr/>
        </p:nvSpPr>
        <p:spPr>
          <a:xfrm>
            <a:off x="2725783" y="2494570"/>
            <a:ext cx="80554" cy="80554"/>
          </a:xfrm>
          <a:prstGeom prst="rect">
            <a:avLst/>
          </a:prstGeom>
          <a:solidFill>
            <a:srgbClr val="16233D"/>
          </a:solidFill>
          <a:ln w="12700">
            <a:solidFill>
              <a:srgbClr val="16233D"/>
            </a:solidFill>
            <a:prstDash val="solid"/>
          </a:ln>
        </p:spPr>
      </p:sp>
      <p:sp>
        <p:nvSpPr>
          <p:cNvPr id="13" name="Shape 11"/>
          <p:cNvSpPr/>
          <p:nvPr/>
        </p:nvSpPr>
        <p:spPr>
          <a:xfrm>
            <a:off x="2806337" y="2494570"/>
            <a:ext cx="80554" cy="80554"/>
          </a:xfrm>
          <a:prstGeom prst="rect">
            <a:avLst/>
          </a:prstGeom>
          <a:solidFill>
            <a:srgbClr val="16233D"/>
          </a:solidFill>
          <a:ln w="12700">
            <a:solidFill>
              <a:srgbClr val="16233D"/>
            </a:solidFill>
            <a:prstDash val="solid"/>
          </a:ln>
        </p:spPr>
      </p:sp>
      <p:sp>
        <p:nvSpPr>
          <p:cNvPr id="14" name="Shape 12"/>
          <p:cNvSpPr/>
          <p:nvPr/>
        </p:nvSpPr>
        <p:spPr>
          <a:xfrm>
            <a:off x="2645229" y="2575125"/>
            <a:ext cx="80554" cy="80554"/>
          </a:xfrm>
          <a:prstGeom prst="rect">
            <a:avLst/>
          </a:prstGeom>
          <a:solidFill>
            <a:srgbClr val="16233D"/>
          </a:solidFill>
          <a:ln w="12700">
            <a:solidFill>
              <a:srgbClr val="16233D"/>
            </a:solidFill>
            <a:prstDash val="solid"/>
          </a:ln>
        </p:spPr>
      </p:sp>
      <p:sp>
        <p:nvSpPr>
          <p:cNvPr id="15" name="Shape 13"/>
          <p:cNvSpPr/>
          <p:nvPr/>
        </p:nvSpPr>
        <p:spPr>
          <a:xfrm>
            <a:off x="2725783" y="2575125"/>
            <a:ext cx="80554" cy="80554"/>
          </a:xfrm>
          <a:prstGeom prst="rect">
            <a:avLst/>
          </a:prstGeom>
          <a:solidFill>
            <a:srgbClr val="16233D"/>
          </a:solidFill>
          <a:ln w="12700">
            <a:solidFill>
              <a:srgbClr val="16233D"/>
            </a:solidFill>
            <a:prstDash val="solid"/>
          </a:ln>
        </p:spPr>
      </p:sp>
      <p:sp>
        <p:nvSpPr>
          <p:cNvPr id="16" name="Shape 14"/>
          <p:cNvSpPr/>
          <p:nvPr/>
        </p:nvSpPr>
        <p:spPr>
          <a:xfrm>
            <a:off x="2645229" y="2655679"/>
            <a:ext cx="80554" cy="80554"/>
          </a:xfrm>
          <a:prstGeom prst="rect">
            <a:avLst/>
          </a:prstGeom>
          <a:solidFill>
            <a:srgbClr val="16233D"/>
          </a:solidFill>
          <a:ln w="12700">
            <a:solidFill>
              <a:srgbClr val="16233D"/>
            </a:solidFill>
            <a:prstDash val="solid"/>
          </a:ln>
        </p:spPr>
      </p:sp>
      <p:sp>
        <p:nvSpPr>
          <p:cNvPr id="17" name="Shape 15"/>
          <p:cNvSpPr/>
          <p:nvPr/>
        </p:nvSpPr>
        <p:spPr>
          <a:xfrm>
            <a:off x="2806337" y="2655679"/>
            <a:ext cx="80554" cy="80554"/>
          </a:xfrm>
          <a:prstGeom prst="rect">
            <a:avLst/>
          </a:prstGeom>
          <a:solidFill>
            <a:srgbClr val="16233D"/>
          </a:solidFill>
          <a:ln w="12700">
            <a:solidFill>
              <a:srgbClr val="16233D"/>
            </a:solidFill>
            <a:prstDash val="solid"/>
          </a:ln>
        </p:spPr>
      </p:sp>
      <p:sp>
        <p:nvSpPr>
          <p:cNvPr id="18" name="Shape 16"/>
          <p:cNvSpPr/>
          <p:nvPr/>
        </p:nvSpPr>
        <p:spPr>
          <a:xfrm>
            <a:off x="2725783" y="2736233"/>
            <a:ext cx="80554" cy="80554"/>
          </a:xfrm>
          <a:prstGeom prst="rect">
            <a:avLst/>
          </a:prstGeom>
          <a:solidFill>
            <a:srgbClr val="16233D"/>
          </a:solidFill>
          <a:ln w="12700">
            <a:solidFill>
              <a:srgbClr val="16233D"/>
            </a:solidFill>
            <a:prstDash val="solid"/>
          </a:ln>
        </p:spPr>
      </p:sp>
      <p:sp>
        <p:nvSpPr>
          <p:cNvPr id="19" name="Shape 17"/>
          <p:cNvSpPr/>
          <p:nvPr/>
        </p:nvSpPr>
        <p:spPr>
          <a:xfrm>
            <a:off x="2806337" y="2736233"/>
            <a:ext cx="80554" cy="80554"/>
          </a:xfrm>
          <a:prstGeom prst="rect">
            <a:avLst/>
          </a:prstGeom>
          <a:solidFill>
            <a:srgbClr val="16233D"/>
          </a:solidFill>
          <a:ln w="12700">
            <a:solidFill>
              <a:srgbClr val="16233D"/>
            </a:solidFill>
            <a:prstDash val="solid"/>
          </a:ln>
        </p:spPr>
      </p:sp>
      <p:sp>
        <p:nvSpPr>
          <p:cNvPr id="20" name="Shape 18"/>
          <p:cNvSpPr/>
          <p:nvPr/>
        </p:nvSpPr>
        <p:spPr>
          <a:xfrm>
            <a:off x="2645229" y="2816787"/>
            <a:ext cx="80554" cy="80554"/>
          </a:xfrm>
          <a:prstGeom prst="rect">
            <a:avLst/>
          </a:prstGeom>
          <a:solidFill>
            <a:srgbClr val="16233D"/>
          </a:solidFill>
          <a:ln w="12700">
            <a:solidFill>
              <a:srgbClr val="16233D"/>
            </a:solidFill>
            <a:prstDash val="solid"/>
          </a:ln>
        </p:spPr>
      </p:sp>
      <p:sp>
        <p:nvSpPr>
          <p:cNvPr id="21" name="Shape 19"/>
          <p:cNvSpPr/>
          <p:nvPr/>
        </p:nvSpPr>
        <p:spPr>
          <a:xfrm>
            <a:off x="2886891" y="2816787"/>
            <a:ext cx="80554" cy="80554"/>
          </a:xfrm>
          <a:prstGeom prst="rect">
            <a:avLst/>
          </a:prstGeom>
          <a:solidFill>
            <a:srgbClr val="16233D"/>
          </a:solidFill>
          <a:ln w="12700">
            <a:solidFill>
              <a:srgbClr val="16233D"/>
            </a:solidFill>
            <a:prstDash val="solid"/>
          </a:ln>
        </p:spPr>
      </p:sp>
      <p:sp>
        <p:nvSpPr>
          <p:cNvPr id="22" name="Shape 20"/>
          <p:cNvSpPr/>
          <p:nvPr/>
        </p:nvSpPr>
        <p:spPr>
          <a:xfrm>
            <a:off x="2564674" y="2897342"/>
            <a:ext cx="80554" cy="80554"/>
          </a:xfrm>
          <a:prstGeom prst="rect">
            <a:avLst/>
          </a:prstGeom>
          <a:solidFill>
            <a:srgbClr val="16233D"/>
          </a:solidFill>
          <a:ln w="12700">
            <a:solidFill>
              <a:srgbClr val="16233D"/>
            </a:solidFill>
            <a:prstDash val="solid"/>
          </a:ln>
        </p:spPr>
      </p:sp>
      <p:sp>
        <p:nvSpPr>
          <p:cNvPr id="23" name="Shape 21"/>
          <p:cNvSpPr/>
          <p:nvPr/>
        </p:nvSpPr>
        <p:spPr>
          <a:xfrm>
            <a:off x="2806337" y="2897342"/>
            <a:ext cx="80554" cy="80554"/>
          </a:xfrm>
          <a:prstGeom prst="rect">
            <a:avLst/>
          </a:prstGeom>
          <a:solidFill>
            <a:srgbClr val="16233D"/>
          </a:solidFill>
          <a:ln w="12700">
            <a:solidFill>
              <a:srgbClr val="16233D"/>
            </a:solidFill>
            <a:prstDash val="solid"/>
          </a:ln>
        </p:spPr>
      </p:sp>
      <p:sp>
        <p:nvSpPr>
          <p:cNvPr id="24" name="Shape 22"/>
          <p:cNvSpPr/>
          <p:nvPr/>
        </p:nvSpPr>
        <p:spPr>
          <a:xfrm>
            <a:off x="2645229" y="2977896"/>
            <a:ext cx="80554" cy="80554"/>
          </a:xfrm>
          <a:prstGeom prst="rect">
            <a:avLst/>
          </a:prstGeom>
          <a:solidFill>
            <a:srgbClr val="16233D"/>
          </a:solidFill>
          <a:ln w="12700">
            <a:solidFill>
              <a:srgbClr val="16233D"/>
            </a:solidFill>
            <a:prstDash val="solid"/>
          </a:ln>
        </p:spPr>
      </p:sp>
      <p:sp>
        <p:nvSpPr>
          <p:cNvPr id="25" name="Shape 23"/>
          <p:cNvSpPr/>
          <p:nvPr/>
        </p:nvSpPr>
        <p:spPr>
          <a:xfrm>
            <a:off x="2886891" y="2977896"/>
            <a:ext cx="80554" cy="80554"/>
          </a:xfrm>
          <a:prstGeom prst="rect">
            <a:avLst/>
          </a:prstGeom>
          <a:solidFill>
            <a:srgbClr val="16233D"/>
          </a:solidFill>
          <a:ln w="12700">
            <a:solidFill>
              <a:srgbClr val="16233D"/>
            </a:solidFill>
            <a:prstDash val="solid"/>
          </a:ln>
        </p:spPr>
      </p:sp>
      <p:sp>
        <p:nvSpPr>
          <p:cNvPr id="26" name="Shape 24"/>
          <p:cNvSpPr/>
          <p:nvPr/>
        </p:nvSpPr>
        <p:spPr>
          <a:xfrm>
            <a:off x="2161903" y="3058450"/>
            <a:ext cx="80554" cy="80554"/>
          </a:xfrm>
          <a:prstGeom prst="rect">
            <a:avLst/>
          </a:prstGeom>
          <a:solidFill>
            <a:srgbClr val="16233D"/>
          </a:solidFill>
          <a:ln w="12700">
            <a:solidFill>
              <a:srgbClr val="16233D"/>
            </a:solidFill>
            <a:prstDash val="solid"/>
          </a:ln>
        </p:spPr>
      </p:sp>
      <p:sp>
        <p:nvSpPr>
          <p:cNvPr id="27" name="Shape 25"/>
          <p:cNvSpPr/>
          <p:nvPr/>
        </p:nvSpPr>
        <p:spPr>
          <a:xfrm>
            <a:off x="2323011" y="3058450"/>
            <a:ext cx="80554" cy="80554"/>
          </a:xfrm>
          <a:prstGeom prst="rect">
            <a:avLst/>
          </a:prstGeom>
          <a:solidFill>
            <a:srgbClr val="16233D"/>
          </a:solidFill>
          <a:ln w="12700">
            <a:solidFill>
              <a:srgbClr val="16233D"/>
            </a:solidFill>
            <a:prstDash val="solid"/>
          </a:ln>
        </p:spPr>
      </p:sp>
      <p:sp>
        <p:nvSpPr>
          <p:cNvPr id="28" name="Shape 26"/>
          <p:cNvSpPr/>
          <p:nvPr/>
        </p:nvSpPr>
        <p:spPr>
          <a:xfrm>
            <a:off x="2564674" y="3058450"/>
            <a:ext cx="80554" cy="80554"/>
          </a:xfrm>
          <a:prstGeom prst="rect">
            <a:avLst/>
          </a:prstGeom>
          <a:solidFill>
            <a:srgbClr val="16233D"/>
          </a:solidFill>
          <a:ln w="12700">
            <a:solidFill>
              <a:srgbClr val="16233D"/>
            </a:solidFill>
            <a:prstDash val="solid"/>
          </a:ln>
        </p:spPr>
      </p:sp>
      <p:sp>
        <p:nvSpPr>
          <p:cNvPr id="29" name="Shape 27"/>
          <p:cNvSpPr/>
          <p:nvPr/>
        </p:nvSpPr>
        <p:spPr>
          <a:xfrm>
            <a:off x="2725783" y="3058450"/>
            <a:ext cx="80554" cy="80554"/>
          </a:xfrm>
          <a:prstGeom prst="rect">
            <a:avLst/>
          </a:prstGeom>
          <a:solidFill>
            <a:srgbClr val="16233D"/>
          </a:solidFill>
          <a:ln w="12700">
            <a:solidFill>
              <a:srgbClr val="16233D"/>
            </a:solidFill>
            <a:prstDash val="solid"/>
          </a:ln>
        </p:spPr>
      </p:sp>
      <p:sp>
        <p:nvSpPr>
          <p:cNvPr id="30" name="Shape 28"/>
          <p:cNvSpPr/>
          <p:nvPr/>
        </p:nvSpPr>
        <p:spPr>
          <a:xfrm>
            <a:off x="2806337" y="3058450"/>
            <a:ext cx="80554" cy="80554"/>
          </a:xfrm>
          <a:prstGeom prst="rect">
            <a:avLst/>
          </a:prstGeom>
          <a:solidFill>
            <a:srgbClr val="16233D"/>
          </a:solidFill>
          <a:ln w="12700">
            <a:solidFill>
              <a:srgbClr val="16233D"/>
            </a:solidFill>
            <a:prstDash val="solid"/>
          </a:ln>
        </p:spPr>
      </p:sp>
      <p:sp>
        <p:nvSpPr>
          <p:cNvPr id="31" name="Shape 29"/>
          <p:cNvSpPr/>
          <p:nvPr/>
        </p:nvSpPr>
        <p:spPr>
          <a:xfrm>
            <a:off x="3370217" y="3058450"/>
            <a:ext cx="80554" cy="80554"/>
          </a:xfrm>
          <a:prstGeom prst="rect">
            <a:avLst/>
          </a:prstGeom>
          <a:solidFill>
            <a:srgbClr val="16233D"/>
          </a:solidFill>
          <a:ln w="12700">
            <a:solidFill>
              <a:srgbClr val="16233D"/>
            </a:solidFill>
            <a:prstDash val="solid"/>
          </a:ln>
        </p:spPr>
      </p:sp>
      <p:sp>
        <p:nvSpPr>
          <p:cNvPr id="32" name="Shape 30"/>
          <p:cNvSpPr/>
          <p:nvPr/>
        </p:nvSpPr>
        <p:spPr>
          <a:xfrm>
            <a:off x="3450771" y="3058450"/>
            <a:ext cx="80554" cy="80554"/>
          </a:xfrm>
          <a:prstGeom prst="rect">
            <a:avLst/>
          </a:prstGeom>
          <a:solidFill>
            <a:srgbClr val="16233D"/>
          </a:solidFill>
          <a:ln w="12700">
            <a:solidFill>
              <a:srgbClr val="16233D"/>
            </a:solidFill>
            <a:prstDash val="solid"/>
          </a:ln>
        </p:spPr>
      </p:sp>
      <p:sp>
        <p:nvSpPr>
          <p:cNvPr id="33" name="Shape 31"/>
          <p:cNvSpPr/>
          <p:nvPr/>
        </p:nvSpPr>
        <p:spPr>
          <a:xfrm>
            <a:off x="3531326" y="3058450"/>
            <a:ext cx="80554" cy="80554"/>
          </a:xfrm>
          <a:prstGeom prst="rect">
            <a:avLst/>
          </a:prstGeom>
          <a:solidFill>
            <a:srgbClr val="16233D"/>
          </a:solidFill>
          <a:ln w="12700">
            <a:solidFill>
              <a:srgbClr val="16233D"/>
            </a:solidFill>
            <a:prstDash val="solid"/>
          </a:ln>
        </p:spPr>
      </p:sp>
      <p:sp>
        <p:nvSpPr>
          <p:cNvPr id="34" name="Shape 32"/>
          <p:cNvSpPr/>
          <p:nvPr/>
        </p:nvSpPr>
        <p:spPr>
          <a:xfrm>
            <a:off x="2242457" y="3139005"/>
            <a:ext cx="80554" cy="80554"/>
          </a:xfrm>
          <a:prstGeom prst="rect">
            <a:avLst/>
          </a:prstGeom>
          <a:solidFill>
            <a:srgbClr val="16233D"/>
          </a:solidFill>
          <a:ln w="12700">
            <a:solidFill>
              <a:srgbClr val="16233D"/>
            </a:solidFill>
            <a:prstDash val="solid"/>
          </a:ln>
        </p:spPr>
      </p:sp>
      <p:sp>
        <p:nvSpPr>
          <p:cNvPr id="35" name="Shape 33"/>
          <p:cNvSpPr/>
          <p:nvPr/>
        </p:nvSpPr>
        <p:spPr>
          <a:xfrm>
            <a:off x="2645229" y="3139005"/>
            <a:ext cx="80554" cy="80554"/>
          </a:xfrm>
          <a:prstGeom prst="rect">
            <a:avLst/>
          </a:prstGeom>
          <a:solidFill>
            <a:srgbClr val="16233D"/>
          </a:solidFill>
          <a:ln w="12700">
            <a:solidFill>
              <a:srgbClr val="16233D"/>
            </a:solidFill>
            <a:prstDash val="solid"/>
          </a:ln>
        </p:spPr>
      </p:sp>
      <p:sp>
        <p:nvSpPr>
          <p:cNvPr id="36" name="Shape 34"/>
          <p:cNvSpPr/>
          <p:nvPr/>
        </p:nvSpPr>
        <p:spPr>
          <a:xfrm>
            <a:off x="2886891" y="3139005"/>
            <a:ext cx="80554" cy="80554"/>
          </a:xfrm>
          <a:prstGeom prst="rect">
            <a:avLst/>
          </a:prstGeom>
          <a:solidFill>
            <a:srgbClr val="16233D"/>
          </a:solidFill>
          <a:ln w="12700">
            <a:solidFill>
              <a:srgbClr val="16233D"/>
            </a:solidFill>
            <a:prstDash val="solid"/>
          </a:ln>
        </p:spPr>
      </p:sp>
      <p:sp>
        <p:nvSpPr>
          <p:cNvPr id="37" name="Shape 35"/>
          <p:cNvSpPr/>
          <p:nvPr/>
        </p:nvSpPr>
        <p:spPr>
          <a:xfrm>
            <a:off x="2967446" y="3139005"/>
            <a:ext cx="80554" cy="80554"/>
          </a:xfrm>
          <a:prstGeom prst="rect">
            <a:avLst/>
          </a:prstGeom>
          <a:solidFill>
            <a:srgbClr val="16233D"/>
          </a:solidFill>
          <a:ln w="12700">
            <a:solidFill>
              <a:srgbClr val="16233D"/>
            </a:solidFill>
            <a:prstDash val="solid"/>
          </a:ln>
        </p:spPr>
      </p:sp>
      <p:sp>
        <p:nvSpPr>
          <p:cNvPr id="38" name="Shape 36"/>
          <p:cNvSpPr/>
          <p:nvPr/>
        </p:nvSpPr>
        <p:spPr>
          <a:xfrm>
            <a:off x="3048000" y="3139005"/>
            <a:ext cx="80554" cy="80554"/>
          </a:xfrm>
          <a:prstGeom prst="rect">
            <a:avLst/>
          </a:prstGeom>
          <a:solidFill>
            <a:srgbClr val="16233D"/>
          </a:solidFill>
          <a:ln w="12700">
            <a:solidFill>
              <a:srgbClr val="16233D"/>
            </a:solidFill>
            <a:prstDash val="solid"/>
          </a:ln>
        </p:spPr>
      </p:sp>
      <p:sp>
        <p:nvSpPr>
          <p:cNvPr id="39" name="Shape 37"/>
          <p:cNvSpPr/>
          <p:nvPr/>
        </p:nvSpPr>
        <p:spPr>
          <a:xfrm>
            <a:off x="3128554" y="3139005"/>
            <a:ext cx="80554" cy="80554"/>
          </a:xfrm>
          <a:prstGeom prst="rect">
            <a:avLst/>
          </a:prstGeom>
          <a:solidFill>
            <a:srgbClr val="16233D"/>
          </a:solidFill>
          <a:ln w="12700">
            <a:solidFill>
              <a:srgbClr val="16233D"/>
            </a:solidFill>
            <a:prstDash val="solid"/>
          </a:ln>
        </p:spPr>
      </p:sp>
      <p:sp>
        <p:nvSpPr>
          <p:cNvPr id="40" name="Shape 38"/>
          <p:cNvSpPr/>
          <p:nvPr/>
        </p:nvSpPr>
        <p:spPr>
          <a:xfrm>
            <a:off x="3209109" y="3139005"/>
            <a:ext cx="80554" cy="80554"/>
          </a:xfrm>
          <a:prstGeom prst="rect">
            <a:avLst/>
          </a:prstGeom>
          <a:solidFill>
            <a:srgbClr val="16233D"/>
          </a:solidFill>
          <a:ln w="12700">
            <a:solidFill>
              <a:srgbClr val="16233D"/>
            </a:solidFill>
            <a:prstDash val="solid"/>
          </a:ln>
        </p:spPr>
      </p:sp>
      <p:sp>
        <p:nvSpPr>
          <p:cNvPr id="41" name="Shape 39"/>
          <p:cNvSpPr/>
          <p:nvPr/>
        </p:nvSpPr>
        <p:spPr>
          <a:xfrm>
            <a:off x="3289663" y="3139005"/>
            <a:ext cx="80554" cy="80554"/>
          </a:xfrm>
          <a:prstGeom prst="rect">
            <a:avLst/>
          </a:prstGeom>
          <a:solidFill>
            <a:srgbClr val="16233D"/>
          </a:solidFill>
          <a:ln w="12700">
            <a:solidFill>
              <a:srgbClr val="16233D"/>
            </a:solidFill>
            <a:prstDash val="solid"/>
          </a:ln>
        </p:spPr>
      </p:sp>
      <p:sp>
        <p:nvSpPr>
          <p:cNvPr id="42" name="Shape 40"/>
          <p:cNvSpPr/>
          <p:nvPr/>
        </p:nvSpPr>
        <p:spPr>
          <a:xfrm>
            <a:off x="3370217" y="3139005"/>
            <a:ext cx="80554" cy="80554"/>
          </a:xfrm>
          <a:prstGeom prst="rect">
            <a:avLst/>
          </a:prstGeom>
          <a:solidFill>
            <a:srgbClr val="16233D"/>
          </a:solidFill>
          <a:ln w="12700">
            <a:solidFill>
              <a:srgbClr val="16233D"/>
            </a:solidFill>
            <a:prstDash val="solid"/>
          </a:ln>
        </p:spPr>
      </p:sp>
      <p:sp>
        <p:nvSpPr>
          <p:cNvPr id="43" name="Shape 41"/>
          <p:cNvSpPr/>
          <p:nvPr/>
        </p:nvSpPr>
        <p:spPr>
          <a:xfrm>
            <a:off x="3450771" y="3139005"/>
            <a:ext cx="80554" cy="80554"/>
          </a:xfrm>
          <a:prstGeom prst="rect">
            <a:avLst/>
          </a:prstGeom>
          <a:solidFill>
            <a:srgbClr val="16233D"/>
          </a:solidFill>
          <a:ln w="12700">
            <a:solidFill>
              <a:srgbClr val="16233D"/>
            </a:solidFill>
            <a:prstDash val="solid"/>
          </a:ln>
        </p:spPr>
      </p:sp>
      <p:sp>
        <p:nvSpPr>
          <p:cNvPr id="44" name="Shape 42"/>
          <p:cNvSpPr/>
          <p:nvPr/>
        </p:nvSpPr>
        <p:spPr>
          <a:xfrm>
            <a:off x="2242457" y="3219559"/>
            <a:ext cx="80554" cy="80554"/>
          </a:xfrm>
          <a:prstGeom prst="rect">
            <a:avLst/>
          </a:prstGeom>
          <a:solidFill>
            <a:srgbClr val="16233D"/>
          </a:solidFill>
          <a:ln w="12700">
            <a:solidFill>
              <a:srgbClr val="16233D"/>
            </a:solidFill>
            <a:prstDash val="solid"/>
          </a:ln>
        </p:spPr>
      </p:sp>
      <p:sp>
        <p:nvSpPr>
          <p:cNvPr id="45" name="Shape 43"/>
          <p:cNvSpPr/>
          <p:nvPr/>
        </p:nvSpPr>
        <p:spPr>
          <a:xfrm>
            <a:off x="2323011" y="3219559"/>
            <a:ext cx="80554" cy="80554"/>
          </a:xfrm>
          <a:prstGeom prst="rect">
            <a:avLst/>
          </a:prstGeom>
          <a:solidFill>
            <a:srgbClr val="16233D"/>
          </a:solidFill>
          <a:ln w="12700">
            <a:solidFill>
              <a:srgbClr val="16233D"/>
            </a:solidFill>
            <a:prstDash val="solid"/>
          </a:ln>
        </p:spPr>
      </p:sp>
      <p:sp>
        <p:nvSpPr>
          <p:cNvPr id="46" name="Shape 44"/>
          <p:cNvSpPr/>
          <p:nvPr/>
        </p:nvSpPr>
        <p:spPr>
          <a:xfrm>
            <a:off x="2484120" y="3219559"/>
            <a:ext cx="80554" cy="80554"/>
          </a:xfrm>
          <a:prstGeom prst="rect">
            <a:avLst/>
          </a:prstGeom>
          <a:solidFill>
            <a:srgbClr val="16233D"/>
          </a:solidFill>
          <a:ln w="12700">
            <a:solidFill>
              <a:srgbClr val="16233D"/>
            </a:solidFill>
            <a:prstDash val="solid"/>
          </a:ln>
        </p:spPr>
      </p:sp>
      <p:sp>
        <p:nvSpPr>
          <p:cNvPr id="47" name="Shape 45"/>
          <p:cNvSpPr/>
          <p:nvPr/>
        </p:nvSpPr>
        <p:spPr>
          <a:xfrm>
            <a:off x="2725783" y="3219559"/>
            <a:ext cx="80554" cy="80554"/>
          </a:xfrm>
          <a:prstGeom prst="rect">
            <a:avLst/>
          </a:prstGeom>
          <a:solidFill>
            <a:srgbClr val="16233D"/>
          </a:solidFill>
          <a:ln w="12700">
            <a:solidFill>
              <a:srgbClr val="16233D"/>
            </a:solidFill>
            <a:prstDash val="solid"/>
          </a:ln>
        </p:spPr>
      </p:sp>
      <p:sp>
        <p:nvSpPr>
          <p:cNvPr id="48" name="Shape 46"/>
          <p:cNvSpPr/>
          <p:nvPr/>
        </p:nvSpPr>
        <p:spPr>
          <a:xfrm>
            <a:off x="2967446" y="3219559"/>
            <a:ext cx="80554" cy="80554"/>
          </a:xfrm>
          <a:prstGeom prst="rect">
            <a:avLst/>
          </a:prstGeom>
          <a:solidFill>
            <a:srgbClr val="16233D"/>
          </a:solidFill>
          <a:ln w="12700">
            <a:solidFill>
              <a:srgbClr val="16233D"/>
            </a:solidFill>
            <a:prstDash val="solid"/>
          </a:ln>
        </p:spPr>
      </p:sp>
      <p:sp>
        <p:nvSpPr>
          <p:cNvPr id="49" name="Shape 47"/>
          <p:cNvSpPr/>
          <p:nvPr/>
        </p:nvSpPr>
        <p:spPr>
          <a:xfrm>
            <a:off x="3128554" y="3219559"/>
            <a:ext cx="80554" cy="80554"/>
          </a:xfrm>
          <a:prstGeom prst="rect">
            <a:avLst/>
          </a:prstGeom>
          <a:solidFill>
            <a:srgbClr val="16233D"/>
          </a:solidFill>
          <a:ln w="12700">
            <a:solidFill>
              <a:srgbClr val="16233D"/>
            </a:solidFill>
            <a:prstDash val="solid"/>
          </a:ln>
        </p:spPr>
      </p:sp>
      <p:sp>
        <p:nvSpPr>
          <p:cNvPr id="50" name="Shape 48"/>
          <p:cNvSpPr/>
          <p:nvPr/>
        </p:nvSpPr>
        <p:spPr>
          <a:xfrm>
            <a:off x="3209109" y="3219559"/>
            <a:ext cx="80554" cy="80554"/>
          </a:xfrm>
          <a:prstGeom prst="rect">
            <a:avLst/>
          </a:prstGeom>
          <a:solidFill>
            <a:srgbClr val="16233D"/>
          </a:solidFill>
          <a:ln w="12700">
            <a:solidFill>
              <a:srgbClr val="16233D"/>
            </a:solidFill>
            <a:prstDash val="solid"/>
          </a:ln>
        </p:spPr>
      </p:sp>
      <p:sp>
        <p:nvSpPr>
          <p:cNvPr id="51" name="Shape 49"/>
          <p:cNvSpPr/>
          <p:nvPr/>
        </p:nvSpPr>
        <p:spPr>
          <a:xfrm>
            <a:off x="3450771" y="3219559"/>
            <a:ext cx="80554" cy="80554"/>
          </a:xfrm>
          <a:prstGeom prst="rect">
            <a:avLst/>
          </a:prstGeom>
          <a:solidFill>
            <a:srgbClr val="16233D"/>
          </a:solidFill>
          <a:ln w="12700">
            <a:solidFill>
              <a:srgbClr val="16233D"/>
            </a:solidFill>
            <a:prstDash val="solid"/>
          </a:ln>
        </p:spPr>
      </p:sp>
      <p:sp>
        <p:nvSpPr>
          <p:cNvPr id="52" name="Shape 50"/>
          <p:cNvSpPr/>
          <p:nvPr/>
        </p:nvSpPr>
        <p:spPr>
          <a:xfrm>
            <a:off x="3531326" y="3219559"/>
            <a:ext cx="80554" cy="80554"/>
          </a:xfrm>
          <a:prstGeom prst="rect">
            <a:avLst/>
          </a:prstGeom>
          <a:solidFill>
            <a:srgbClr val="16233D"/>
          </a:solidFill>
          <a:ln w="12700">
            <a:solidFill>
              <a:srgbClr val="16233D"/>
            </a:solidFill>
            <a:prstDash val="solid"/>
          </a:ln>
        </p:spPr>
      </p:sp>
      <p:sp>
        <p:nvSpPr>
          <p:cNvPr id="53" name="Shape 51"/>
          <p:cNvSpPr/>
          <p:nvPr/>
        </p:nvSpPr>
        <p:spPr>
          <a:xfrm>
            <a:off x="2161903" y="3300113"/>
            <a:ext cx="80554" cy="80554"/>
          </a:xfrm>
          <a:prstGeom prst="rect">
            <a:avLst/>
          </a:prstGeom>
          <a:solidFill>
            <a:srgbClr val="16233D"/>
          </a:solidFill>
          <a:ln w="12700">
            <a:solidFill>
              <a:srgbClr val="16233D"/>
            </a:solidFill>
            <a:prstDash val="solid"/>
          </a:ln>
        </p:spPr>
      </p:sp>
      <p:sp>
        <p:nvSpPr>
          <p:cNvPr id="54" name="Shape 52"/>
          <p:cNvSpPr/>
          <p:nvPr/>
        </p:nvSpPr>
        <p:spPr>
          <a:xfrm>
            <a:off x="2242457" y="3300113"/>
            <a:ext cx="80554" cy="80554"/>
          </a:xfrm>
          <a:prstGeom prst="rect">
            <a:avLst/>
          </a:prstGeom>
          <a:solidFill>
            <a:srgbClr val="16233D"/>
          </a:solidFill>
          <a:ln w="12700">
            <a:solidFill>
              <a:srgbClr val="16233D"/>
            </a:solidFill>
            <a:prstDash val="solid"/>
          </a:ln>
        </p:spPr>
      </p:sp>
      <p:sp>
        <p:nvSpPr>
          <p:cNvPr id="55" name="Shape 53"/>
          <p:cNvSpPr/>
          <p:nvPr/>
        </p:nvSpPr>
        <p:spPr>
          <a:xfrm>
            <a:off x="2323011" y="3300113"/>
            <a:ext cx="80554" cy="80554"/>
          </a:xfrm>
          <a:prstGeom prst="rect">
            <a:avLst/>
          </a:prstGeom>
          <a:solidFill>
            <a:srgbClr val="16233D"/>
          </a:solidFill>
          <a:ln w="12700">
            <a:solidFill>
              <a:srgbClr val="16233D"/>
            </a:solidFill>
            <a:prstDash val="solid"/>
          </a:ln>
        </p:spPr>
      </p:sp>
      <p:sp>
        <p:nvSpPr>
          <p:cNvPr id="56" name="Shape 54"/>
          <p:cNvSpPr/>
          <p:nvPr/>
        </p:nvSpPr>
        <p:spPr>
          <a:xfrm>
            <a:off x="2403566" y="3300113"/>
            <a:ext cx="80554" cy="80554"/>
          </a:xfrm>
          <a:prstGeom prst="rect">
            <a:avLst/>
          </a:prstGeom>
          <a:solidFill>
            <a:srgbClr val="16233D"/>
          </a:solidFill>
          <a:ln w="12700">
            <a:solidFill>
              <a:srgbClr val="16233D"/>
            </a:solidFill>
            <a:prstDash val="solid"/>
          </a:ln>
        </p:spPr>
      </p:sp>
      <p:sp>
        <p:nvSpPr>
          <p:cNvPr id="57" name="Shape 55"/>
          <p:cNvSpPr/>
          <p:nvPr/>
        </p:nvSpPr>
        <p:spPr>
          <a:xfrm>
            <a:off x="2564674" y="3300113"/>
            <a:ext cx="80554" cy="80554"/>
          </a:xfrm>
          <a:prstGeom prst="rect">
            <a:avLst/>
          </a:prstGeom>
          <a:solidFill>
            <a:srgbClr val="16233D"/>
          </a:solidFill>
          <a:ln w="12700">
            <a:solidFill>
              <a:srgbClr val="16233D"/>
            </a:solidFill>
            <a:prstDash val="solid"/>
          </a:ln>
        </p:spPr>
      </p:sp>
      <p:sp>
        <p:nvSpPr>
          <p:cNvPr id="58" name="Shape 56"/>
          <p:cNvSpPr/>
          <p:nvPr/>
        </p:nvSpPr>
        <p:spPr>
          <a:xfrm>
            <a:off x="2967446" y="3300113"/>
            <a:ext cx="80554" cy="80554"/>
          </a:xfrm>
          <a:prstGeom prst="rect">
            <a:avLst/>
          </a:prstGeom>
          <a:solidFill>
            <a:srgbClr val="16233D"/>
          </a:solidFill>
          <a:ln w="12700">
            <a:solidFill>
              <a:srgbClr val="16233D"/>
            </a:solidFill>
            <a:prstDash val="solid"/>
          </a:ln>
        </p:spPr>
      </p:sp>
      <p:sp>
        <p:nvSpPr>
          <p:cNvPr id="59" name="Shape 57"/>
          <p:cNvSpPr/>
          <p:nvPr/>
        </p:nvSpPr>
        <p:spPr>
          <a:xfrm>
            <a:off x="3048000" y="3300113"/>
            <a:ext cx="80554" cy="80554"/>
          </a:xfrm>
          <a:prstGeom prst="rect">
            <a:avLst/>
          </a:prstGeom>
          <a:solidFill>
            <a:srgbClr val="16233D"/>
          </a:solidFill>
          <a:ln w="12700">
            <a:solidFill>
              <a:srgbClr val="16233D"/>
            </a:solidFill>
            <a:prstDash val="solid"/>
          </a:ln>
        </p:spPr>
      </p:sp>
      <p:sp>
        <p:nvSpPr>
          <p:cNvPr id="60" name="Shape 58"/>
          <p:cNvSpPr/>
          <p:nvPr/>
        </p:nvSpPr>
        <p:spPr>
          <a:xfrm>
            <a:off x="3128554" y="3300113"/>
            <a:ext cx="80554" cy="80554"/>
          </a:xfrm>
          <a:prstGeom prst="rect">
            <a:avLst/>
          </a:prstGeom>
          <a:solidFill>
            <a:srgbClr val="16233D"/>
          </a:solidFill>
          <a:ln w="12700">
            <a:solidFill>
              <a:srgbClr val="16233D"/>
            </a:solidFill>
            <a:prstDash val="solid"/>
          </a:ln>
        </p:spPr>
      </p:sp>
      <p:sp>
        <p:nvSpPr>
          <p:cNvPr id="61" name="Shape 59"/>
          <p:cNvSpPr/>
          <p:nvPr/>
        </p:nvSpPr>
        <p:spPr>
          <a:xfrm>
            <a:off x="2242457" y="3380667"/>
            <a:ext cx="80554" cy="80554"/>
          </a:xfrm>
          <a:prstGeom prst="rect">
            <a:avLst/>
          </a:prstGeom>
          <a:solidFill>
            <a:srgbClr val="16233D"/>
          </a:solidFill>
          <a:ln w="12700">
            <a:solidFill>
              <a:srgbClr val="16233D"/>
            </a:solidFill>
            <a:prstDash val="solid"/>
          </a:ln>
        </p:spPr>
      </p:sp>
      <p:sp>
        <p:nvSpPr>
          <p:cNvPr id="62" name="Shape 60"/>
          <p:cNvSpPr/>
          <p:nvPr/>
        </p:nvSpPr>
        <p:spPr>
          <a:xfrm>
            <a:off x="2564674" y="3380667"/>
            <a:ext cx="80554" cy="80554"/>
          </a:xfrm>
          <a:prstGeom prst="rect">
            <a:avLst/>
          </a:prstGeom>
          <a:solidFill>
            <a:srgbClr val="16233D"/>
          </a:solidFill>
          <a:ln w="12700">
            <a:solidFill>
              <a:srgbClr val="16233D"/>
            </a:solidFill>
            <a:prstDash val="solid"/>
          </a:ln>
        </p:spPr>
      </p:sp>
      <p:sp>
        <p:nvSpPr>
          <p:cNvPr id="63" name="Shape 61"/>
          <p:cNvSpPr/>
          <p:nvPr/>
        </p:nvSpPr>
        <p:spPr>
          <a:xfrm>
            <a:off x="3128554" y="3380667"/>
            <a:ext cx="80554" cy="80554"/>
          </a:xfrm>
          <a:prstGeom prst="rect">
            <a:avLst/>
          </a:prstGeom>
          <a:solidFill>
            <a:srgbClr val="16233D"/>
          </a:solidFill>
          <a:ln w="12700">
            <a:solidFill>
              <a:srgbClr val="16233D"/>
            </a:solidFill>
            <a:prstDash val="solid"/>
          </a:ln>
        </p:spPr>
      </p:sp>
      <p:sp>
        <p:nvSpPr>
          <p:cNvPr id="64" name="Shape 62"/>
          <p:cNvSpPr/>
          <p:nvPr/>
        </p:nvSpPr>
        <p:spPr>
          <a:xfrm>
            <a:off x="3289663" y="3380667"/>
            <a:ext cx="80554" cy="80554"/>
          </a:xfrm>
          <a:prstGeom prst="rect">
            <a:avLst/>
          </a:prstGeom>
          <a:solidFill>
            <a:srgbClr val="16233D"/>
          </a:solidFill>
          <a:ln w="12700">
            <a:solidFill>
              <a:srgbClr val="16233D"/>
            </a:solidFill>
            <a:prstDash val="solid"/>
          </a:ln>
        </p:spPr>
      </p:sp>
      <p:sp>
        <p:nvSpPr>
          <p:cNvPr id="65" name="Shape 63"/>
          <p:cNvSpPr/>
          <p:nvPr/>
        </p:nvSpPr>
        <p:spPr>
          <a:xfrm>
            <a:off x="3450771" y="3380667"/>
            <a:ext cx="80554" cy="80554"/>
          </a:xfrm>
          <a:prstGeom prst="rect">
            <a:avLst/>
          </a:prstGeom>
          <a:solidFill>
            <a:srgbClr val="16233D"/>
          </a:solidFill>
          <a:ln w="12700">
            <a:solidFill>
              <a:srgbClr val="16233D"/>
            </a:solidFill>
            <a:prstDash val="solid"/>
          </a:ln>
        </p:spPr>
      </p:sp>
      <p:sp>
        <p:nvSpPr>
          <p:cNvPr id="66" name="Shape 64"/>
          <p:cNvSpPr/>
          <p:nvPr/>
        </p:nvSpPr>
        <p:spPr>
          <a:xfrm>
            <a:off x="3531326" y="3380667"/>
            <a:ext cx="80554" cy="80554"/>
          </a:xfrm>
          <a:prstGeom prst="rect">
            <a:avLst/>
          </a:prstGeom>
          <a:solidFill>
            <a:srgbClr val="16233D"/>
          </a:solidFill>
          <a:ln w="12700">
            <a:solidFill>
              <a:srgbClr val="16233D"/>
            </a:solidFill>
            <a:prstDash val="solid"/>
          </a:ln>
        </p:spPr>
      </p:sp>
      <p:sp>
        <p:nvSpPr>
          <p:cNvPr id="67" name="Shape 65"/>
          <p:cNvSpPr/>
          <p:nvPr/>
        </p:nvSpPr>
        <p:spPr>
          <a:xfrm>
            <a:off x="2564674" y="3461222"/>
            <a:ext cx="80554" cy="80554"/>
          </a:xfrm>
          <a:prstGeom prst="rect">
            <a:avLst/>
          </a:prstGeom>
          <a:solidFill>
            <a:srgbClr val="16233D"/>
          </a:solidFill>
          <a:ln w="12700">
            <a:solidFill>
              <a:srgbClr val="16233D"/>
            </a:solidFill>
            <a:prstDash val="solid"/>
          </a:ln>
        </p:spPr>
      </p:sp>
      <p:sp>
        <p:nvSpPr>
          <p:cNvPr id="68" name="Shape 66"/>
          <p:cNvSpPr/>
          <p:nvPr/>
        </p:nvSpPr>
        <p:spPr>
          <a:xfrm>
            <a:off x="2886891" y="3461222"/>
            <a:ext cx="80554" cy="80554"/>
          </a:xfrm>
          <a:prstGeom prst="rect">
            <a:avLst/>
          </a:prstGeom>
          <a:solidFill>
            <a:srgbClr val="16233D"/>
          </a:solidFill>
          <a:ln w="12700">
            <a:solidFill>
              <a:srgbClr val="16233D"/>
            </a:solidFill>
            <a:prstDash val="solid"/>
          </a:ln>
        </p:spPr>
      </p:sp>
      <p:sp>
        <p:nvSpPr>
          <p:cNvPr id="69" name="Shape 67"/>
          <p:cNvSpPr/>
          <p:nvPr/>
        </p:nvSpPr>
        <p:spPr>
          <a:xfrm>
            <a:off x="3370217" y="3461222"/>
            <a:ext cx="80554" cy="80554"/>
          </a:xfrm>
          <a:prstGeom prst="rect">
            <a:avLst/>
          </a:prstGeom>
          <a:solidFill>
            <a:srgbClr val="16233D"/>
          </a:solidFill>
          <a:ln w="12700">
            <a:solidFill>
              <a:srgbClr val="16233D"/>
            </a:solidFill>
            <a:prstDash val="solid"/>
          </a:ln>
        </p:spPr>
      </p:sp>
      <p:sp>
        <p:nvSpPr>
          <p:cNvPr id="70" name="Shape 68"/>
          <p:cNvSpPr/>
          <p:nvPr/>
        </p:nvSpPr>
        <p:spPr>
          <a:xfrm>
            <a:off x="2564674" y="3541776"/>
            <a:ext cx="80554" cy="80554"/>
          </a:xfrm>
          <a:prstGeom prst="rect">
            <a:avLst/>
          </a:prstGeom>
          <a:solidFill>
            <a:srgbClr val="16233D"/>
          </a:solidFill>
          <a:ln w="12700">
            <a:solidFill>
              <a:srgbClr val="16233D"/>
            </a:solidFill>
            <a:prstDash val="solid"/>
          </a:ln>
        </p:spPr>
      </p:sp>
      <p:sp>
        <p:nvSpPr>
          <p:cNvPr id="71" name="Shape 69"/>
          <p:cNvSpPr/>
          <p:nvPr/>
        </p:nvSpPr>
        <p:spPr>
          <a:xfrm>
            <a:off x="2645229" y="3541776"/>
            <a:ext cx="80554" cy="80554"/>
          </a:xfrm>
          <a:prstGeom prst="rect">
            <a:avLst/>
          </a:prstGeom>
          <a:solidFill>
            <a:srgbClr val="16233D"/>
          </a:solidFill>
          <a:ln w="12700">
            <a:solidFill>
              <a:srgbClr val="16233D"/>
            </a:solidFill>
            <a:prstDash val="solid"/>
          </a:ln>
        </p:spPr>
      </p:sp>
      <p:sp>
        <p:nvSpPr>
          <p:cNvPr id="72" name="Shape 70"/>
          <p:cNvSpPr/>
          <p:nvPr/>
        </p:nvSpPr>
        <p:spPr>
          <a:xfrm>
            <a:off x="2725783" y="3541776"/>
            <a:ext cx="80554" cy="80554"/>
          </a:xfrm>
          <a:prstGeom prst="rect">
            <a:avLst/>
          </a:prstGeom>
          <a:solidFill>
            <a:srgbClr val="16233D"/>
          </a:solidFill>
          <a:ln w="12700">
            <a:solidFill>
              <a:srgbClr val="16233D"/>
            </a:solidFill>
            <a:prstDash val="solid"/>
          </a:ln>
        </p:spPr>
      </p:sp>
      <p:sp>
        <p:nvSpPr>
          <p:cNvPr id="73" name="Shape 71"/>
          <p:cNvSpPr/>
          <p:nvPr/>
        </p:nvSpPr>
        <p:spPr>
          <a:xfrm>
            <a:off x="2967446" y="3541776"/>
            <a:ext cx="80554" cy="80554"/>
          </a:xfrm>
          <a:prstGeom prst="rect">
            <a:avLst/>
          </a:prstGeom>
          <a:solidFill>
            <a:srgbClr val="16233D"/>
          </a:solidFill>
          <a:ln w="12700">
            <a:solidFill>
              <a:srgbClr val="16233D"/>
            </a:solidFill>
            <a:prstDash val="solid"/>
          </a:ln>
        </p:spPr>
      </p:sp>
      <p:sp>
        <p:nvSpPr>
          <p:cNvPr id="74" name="Shape 72"/>
          <p:cNvSpPr/>
          <p:nvPr/>
        </p:nvSpPr>
        <p:spPr>
          <a:xfrm>
            <a:off x="3048000" y="3541776"/>
            <a:ext cx="80554" cy="80554"/>
          </a:xfrm>
          <a:prstGeom prst="rect">
            <a:avLst/>
          </a:prstGeom>
          <a:solidFill>
            <a:srgbClr val="16233D"/>
          </a:solidFill>
          <a:ln w="12700">
            <a:solidFill>
              <a:srgbClr val="16233D"/>
            </a:solidFill>
            <a:prstDash val="solid"/>
          </a:ln>
        </p:spPr>
      </p:sp>
      <p:sp>
        <p:nvSpPr>
          <p:cNvPr id="75" name="Shape 73"/>
          <p:cNvSpPr/>
          <p:nvPr/>
        </p:nvSpPr>
        <p:spPr>
          <a:xfrm>
            <a:off x="3209109" y="3541776"/>
            <a:ext cx="80554" cy="80554"/>
          </a:xfrm>
          <a:prstGeom prst="rect">
            <a:avLst/>
          </a:prstGeom>
          <a:solidFill>
            <a:srgbClr val="16233D"/>
          </a:solidFill>
          <a:ln w="12700">
            <a:solidFill>
              <a:srgbClr val="16233D"/>
            </a:solidFill>
            <a:prstDash val="solid"/>
          </a:ln>
        </p:spPr>
      </p:sp>
      <p:sp>
        <p:nvSpPr>
          <p:cNvPr id="76" name="Shape 74"/>
          <p:cNvSpPr/>
          <p:nvPr/>
        </p:nvSpPr>
        <p:spPr>
          <a:xfrm>
            <a:off x="3289663" y="3541776"/>
            <a:ext cx="80554" cy="80554"/>
          </a:xfrm>
          <a:prstGeom prst="rect">
            <a:avLst/>
          </a:prstGeom>
          <a:solidFill>
            <a:srgbClr val="16233D"/>
          </a:solidFill>
          <a:ln w="12700">
            <a:solidFill>
              <a:srgbClr val="16233D"/>
            </a:solidFill>
            <a:prstDash val="solid"/>
          </a:ln>
        </p:spPr>
      </p:sp>
      <p:sp>
        <p:nvSpPr>
          <p:cNvPr id="77" name="Shape 75"/>
          <p:cNvSpPr/>
          <p:nvPr/>
        </p:nvSpPr>
        <p:spPr>
          <a:xfrm>
            <a:off x="3450771" y="3541776"/>
            <a:ext cx="80554" cy="80554"/>
          </a:xfrm>
          <a:prstGeom prst="rect">
            <a:avLst/>
          </a:prstGeom>
          <a:solidFill>
            <a:srgbClr val="16233D"/>
          </a:solidFill>
          <a:ln w="12700">
            <a:solidFill>
              <a:srgbClr val="16233D"/>
            </a:solidFill>
            <a:prstDash val="solid"/>
          </a:ln>
        </p:spPr>
      </p:sp>
      <p:sp>
        <p:nvSpPr>
          <p:cNvPr id="78" name="Shape 76"/>
          <p:cNvSpPr/>
          <p:nvPr/>
        </p:nvSpPr>
        <p:spPr>
          <a:xfrm>
            <a:off x="3531326" y="3541776"/>
            <a:ext cx="80554" cy="80554"/>
          </a:xfrm>
          <a:prstGeom prst="rect">
            <a:avLst/>
          </a:prstGeom>
          <a:solidFill>
            <a:srgbClr val="16233D"/>
          </a:solidFill>
          <a:ln w="12700">
            <a:solidFill>
              <a:srgbClr val="16233D"/>
            </a:solidFill>
            <a:prstDash val="solid"/>
          </a:ln>
        </p:spPr>
      </p:sp>
      <p:sp>
        <p:nvSpPr>
          <p:cNvPr id="79" name="Shape 77"/>
          <p:cNvSpPr/>
          <p:nvPr/>
        </p:nvSpPr>
        <p:spPr>
          <a:xfrm>
            <a:off x="2725783" y="3622330"/>
            <a:ext cx="80554" cy="80554"/>
          </a:xfrm>
          <a:prstGeom prst="rect">
            <a:avLst/>
          </a:prstGeom>
          <a:solidFill>
            <a:srgbClr val="16233D"/>
          </a:solidFill>
          <a:ln w="12700">
            <a:solidFill>
              <a:srgbClr val="16233D"/>
            </a:solidFill>
            <a:prstDash val="solid"/>
          </a:ln>
        </p:spPr>
      </p:sp>
      <p:sp>
        <p:nvSpPr>
          <p:cNvPr id="80" name="Shape 78"/>
          <p:cNvSpPr/>
          <p:nvPr/>
        </p:nvSpPr>
        <p:spPr>
          <a:xfrm>
            <a:off x="2806337" y="3622330"/>
            <a:ext cx="80554" cy="80554"/>
          </a:xfrm>
          <a:prstGeom prst="rect">
            <a:avLst/>
          </a:prstGeom>
          <a:solidFill>
            <a:srgbClr val="16233D"/>
          </a:solidFill>
          <a:ln w="12700">
            <a:solidFill>
              <a:srgbClr val="16233D"/>
            </a:solidFill>
            <a:prstDash val="solid"/>
          </a:ln>
        </p:spPr>
      </p:sp>
      <p:sp>
        <p:nvSpPr>
          <p:cNvPr id="81" name="Shape 79"/>
          <p:cNvSpPr/>
          <p:nvPr/>
        </p:nvSpPr>
        <p:spPr>
          <a:xfrm>
            <a:off x="2886891" y="3622330"/>
            <a:ext cx="80554" cy="80554"/>
          </a:xfrm>
          <a:prstGeom prst="rect">
            <a:avLst/>
          </a:prstGeom>
          <a:solidFill>
            <a:srgbClr val="16233D"/>
          </a:solidFill>
          <a:ln w="12700">
            <a:solidFill>
              <a:srgbClr val="16233D"/>
            </a:solidFill>
            <a:prstDash val="solid"/>
          </a:ln>
        </p:spPr>
      </p:sp>
      <p:sp>
        <p:nvSpPr>
          <p:cNvPr id="82" name="Shape 80"/>
          <p:cNvSpPr/>
          <p:nvPr/>
        </p:nvSpPr>
        <p:spPr>
          <a:xfrm>
            <a:off x="2967446" y="3622330"/>
            <a:ext cx="80554" cy="80554"/>
          </a:xfrm>
          <a:prstGeom prst="rect">
            <a:avLst/>
          </a:prstGeom>
          <a:solidFill>
            <a:srgbClr val="16233D"/>
          </a:solidFill>
          <a:ln w="12700">
            <a:solidFill>
              <a:srgbClr val="16233D"/>
            </a:solidFill>
            <a:prstDash val="solid"/>
          </a:ln>
        </p:spPr>
      </p:sp>
      <p:sp>
        <p:nvSpPr>
          <p:cNvPr id="83" name="Shape 81"/>
          <p:cNvSpPr/>
          <p:nvPr/>
        </p:nvSpPr>
        <p:spPr>
          <a:xfrm>
            <a:off x="3048000" y="3622330"/>
            <a:ext cx="80554" cy="80554"/>
          </a:xfrm>
          <a:prstGeom prst="rect">
            <a:avLst/>
          </a:prstGeom>
          <a:solidFill>
            <a:srgbClr val="16233D"/>
          </a:solidFill>
          <a:ln w="12700">
            <a:solidFill>
              <a:srgbClr val="16233D"/>
            </a:solidFill>
            <a:prstDash val="solid"/>
          </a:ln>
        </p:spPr>
      </p:sp>
      <p:sp>
        <p:nvSpPr>
          <p:cNvPr id="84" name="Shape 82"/>
          <p:cNvSpPr/>
          <p:nvPr/>
        </p:nvSpPr>
        <p:spPr>
          <a:xfrm>
            <a:off x="3128554" y="3622330"/>
            <a:ext cx="80554" cy="80554"/>
          </a:xfrm>
          <a:prstGeom prst="rect">
            <a:avLst/>
          </a:prstGeom>
          <a:solidFill>
            <a:srgbClr val="16233D"/>
          </a:solidFill>
          <a:ln w="12700">
            <a:solidFill>
              <a:srgbClr val="16233D"/>
            </a:solidFill>
            <a:prstDash val="solid"/>
          </a:ln>
        </p:spPr>
      </p:sp>
      <p:sp>
        <p:nvSpPr>
          <p:cNvPr id="85" name="Shape 83"/>
          <p:cNvSpPr/>
          <p:nvPr/>
        </p:nvSpPr>
        <p:spPr>
          <a:xfrm>
            <a:off x="3209109" y="3622330"/>
            <a:ext cx="80554" cy="80554"/>
          </a:xfrm>
          <a:prstGeom prst="rect">
            <a:avLst/>
          </a:prstGeom>
          <a:solidFill>
            <a:srgbClr val="16233D"/>
          </a:solidFill>
          <a:ln w="12700">
            <a:solidFill>
              <a:srgbClr val="16233D"/>
            </a:solidFill>
            <a:prstDash val="solid"/>
          </a:ln>
        </p:spPr>
      </p:sp>
      <p:sp>
        <p:nvSpPr>
          <p:cNvPr id="86" name="Shape 84"/>
          <p:cNvSpPr/>
          <p:nvPr/>
        </p:nvSpPr>
        <p:spPr>
          <a:xfrm>
            <a:off x="3450771" y="3622330"/>
            <a:ext cx="80554" cy="80554"/>
          </a:xfrm>
          <a:prstGeom prst="rect">
            <a:avLst/>
          </a:prstGeom>
          <a:solidFill>
            <a:srgbClr val="16233D"/>
          </a:solidFill>
          <a:ln w="12700">
            <a:solidFill>
              <a:srgbClr val="16233D"/>
            </a:solidFill>
            <a:prstDash val="solid"/>
          </a:ln>
        </p:spPr>
      </p:sp>
      <p:sp>
        <p:nvSpPr>
          <p:cNvPr id="87" name="Shape 85"/>
          <p:cNvSpPr/>
          <p:nvPr/>
        </p:nvSpPr>
        <p:spPr>
          <a:xfrm>
            <a:off x="3531326" y="3622330"/>
            <a:ext cx="80554" cy="80554"/>
          </a:xfrm>
          <a:prstGeom prst="rect">
            <a:avLst/>
          </a:prstGeom>
          <a:solidFill>
            <a:srgbClr val="16233D"/>
          </a:solidFill>
          <a:ln w="12700">
            <a:solidFill>
              <a:srgbClr val="16233D"/>
            </a:solidFill>
            <a:prstDash val="solid"/>
          </a:ln>
        </p:spPr>
      </p:sp>
      <p:sp>
        <p:nvSpPr>
          <p:cNvPr id="88" name="Shape 86"/>
          <p:cNvSpPr/>
          <p:nvPr/>
        </p:nvSpPr>
        <p:spPr>
          <a:xfrm>
            <a:off x="2564674" y="3702885"/>
            <a:ext cx="80554" cy="80554"/>
          </a:xfrm>
          <a:prstGeom prst="rect">
            <a:avLst/>
          </a:prstGeom>
          <a:solidFill>
            <a:srgbClr val="16233D"/>
          </a:solidFill>
          <a:ln w="12700">
            <a:solidFill>
              <a:srgbClr val="16233D"/>
            </a:solidFill>
            <a:prstDash val="solid"/>
          </a:ln>
        </p:spPr>
      </p:sp>
      <p:sp>
        <p:nvSpPr>
          <p:cNvPr id="89" name="Shape 87"/>
          <p:cNvSpPr/>
          <p:nvPr/>
        </p:nvSpPr>
        <p:spPr>
          <a:xfrm>
            <a:off x="2725783" y="3702885"/>
            <a:ext cx="80554" cy="80554"/>
          </a:xfrm>
          <a:prstGeom prst="rect">
            <a:avLst/>
          </a:prstGeom>
          <a:solidFill>
            <a:srgbClr val="16233D"/>
          </a:solidFill>
          <a:ln w="12700">
            <a:solidFill>
              <a:srgbClr val="16233D"/>
            </a:solidFill>
            <a:prstDash val="solid"/>
          </a:ln>
        </p:spPr>
      </p:sp>
      <p:sp>
        <p:nvSpPr>
          <p:cNvPr id="90" name="Shape 88"/>
          <p:cNvSpPr/>
          <p:nvPr/>
        </p:nvSpPr>
        <p:spPr>
          <a:xfrm>
            <a:off x="2806337" y="3702885"/>
            <a:ext cx="80554" cy="80554"/>
          </a:xfrm>
          <a:prstGeom prst="rect">
            <a:avLst/>
          </a:prstGeom>
          <a:solidFill>
            <a:srgbClr val="16233D"/>
          </a:solidFill>
          <a:ln w="12700">
            <a:solidFill>
              <a:srgbClr val="16233D"/>
            </a:solidFill>
            <a:prstDash val="solid"/>
          </a:ln>
        </p:spPr>
      </p:sp>
      <p:sp>
        <p:nvSpPr>
          <p:cNvPr id="91" name="Shape 89"/>
          <p:cNvSpPr/>
          <p:nvPr/>
        </p:nvSpPr>
        <p:spPr>
          <a:xfrm>
            <a:off x="3048000" y="3702885"/>
            <a:ext cx="80554" cy="80554"/>
          </a:xfrm>
          <a:prstGeom prst="rect">
            <a:avLst/>
          </a:prstGeom>
          <a:solidFill>
            <a:srgbClr val="16233D"/>
          </a:solidFill>
          <a:ln w="12700">
            <a:solidFill>
              <a:srgbClr val="16233D"/>
            </a:solidFill>
            <a:prstDash val="solid"/>
          </a:ln>
        </p:spPr>
      </p:sp>
      <p:sp>
        <p:nvSpPr>
          <p:cNvPr id="92" name="Shape 90"/>
          <p:cNvSpPr/>
          <p:nvPr/>
        </p:nvSpPr>
        <p:spPr>
          <a:xfrm>
            <a:off x="3128554" y="3702885"/>
            <a:ext cx="80554" cy="80554"/>
          </a:xfrm>
          <a:prstGeom prst="rect">
            <a:avLst/>
          </a:prstGeom>
          <a:solidFill>
            <a:srgbClr val="16233D"/>
          </a:solidFill>
          <a:ln w="12700">
            <a:solidFill>
              <a:srgbClr val="16233D"/>
            </a:solidFill>
            <a:prstDash val="solid"/>
          </a:ln>
        </p:spPr>
      </p:sp>
      <p:sp>
        <p:nvSpPr>
          <p:cNvPr id="93" name="Shape 91"/>
          <p:cNvSpPr/>
          <p:nvPr/>
        </p:nvSpPr>
        <p:spPr>
          <a:xfrm>
            <a:off x="3450771" y="3702885"/>
            <a:ext cx="80554" cy="80554"/>
          </a:xfrm>
          <a:prstGeom prst="rect">
            <a:avLst/>
          </a:prstGeom>
          <a:solidFill>
            <a:srgbClr val="16233D"/>
          </a:solidFill>
          <a:ln w="12700">
            <a:solidFill>
              <a:srgbClr val="16233D"/>
            </a:solidFill>
            <a:prstDash val="solid"/>
          </a:ln>
        </p:spPr>
      </p:sp>
      <p:sp>
        <p:nvSpPr>
          <p:cNvPr id="94" name="Shape 92"/>
          <p:cNvSpPr/>
          <p:nvPr/>
        </p:nvSpPr>
        <p:spPr>
          <a:xfrm>
            <a:off x="3531326" y="3702885"/>
            <a:ext cx="80554" cy="80554"/>
          </a:xfrm>
          <a:prstGeom prst="rect">
            <a:avLst/>
          </a:prstGeom>
          <a:solidFill>
            <a:srgbClr val="16233D"/>
          </a:solidFill>
          <a:ln w="12700">
            <a:solidFill>
              <a:srgbClr val="16233D"/>
            </a:solidFill>
            <a:prstDash val="solid"/>
          </a:ln>
        </p:spPr>
      </p:sp>
      <p:sp>
        <p:nvSpPr>
          <p:cNvPr id="95" name="Shape 93"/>
          <p:cNvSpPr/>
          <p:nvPr/>
        </p:nvSpPr>
        <p:spPr>
          <a:xfrm>
            <a:off x="2645229" y="3783439"/>
            <a:ext cx="80554" cy="80554"/>
          </a:xfrm>
          <a:prstGeom prst="rect">
            <a:avLst/>
          </a:prstGeom>
          <a:solidFill>
            <a:srgbClr val="16233D"/>
          </a:solidFill>
          <a:ln w="12700">
            <a:solidFill>
              <a:srgbClr val="16233D"/>
            </a:solidFill>
            <a:prstDash val="solid"/>
          </a:ln>
        </p:spPr>
      </p:sp>
      <p:sp>
        <p:nvSpPr>
          <p:cNvPr id="96" name="Shape 94"/>
          <p:cNvSpPr/>
          <p:nvPr/>
        </p:nvSpPr>
        <p:spPr>
          <a:xfrm>
            <a:off x="2886891" y="3783439"/>
            <a:ext cx="80554" cy="80554"/>
          </a:xfrm>
          <a:prstGeom prst="rect">
            <a:avLst/>
          </a:prstGeom>
          <a:solidFill>
            <a:srgbClr val="16233D"/>
          </a:solidFill>
          <a:ln w="12700">
            <a:solidFill>
              <a:srgbClr val="16233D"/>
            </a:solidFill>
            <a:prstDash val="solid"/>
          </a:ln>
        </p:spPr>
      </p:sp>
      <p:sp>
        <p:nvSpPr>
          <p:cNvPr id="97" name="Shape 95"/>
          <p:cNvSpPr/>
          <p:nvPr/>
        </p:nvSpPr>
        <p:spPr>
          <a:xfrm>
            <a:off x="3128554" y="3783439"/>
            <a:ext cx="80554" cy="80554"/>
          </a:xfrm>
          <a:prstGeom prst="rect">
            <a:avLst/>
          </a:prstGeom>
          <a:solidFill>
            <a:srgbClr val="16233D"/>
          </a:solidFill>
          <a:ln w="12700">
            <a:solidFill>
              <a:srgbClr val="16233D"/>
            </a:solidFill>
            <a:prstDash val="solid"/>
          </a:ln>
        </p:spPr>
      </p:sp>
      <p:sp>
        <p:nvSpPr>
          <p:cNvPr id="98" name="Shape 96"/>
          <p:cNvSpPr/>
          <p:nvPr/>
        </p:nvSpPr>
        <p:spPr>
          <a:xfrm>
            <a:off x="3531326" y="3783439"/>
            <a:ext cx="80554" cy="80554"/>
          </a:xfrm>
          <a:prstGeom prst="rect">
            <a:avLst/>
          </a:prstGeom>
          <a:solidFill>
            <a:srgbClr val="16233D"/>
          </a:solidFill>
          <a:ln w="12700">
            <a:solidFill>
              <a:srgbClr val="16233D"/>
            </a:solidFill>
            <a:prstDash val="solid"/>
          </a:ln>
        </p:spPr>
      </p:sp>
      <p:sp>
        <p:nvSpPr>
          <p:cNvPr id="99" name="Shape 97"/>
          <p:cNvSpPr/>
          <p:nvPr/>
        </p:nvSpPr>
        <p:spPr>
          <a:xfrm>
            <a:off x="2645229" y="3863993"/>
            <a:ext cx="80554" cy="80554"/>
          </a:xfrm>
          <a:prstGeom prst="rect">
            <a:avLst/>
          </a:prstGeom>
          <a:solidFill>
            <a:srgbClr val="16233D"/>
          </a:solidFill>
          <a:ln w="12700">
            <a:solidFill>
              <a:srgbClr val="16233D"/>
            </a:solidFill>
            <a:prstDash val="solid"/>
          </a:ln>
        </p:spPr>
      </p:sp>
      <p:sp>
        <p:nvSpPr>
          <p:cNvPr id="100" name="Shape 98"/>
          <p:cNvSpPr/>
          <p:nvPr/>
        </p:nvSpPr>
        <p:spPr>
          <a:xfrm>
            <a:off x="2806337" y="3863993"/>
            <a:ext cx="80554" cy="80554"/>
          </a:xfrm>
          <a:prstGeom prst="rect">
            <a:avLst/>
          </a:prstGeom>
          <a:solidFill>
            <a:srgbClr val="16233D"/>
          </a:solidFill>
          <a:ln w="12700">
            <a:solidFill>
              <a:srgbClr val="16233D"/>
            </a:solidFill>
            <a:prstDash val="solid"/>
          </a:ln>
        </p:spPr>
      </p:sp>
      <p:sp>
        <p:nvSpPr>
          <p:cNvPr id="101" name="Shape 99"/>
          <p:cNvSpPr/>
          <p:nvPr/>
        </p:nvSpPr>
        <p:spPr>
          <a:xfrm>
            <a:off x="2886891" y="3863993"/>
            <a:ext cx="80554" cy="80554"/>
          </a:xfrm>
          <a:prstGeom prst="rect">
            <a:avLst/>
          </a:prstGeom>
          <a:solidFill>
            <a:srgbClr val="16233D"/>
          </a:solidFill>
          <a:ln w="12700">
            <a:solidFill>
              <a:srgbClr val="16233D"/>
            </a:solidFill>
            <a:prstDash val="solid"/>
          </a:ln>
        </p:spPr>
      </p:sp>
      <p:sp>
        <p:nvSpPr>
          <p:cNvPr id="102" name="Shape 100"/>
          <p:cNvSpPr/>
          <p:nvPr/>
        </p:nvSpPr>
        <p:spPr>
          <a:xfrm>
            <a:off x="3048000" y="3863993"/>
            <a:ext cx="80554" cy="80554"/>
          </a:xfrm>
          <a:prstGeom prst="rect">
            <a:avLst/>
          </a:prstGeom>
          <a:solidFill>
            <a:srgbClr val="16233D"/>
          </a:solidFill>
          <a:ln w="12700">
            <a:solidFill>
              <a:srgbClr val="16233D"/>
            </a:solidFill>
            <a:prstDash val="solid"/>
          </a:ln>
        </p:spPr>
      </p:sp>
      <p:sp>
        <p:nvSpPr>
          <p:cNvPr id="103" name="Shape 101"/>
          <p:cNvSpPr/>
          <p:nvPr/>
        </p:nvSpPr>
        <p:spPr>
          <a:xfrm>
            <a:off x="3370217" y="3863993"/>
            <a:ext cx="80554" cy="80554"/>
          </a:xfrm>
          <a:prstGeom prst="rect">
            <a:avLst/>
          </a:prstGeom>
          <a:solidFill>
            <a:srgbClr val="16233D"/>
          </a:solidFill>
          <a:ln w="12700">
            <a:solidFill>
              <a:srgbClr val="16233D"/>
            </a:solidFill>
            <a:prstDash val="solid"/>
          </a:ln>
        </p:spPr>
      </p:sp>
      <p:sp>
        <p:nvSpPr>
          <p:cNvPr id="104" name="Shape 102"/>
          <p:cNvSpPr/>
          <p:nvPr/>
        </p:nvSpPr>
        <p:spPr>
          <a:xfrm>
            <a:off x="3450771" y="3863993"/>
            <a:ext cx="80554" cy="80554"/>
          </a:xfrm>
          <a:prstGeom prst="rect">
            <a:avLst/>
          </a:prstGeom>
          <a:solidFill>
            <a:srgbClr val="16233D"/>
          </a:solidFill>
          <a:ln w="12700">
            <a:solidFill>
              <a:srgbClr val="16233D"/>
            </a:solidFill>
            <a:prstDash val="solid"/>
          </a:ln>
        </p:spPr>
      </p:sp>
      <p:sp>
        <p:nvSpPr>
          <p:cNvPr id="105" name="Shape 103"/>
          <p:cNvSpPr/>
          <p:nvPr/>
        </p:nvSpPr>
        <p:spPr>
          <a:xfrm>
            <a:off x="3209109" y="3944547"/>
            <a:ext cx="80554" cy="80554"/>
          </a:xfrm>
          <a:prstGeom prst="rect">
            <a:avLst/>
          </a:prstGeom>
          <a:solidFill>
            <a:srgbClr val="16233D"/>
          </a:solidFill>
          <a:ln w="12700">
            <a:solidFill>
              <a:srgbClr val="16233D"/>
            </a:solidFill>
            <a:prstDash val="solid"/>
          </a:ln>
        </p:spPr>
      </p:sp>
      <p:sp>
        <p:nvSpPr>
          <p:cNvPr id="106" name="Shape 104"/>
          <p:cNvSpPr/>
          <p:nvPr/>
        </p:nvSpPr>
        <p:spPr>
          <a:xfrm>
            <a:off x="3370217" y="3944547"/>
            <a:ext cx="80554" cy="80554"/>
          </a:xfrm>
          <a:prstGeom prst="rect">
            <a:avLst/>
          </a:prstGeom>
          <a:solidFill>
            <a:srgbClr val="16233D"/>
          </a:solidFill>
          <a:ln w="12700">
            <a:solidFill>
              <a:srgbClr val="16233D"/>
            </a:solidFill>
            <a:prstDash val="solid"/>
          </a:ln>
        </p:spPr>
      </p:sp>
      <p:sp>
        <p:nvSpPr>
          <p:cNvPr id="107" name="Shape 105"/>
          <p:cNvSpPr/>
          <p:nvPr/>
        </p:nvSpPr>
        <p:spPr>
          <a:xfrm>
            <a:off x="3450771" y="3944547"/>
            <a:ext cx="80554" cy="80554"/>
          </a:xfrm>
          <a:prstGeom prst="rect">
            <a:avLst/>
          </a:prstGeom>
          <a:solidFill>
            <a:srgbClr val="16233D"/>
          </a:solidFill>
          <a:ln w="12700">
            <a:solidFill>
              <a:srgbClr val="16233D"/>
            </a:solidFill>
            <a:prstDash val="solid"/>
          </a:ln>
        </p:spPr>
      </p:sp>
      <p:sp>
        <p:nvSpPr>
          <p:cNvPr id="108" name="Shape 106"/>
          <p:cNvSpPr/>
          <p:nvPr/>
        </p:nvSpPr>
        <p:spPr>
          <a:xfrm>
            <a:off x="2967446" y="4025102"/>
            <a:ext cx="80554" cy="80554"/>
          </a:xfrm>
          <a:prstGeom prst="rect">
            <a:avLst/>
          </a:prstGeom>
          <a:solidFill>
            <a:srgbClr val="16233D"/>
          </a:solidFill>
          <a:ln w="12700">
            <a:solidFill>
              <a:srgbClr val="16233D"/>
            </a:solidFill>
            <a:prstDash val="solid"/>
          </a:ln>
        </p:spPr>
      </p:sp>
      <p:sp>
        <p:nvSpPr>
          <p:cNvPr id="109" name="Shape 107"/>
          <p:cNvSpPr/>
          <p:nvPr/>
        </p:nvSpPr>
        <p:spPr>
          <a:xfrm>
            <a:off x="3048000" y="4025102"/>
            <a:ext cx="80554" cy="80554"/>
          </a:xfrm>
          <a:prstGeom prst="rect">
            <a:avLst/>
          </a:prstGeom>
          <a:solidFill>
            <a:srgbClr val="16233D"/>
          </a:solidFill>
          <a:ln w="12700">
            <a:solidFill>
              <a:srgbClr val="16233D"/>
            </a:solidFill>
            <a:prstDash val="solid"/>
          </a:ln>
        </p:spPr>
      </p:sp>
      <p:sp>
        <p:nvSpPr>
          <p:cNvPr id="110" name="Shape 108"/>
          <p:cNvSpPr/>
          <p:nvPr/>
        </p:nvSpPr>
        <p:spPr>
          <a:xfrm>
            <a:off x="3209109" y="4025102"/>
            <a:ext cx="80554" cy="80554"/>
          </a:xfrm>
          <a:prstGeom prst="rect">
            <a:avLst/>
          </a:prstGeom>
          <a:solidFill>
            <a:srgbClr val="16233D"/>
          </a:solidFill>
          <a:ln w="12700">
            <a:solidFill>
              <a:srgbClr val="16233D"/>
            </a:solidFill>
            <a:prstDash val="solid"/>
          </a:ln>
        </p:spPr>
      </p:sp>
      <p:sp>
        <p:nvSpPr>
          <p:cNvPr id="111" name="Shape 109"/>
          <p:cNvSpPr/>
          <p:nvPr/>
        </p:nvSpPr>
        <p:spPr>
          <a:xfrm>
            <a:off x="3531326" y="4025102"/>
            <a:ext cx="80554" cy="80554"/>
          </a:xfrm>
          <a:prstGeom prst="rect">
            <a:avLst/>
          </a:prstGeom>
          <a:solidFill>
            <a:srgbClr val="16233D"/>
          </a:solidFill>
          <a:ln w="12700">
            <a:solidFill>
              <a:srgbClr val="16233D"/>
            </a:solidFill>
            <a:prstDash val="solid"/>
          </a:ln>
        </p:spPr>
      </p:sp>
      <p:sp>
        <p:nvSpPr>
          <p:cNvPr id="112" name="Shape 110"/>
          <p:cNvSpPr/>
          <p:nvPr/>
        </p:nvSpPr>
        <p:spPr>
          <a:xfrm>
            <a:off x="1920240" y="2414016"/>
            <a:ext cx="563880" cy="563880"/>
          </a:xfrm>
          <a:prstGeom prst="rect">
            <a:avLst/>
          </a:prstGeom>
          <a:solidFill>
            <a:srgbClr val="16233D"/>
          </a:solidFill>
          <a:ln w="12700">
            <a:solidFill>
              <a:srgbClr val="16233D"/>
            </a:solidFill>
            <a:prstDash val="solid"/>
          </a:ln>
        </p:spPr>
      </p:sp>
      <p:sp>
        <p:nvSpPr>
          <p:cNvPr id="113" name="Shape 111"/>
          <p:cNvSpPr/>
          <p:nvPr/>
        </p:nvSpPr>
        <p:spPr>
          <a:xfrm>
            <a:off x="2000794" y="2494570"/>
            <a:ext cx="402771" cy="402771"/>
          </a:xfrm>
          <a:prstGeom prst="rect">
            <a:avLst/>
          </a:prstGeom>
          <a:solidFill>
            <a:srgbClr val="FFFFFF"/>
          </a:solidFill>
          <a:ln w="12700">
            <a:solidFill>
              <a:srgbClr val="FFFFFF"/>
            </a:solidFill>
            <a:prstDash val="solid"/>
          </a:ln>
        </p:spPr>
      </p:sp>
      <p:sp>
        <p:nvSpPr>
          <p:cNvPr id="114" name="Shape 112"/>
          <p:cNvSpPr/>
          <p:nvPr/>
        </p:nvSpPr>
        <p:spPr>
          <a:xfrm>
            <a:off x="2081349" y="2575125"/>
            <a:ext cx="241663" cy="241663"/>
          </a:xfrm>
          <a:prstGeom prst="rect">
            <a:avLst/>
          </a:prstGeom>
          <a:solidFill>
            <a:srgbClr val="16233D"/>
          </a:solidFill>
          <a:ln w="12700">
            <a:solidFill>
              <a:srgbClr val="16233D"/>
            </a:solidFill>
            <a:prstDash val="solid"/>
          </a:ln>
        </p:spPr>
      </p:sp>
      <p:sp>
        <p:nvSpPr>
          <p:cNvPr id="115" name="Shape 113"/>
          <p:cNvSpPr/>
          <p:nvPr/>
        </p:nvSpPr>
        <p:spPr>
          <a:xfrm>
            <a:off x="3048000" y="2414016"/>
            <a:ext cx="563880" cy="563880"/>
          </a:xfrm>
          <a:prstGeom prst="rect">
            <a:avLst/>
          </a:prstGeom>
          <a:solidFill>
            <a:srgbClr val="16233D"/>
          </a:solidFill>
          <a:ln w="12700">
            <a:solidFill>
              <a:srgbClr val="16233D"/>
            </a:solidFill>
            <a:prstDash val="solid"/>
          </a:ln>
        </p:spPr>
      </p:sp>
      <p:sp>
        <p:nvSpPr>
          <p:cNvPr id="116" name="Shape 114"/>
          <p:cNvSpPr/>
          <p:nvPr/>
        </p:nvSpPr>
        <p:spPr>
          <a:xfrm>
            <a:off x="3128554" y="2494570"/>
            <a:ext cx="402771" cy="402771"/>
          </a:xfrm>
          <a:prstGeom prst="rect">
            <a:avLst/>
          </a:prstGeom>
          <a:solidFill>
            <a:srgbClr val="FFFFFF"/>
          </a:solidFill>
          <a:ln w="12700">
            <a:solidFill>
              <a:srgbClr val="FFFFFF"/>
            </a:solidFill>
            <a:prstDash val="solid"/>
          </a:ln>
        </p:spPr>
      </p:sp>
      <p:sp>
        <p:nvSpPr>
          <p:cNvPr id="117" name="Shape 115"/>
          <p:cNvSpPr/>
          <p:nvPr/>
        </p:nvSpPr>
        <p:spPr>
          <a:xfrm>
            <a:off x="3209109" y="2575125"/>
            <a:ext cx="241663" cy="241663"/>
          </a:xfrm>
          <a:prstGeom prst="rect">
            <a:avLst/>
          </a:prstGeom>
          <a:solidFill>
            <a:srgbClr val="16233D"/>
          </a:solidFill>
          <a:ln w="12700">
            <a:solidFill>
              <a:srgbClr val="16233D"/>
            </a:solidFill>
            <a:prstDash val="solid"/>
          </a:ln>
        </p:spPr>
      </p:sp>
      <p:sp>
        <p:nvSpPr>
          <p:cNvPr id="118" name="Shape 116"/>
          <p:cNvSpPr/>
          <p:nvPr/>
        </p:nvSpPr>
        <p:spPr>
          <a:xfrm>
            <a:off x="1920240" y="3541776"/>
            <a:ext cx="563880" cy="563880"/>
          </a:xfrm>
          <a:prstGeom prst="rect">
            <a:avLst/>
          </a:prstGeom>
          <a:solidFill>
            <a:srgbClr val="16233D"/>
          </a:solidFill>
          <a:ln w="12700">
            <a:solidFill>
              <a:srgbClr val="16233D"/>
            </a:solidFill>
            <a:prstDash val="solid"/>
          </a:ln>
        </p:spPr>
      </p:sp>
      <p:sp>
        <p:nvSpPr>
          <p:cNvPr id="119" name="Shape 117"/>
          <p:cNvSpPr/>
          <p:nvPr/>
        </p:nvSpPr>
        <p:spPr>
          <a:xfrm>
            <a:off x="2000794" y="3622330"/>
            <a:ext cx="402771" cy="402771"/>
          </a:xfrm>
          <a:prstGeom prst="rect">
            <a:avLst/>
          </a:prstGeom>
          <a:solidFill>
            <a:srgbClr val="FFFFFF"/>
          </a:solidFill>
          <a:ln w="12700">
            <a:solidFill>
              <a:srgbClr val="FFFFFF"/>
            </a:solidFill>
            <a:prstDash val="solid"/>
          </a:ln>
        </p:spPr>
      </p:sp>
      <p:sp>
        <p:nvSpPr>
          <p:cNvPr id="120" name="Shape 118"/>
          <p:cNvSpPr/>
          <p:nvPr/>
        </p:nvSpPr>
        <p:spPr>
          <a:xfrm>
            <a:off x="2081349" y="3702885"/>
            <a:ext cx="241663" cy="241663"/>
          </a:xfrm>
          <a:prstGeom prst="rect">
            <a:avLst/>
          </a:prstGeom>
          <a:solidFill>
            <a:srgbClr val="16233D"/>
          </a:solidFill>
          <a:ln w="12700">
            <a:solidFill>
              <a:srgbClr val="16233D"/>
            </a:solidFill>
            <a:prstDash val="solid"/>
          </a:ln>
        </p:spPr>
      </p:sp>
      <p:sp>
        <p:nvSpPr>
          <p:cNvPr id="121" name="Text 119"/>
          <p:cNvSpPr/>
          <p:nvPr/>
        </p:nvSpPr>
        <p:spPr>
          <a:xfrm>
            <a:off x="1737360" y="4224528"/>
            <a:ext cx="2057400" cy="182880"/>
          </a:xfrm>
          <a:prstGeom prst="rect">
            <a:avLst/>
          </a:prstGeom>
          <a:noFill/>
          <a:ln/>
        </p:spPr>
        <p:txBody>
          <a:bodyPr wrap="square" lIns="0" tIns="0" rIns="0" bIns="0" rtlCol="0" anchor="t"/>
          <a:lstStyle/>
          <a:p>
            <a:pPr algn="ctr" indent="0" marL="0">
              <a:buNone/>
            </a:pPr>
            <a:r>
              <a:rPr lang="en-US" sz="650" dirty="0">
                <a:solidFill>
                  <a:srgbClr val="6B7385"/>
                </a:solidFill>
                <a:latin typeface="Arial" pitchFamily="34" charset="0"/>
                <a:ea typeface="Arial" pitchFamily="34" charset="-122"/>
                <a:cs typeface="Arial" pitchFamily="34" charset="-120"/>
              </a:rPr>
              <a:t>Mã minh họa</a:t>
            </a:r>
            <a:endParaRPr lang="en-US" sz="650" dirty="0"/>
          </a:p>
        </p:txBody>
      </p:sp>
      <p:sp>
        <p:nvSpPr>
          <p:cNvPr id="122" name="Text 120"/>
          <p:cNvSpPr/>
          <p:nvPr/>
        </p:nvSpPr>
        <p:spPr>
          <a:xfrm>
            <a:off x="1737360" y="4498848"/>
            <a:ext cx="2057400" cy="411480"/>
          </a:xfrm>
          <a:prstGeom prst="rect">
            <a:avLst/>
          </a:prstGeom>
          <a:noFill/>
          <a:ln/>
        </p:spPr>
        <p:txBody>
          <a:bodyPr wrap="square" lIns="0" tIns="0" rIns="0" bIns="0" rtlCol="0" anchor="t"/>
          <a:lstStyle/>
          <a:p>
            <a:pPr algn="ctr" indent="0" marL="0">
              <a:buNone/>
            </a:pPr>
            <a:r>
              <a:rPr lang="en-US" sz="750" dirty="0">
                <a:solidFill>
                  <a:srgbClr val="6B7385"/>
                </a:solidFill>
                <a:latin typeface="Arial" pitchFamily="34" charset="0"/>
                <a:ea typeface="Arial" pitchFamily="34" charset="-122"/>
                <a:cs typeface="Arial" pitchFamily="34" charset="-120"/>
              </a:rPr>
              <a:t>Nội dung chuyển khoản</a:t>
            </a:r>
            <a:endParaRPr lang="en-US" sz="750" dirty="0"/>
          </a:p>
          <a:p>
            <a:pPr algn="ctr" indent="0" marL="0">
              <a:buNone/>
            </a:pPr>
            <a:r>
              <a:rPr lang="en-US" sz="900" b="1" dirty="0">
                <a:solidFill>
                  <a:srgbClr val="16233D"/>
                </a:solidFill>
                <a:latin typeface="Arial" pitchFamily="34" charset="0"/>
                <a:ea typeface="Arial" pitchFamily="34" charset="-122"/>
                <a:cs typeface="Arial" pitchFamily="34" charset="-120"/>
              </a:rPr>
              <a:t>GS · mã khoản trả của bạn</a:t>
            </a:r>
            <a:endParaRPr lang="en-US" sz="750" dirty="0"/>
          </a:p>
        </p:txBody>
      </p:sp>
      <p:sp>
        <p:nvSpPr>
          <p:cNvPr id="123" name="Shape 121"/>
          <p:cNvSpPr/>
          <p:nvPr/>
        </p:nvSpPr>
        <p:spPr>
          <a:xfrm>
            <a:off x="1737360" y="5093208"/>
            <a:ext cx="2057400" cy="411480"/>
          </a:xfrm>
          <a:prstGeom prst="roundRect">
            <a:avLst>
              <a:gd name="adj" fmla="val 48889"/>
            </a:avLst>
          </a:prstGeom>
          <a:solidFill>
            <a:srgbClr val="E3F6EF"/>
          </a:solidFill>
          <a:ln w="12700">
            <a:solidFill>
              <a:srgbClr val="E3F6EF"/>
            </a:solidFill>
            <a:prstDash val="solid"/>
          </a:ln>
        </p:spPr>
      </p:sp>
      <p:sp>
        <p:nvSpPr>
          <p:cNvPr id="124" name="Text 122"/>
          <p:cNvSpPr/>
          <p:nvPr/>
        </p:nvSpPr>
        <p:spPr>
          <a:xfrm>
            <a:off x="1737360" y="5093208"/>
            <a:ext cx="2057400" cy="411480"/>
          </a:xfrm>
          <a:prstGeom prst="rect">
            <a:avLst/>
          </a:prstGeom>
          <a:noFill/>
          <a:ln/>
        </p:spPr>
        <p:txBody>
          <a:bodyPr wrap="square" lIns="0" tIns="0" rIns="0" bIns="0" rtlCol="0" anchor="ctr"/>
          <a:lstStyle/>
          <a:p>
            <a:pPr algn="ctr" indent="0" marL="0">
              <a:buNone/>
            </a:pPr>
            <a:r>
              <a:rPr lang="en-US" sz="900" b="1" dirty="0">
                <a:solidFill>
                  <a:srgbClr val="0E8B6C"/>
                </a:solidFill>
                <a:latin typeface="Arial" pitchFamily="34" charset="0"/>
                <a:ea typeface="Arial" pitchFamily="34" charset="-122"/>
                <a:cs typeface="Arial" pitchFamily="34" charset="-120"/>
              </a:rPr>
              <a:t>✓  Đã nhận tiền · tự xác nhận</a:t>
            </a:r>
            <a:endParaRPr lang="en-US" sz="900" dirty="0"/>
          </a:p>
        </p:txBody>
      </p:sp>
      <p:sp>
        <p:nvSpPr>
          <p:cNvPr id="125" name="Text 123"/>
          <p:cNvSpPr/>
          <p:nvPr/>
        </p:nvSpPr>
        <p:spPr>
          <a:xfrm>
            <a:off x="5669280" y="822960"/>
            <a:ext cx="5882335" cy="274320"/>
          </a:xfrm>
          <a:prstGeom prst="rect">
            <a:avLst/>
          </a:prstGeom>
          <a:noFill/>
          <a:ln/>
        </p:spPr>
        <p:txBody>
          <a:bodyPr wrap="square" lIns="0" tIns="0" rIns="0" bIns="0" rtlCol="0" anchor="ctr"/>
          <a:lstStyle/>
          <a:p>
            <a:pPr indent="0" marL="0">
              <a:buNone/>
            </a:pPr>
            <a:r>
              <a:rPr lang="en-US" sz="1100" b="1" spc="200" kern="0" dirty="0">
                <a:solidFill>
                  <a:srgbClr val="14B88F"/>
                </a:solidFill>
                <a:latin typeface="Arial" pitchFamily="34" charset="0"/>
                <a:ea typeface="Arial" pitchFamily="34" charset="-122"/>
                <a:cs typeface="Arial" pitchFamily="34" charset="-120"/>
              </a:rPr>
              <a:t>TRẢ NỢ MỘT CHẠM</a:t>
            </a:r>
            <a:endParaRPr lang="en-US" sz="1100" dirty="0"/>
          </a:p>
        </p:txBody>
      </p:sp>
      <p:sp>
        <p:nvSpPr>
          <p:cNvPr id="126" name="Text 124"/>
          <p:cNvSpPr/>
          <p:nvPr/>
        </p:nvSpPr>
        <p:spPr>
          <a:xfrm>
            <a:off x="5669280" y="1143000"/>
            <a:ext cx="5882335" cy="731520"/>
          </a:xfrm>
          <a:prstGeom prst="rect">
            <a:avLst/>
          </a:prstGeom>
          <a:noFill/>
          <a:ln/>
        </p:spPr>
        <p:txBody>
          <a:bodyPr wrap="square" lIns="0" tIns="0" rIns="0" bIns="0" rtlCol="0" anchor="t"/>
          <a:lstStyle/>
          <a:p>
            <a:pPr indent="0" marL="0">
              <a:buNone/>
            </a:pPr>
            <a:r>
              <a:rPr lang="en-US" sz="3200" b="1" dirty="0">
                <a:solidFill>
                  <a:srgbClr val="16233D"/>
                </a:solidFill>
                <a:latin typeface="Arial" pitchFamily="34" charset="0"/>
                <a:ea typeface="Arial" pitchFamily="34" charset="-122"/>
                <a:cs typeface="Arial" pitchFamily="34" charset="-120"/>
              </a:rPr>
              <a:t>Quét một lần, </a:t>
            </a:r>
            <a:pPr indent="0" marL="0">
              <a:buNone/>
            </a:pPr>
            <a:r>
              <a:rPr lang="en-US" sz="3200" b="1" dirty="0">
                <a:solidFill>
                  <a:srgbClr val="2F7BF5"/>
                </a:solidFill>
                <a:latin typeface="Arial" pitchFamily="34" charset="0"/>
                <a:ea typeface="Arial" pitchFamily="34" charset="-122"/>
                <a:cs typeface="Arial" pitchFamily="34" charset="-120"/>
              </a:rPr>
              <a:t>nợ tự xóa.</a:t>
            </a:r>
            <a:endParaRPr lang="en-US" sz="3200" dirty="0"/>
          </a:p>
        </p:txBody>
      </p:sp>
      <p:sp>
        <p:nvSpPr>
          <p:cNvPr id="127" name="Shape 125"/>
          <p:cNvSpPr/>
          <p:nvPr/>
        </p:nvSpPr>
        <p:spPr>
          <a:xfrm>
            <a:off x="5669280" y="2240280"/>
            <a:ext cx="457200" cy="457200"/>
          </a:xfrm>
          <a:prstGeom prst="ellipse">
            <a:avLst/>
          </a:prstGeom>
          <a:solidFill>
            <a:srgbClr val="14B88F"/>
          </a:solidFill>
          <a:ln w="12700">
            <a:solidFill>
              <a:srgbClr val="14B88F"/>
            </a:solidFill>
            <a:prstDash val="solid"/>
          </a:ln>
        </p:spPr>
      </p:sp>
      <p:sp>
        <p:nvSpPr>
          <p:cNvPr id="128" name="Text 126"/>
          <p:cNvSpPr/>
          <p:nvPr/>
        </p:nvSpPr>
        <p:spPr>
          <a:xfrm>
            <a:off x="5669280" y="22402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29" name="Text 127"/>
          <p:cNvSpPr/>
          <p:nvPr/>
        </p:nvSpPr>
        <p:spPr>
          <a:xfrm>
            <a:off x="6355080" y="2194560"/>
            <a:ext cx="5196535" cy="1143000"/>
          </a:xfrm>
          <a:prstGeom prst="rect">
            <a:avLst/>
          </a:prstGeom>
          <a:noFill/>
          <a:ln/>
        </p:spPr>
        <p:txBody>
          <a:bodyPr wrap="square" lIns="0" tIns="0" rIns="0" bIns="0" rtlCol="0" anchor="t"/>
          <a:lstStyle/>
          <a:p>
            <a:pPr indent="0" marL="0">
              <a:spcAft>
                <a:spcPts val="400"/>
              </a:spcAft>
              <a:buNone/>
            </a:pPr>
            <a:r>
              <a:rPr lang="en-US" sz="1700" b="1" dirty="0">
                <a:solidFill>
                  <a:srgbClr val="16233D"/>
                </a:solidFill>
                <a:latin typeface="Arial" pitchFamily="34" charset="0"/>
                <a:ea typeface="Arial" pitchFamily="34" charset="-122"/>
                <a:cs typeface="Arial" pitchFamily="34" charset="-120"/>
              </a:rPr>
              <a:t>Không phải gõ số tài khoản</a:t>
            </a:r>
            <a:endParaRPr lang="en-US" sz="1700" dirty="0"/>
          </a:p>
          <a:p>
            <a:pPr indent="0" marL="0">
              <a:buNone/>
            </a:pPr>
            <a:r>
              <a:rPr lang="en-US" sz="1350" dirty="0">
                <a:solidFill>
                  <a:srgbClr val="4B5568"/>
                </a:solidFill>
                <a:latin typeface="Arial" pitchFamily="34" charset="0"/>
                <a:ea typeface="Arial" pitchFamily="34" charset="-122"/>
                <a:cs typeface="Arial" pitchFamily="34" charset="-120"/>
              </a:rPr>
              <a:t>Mã VietQR điền sẵn ngân hàng, số tài khoản, số tiền và nội dung. Dùng được với hầu hết app ngân hàng Việt Nam.</a:t>
            </a:r>
            <a:endParaRPr lang="en-US" sz="1700" dirty="0"/>
          </a:p>
        </p:txBody>
      </p:sp>
      <p:sp>
        <p:nvSpPr>
          <p:cNvPr id="130" name="Shape 128"/>
          <p:cNvSpPr/>
          <p:nvPr/>
        </p:nvSpPr>
        <p:spPr>
          <a:xfrm>
            <a:off x="5669280" y="3474720"/>
            <a:ext cx="457200" cy="457200"/>
          </a:xfrm>
          <a:prstGeom prst="ellipse">
            <a:avLst/>
          </a:prstGeom>
          <a:solidFill>
            <a:srgbClr val="2F7BF5"/>
          </a:solidFill>
          <a:ln w="12700">
            <a:solidFill>
              <a:srgbClr val="2F7BF5"/>
            </a:solidFill>
            <a:prstDash val="solid"/>
          </a:ln>
        </p:spPr>
      </p:sp>
      <p:sp>
        <p:nvSpPr>
          <p:cNvPr id="131" name="Text 129"/>
          <p:cNvSpPr/>
          <p:nvPr/>
        </p:nvSpPr>
        <p:spPr>
          <a:xfrm>
            <a:off x="5669280" y="34747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32" name="Text 130"/>
          <p:cNvSpPr/>
          <p:nvPr/>
        </p:nvSpPr>
        <p:spPr>
          <a:xfrm>
            <a:off x="6355080" y="3429000"/>
            <a:ext cx="5196535" cy="1143000"/>
          </a:xfrm>
          <a:prstGeom prst="rect">
            <a:avLst/>
          </a:prstGeom>
          <a:noFill/>
          <a:ln/>
        </p:spPr>
        <p:txBody>
          <a:bodyPr wrap="square" lIns="0" tIns="0" rIns="0" bIns="0" rtlCol="0" anchor="t"/>
          <a:lstStyle/>
          <a:p>
            <a:pPr indent="0" marL="0">
              <a:spcAft>
                <a:spcPts val="400"/>
              </a:spcAft>
              <a:buNone/>
            </a:pPr>
            <a:r>
              <a:rPr lang="en-US" sz="1700" b="1" dirty="0">
                <a:solidFill>
                  <a:srgbClr val="16233D"/>
                </a:solidFill>
                <a:latin typeface="Arial" pitchFamily="34" charset="0"/>
                <a:ea typeface="Arial" pitchFamily="34" charset="-122"/>
                <a:cs typeface="Arial" pitchFamily="34" charset="-120"/>
              </a:rPr>
              <a:t>Không phải gửi ảnh chụp màn hình</a:t>
            </a:r>
            <a:endParaRPr lang="en-US" sz="1700" dirty="0"/>
          </a:p>
          <a:p>
            <a:pPr indent="0" marL="0">
              <a:buNone/>
            </a:pPr>
            <a:r>
              <a:rPr lang="en-US" sz="1350" dirty="0">
                <a:solidFill>
                  <a:srgbClr val="4B5568"/>
                </a:solidFill>
                <a:latin typeface="Arial" pitchFamily="34" charset="0"/>
                <a:ea typeface="Arial" pitchFamily="34" charset="-122"/>
                <a:cs typeface="Arial" pitchFamily="34" charset="-120"/>
              </a:rPr>
              <a:t>Khi người nhận bật kết nối SePay, tiền về là khoản nợ tự đóng và cả nhóm nhận thông báo.</a:t>
            </a:r>
            <a:endParaRPr lang="en-US" sz="1700" dirty="0"/>
          </a:p>
        </p:txBody>
      </p:sp>
      <p:sp>
        <p:nvSpPr>
          <p:cNvPr id="133" name="Shape 131"/>
          <p:cNvSpPr/>
          <p:nvPr/>
        </p:nvSpPr>
        <p:spPr>
          <a:xfrm>
            <a:off x="5669280" y="4709160"/>
            <a:ext cx="457200" cy="457200"/>
          </a:xfrm>
          <a:prstGeom prst="ellipse">
            <a:avLst/>
          </a:prstGeom>
          <a:solidFill>
            <a:srgbClr val="14B88F"/>
          </a:solidFill>
          <a:ln w="12700">
            <a:solidFill>
              <a:srgbClr val="14B88F"/>
            </a:solidFill>
            <a:prstDash val="solid"/>
          </a:ln>
        </p:spPr>
      </p:sp>
      <p:sp>
        <p:nvSpPr>
          <p:cNvPr id="134" name="Text 132"/>
          <p:cNvSpPr/>
          <p:nvPr/>
        </p:nvSpPr>
        <p:spPr>
          <a:xfrm>
            <a:off x="5669280" y="4709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35" name="Text 133"/>
          <p:cNvSpPr/>
          <p:nvPr/>
        </p:nvSpPr>
        <p:spPr>
          <a:xfrm>
            <a:off x="6355080" y="4663440"/>
            <a:ext cx="5196535" cy="1143000"/>
          </a:xfrm>
          <a:prstGeom prst="rect">
            <a:avLst/>
          </a:prstGeom>
          <a:noFill/>
          <a:ln/>
        </p:spPr>
        <p:txBody>
          <a:bodyPr wrap="square" lIns="0" tIns="0" rIns="0" bIns="0" rtlCol="0" anchor="t"/>
          <a:lstStyle/>
          <a:p>
            <a:pPr indent="0" marL="0">
              <a:spcAft>
                <a:spcPts val="400"/>
              </a:spcAft>
              <a:buNone/>
            </a:pPr>
            <a:r>
              <a:rPr lang="en-US" sz="1700" b="1" dirty="0">
                <a:solidFill>
                  <a:srgbClr val="16233D"/>
                </a:solidFill>
                <a:latin typeface="Arial" pitchFamily="34" charset="0"/>
                <a:ea typeface="Arial" pitchFamily="34" charset="-122"/>
                <a:cs typeface="Arial" pitchFamily="34" charset="-120"/>
              </a:rPr>
              <a:t>Không gạch nhầm</a:t>
            </a:r>
            <a:endParaRPr lang="en-US" sz="1700" dirty="0"/>
          </a:p>
          <a:p>
            <a:pPr indent="0" marL="0">
              <a:buNone/>
            </a:pPr>
            <a:r>
              <a:rPr lang="en-US" sz="1350" dirty="0">
                <a:solidFill>
                  <a:srgbClr val="4B5568"/>
                </a:solidFill>
                <a:latin typeface="Arial" pitchFamily="34" charset="0"/>
                <a:ea typeface="Arial" pitchFamily="34" charset="-122"/>
                <a:cs typeface="Arial" pitchFamily="34" charset="-120"/>
              </a:rPr>
              <a:t>Hệ thống chỉ gạch nợ khi tiền vào đúng tài khoản người nhận và đủ số tiền.</a:t>
            </a:r>
            <a:endParaRPr lang="en-US" sz="1700" dirty="0"/>
          </a:p>
        </p:txBody>
      </p:sp>
      <p:sp>
        <p:nvSpPr>
          <p:cNvPr id="136" name="Text 134"/>
          <p:cNvSpPr/>
          <p:nvPr/>
        </p:nvSpPr>
        <p:spPr>
          <a:xfrm>
            <a:off x="640080" y="6355080"/>
            <a:ext cx="2743200" cy="274320"/>
          </a:xfrm>
          <a:prstGeom prst="rect">
            <a:avLst/>
          </a:prstGeom>
          <a:noFill/>
          <a:ln/>
        </p:spPr>
        <p:txBody>
          <a:bodyPr wrap="square" lIns="0" tIns="0" rIns="0" bIns="0" rtlCol="0" anchor="ctr"/>
          <a:lstStyle/>
          <a:p>
            <a:pPr indent="0" marL="0">
              <a:buNone/>
            </a:pPr>
            <a:r>
              <a:rPr lang="en-US" sz="1100" b="1" dirty="0">
                <a:solidFill>
                  <a:srgbClr val="16233D"/>
                </a:solidFill>
                <a:latin typeface="Arial" pitchFamily="34" charset="0"/>
                <a:ea typeface="Arial" pitchFamily="34" charset="-122"/>
                <a:cs typeface="Arial" pitchFamily="34" charset="-120"/>
              </a:rPr>
              <a:t>Group</a:t>
            </a:r>
            <a:pPr indent="0" marL="0">
              <a:buNone/>
            </a:pPr>
            <a:r>
              <a:rPr lang="en-US" sz="1100" b="1" dirty="0">
                <a:solidFill>
                  <a:srgbClr val="2F7BF5"/>
                </a:solidFill>
                <a:latin typeface="Arial" pitchFamily="34" charset="0"/>
                <a:ea typeface="Arial" pitchFamily="34" charset="-122"/>
                <a:cs typeface="Arial" pitchFamily="34" charset="-120"/>
              </a:rPr>
              <a:t>Split</a:t>
            </a:r>
            <a:endParaRPr lang="en-US" sz="1100" dirty="0"/>
          </a:p>
        </p:txBody>
      </p:sp>
      <p:sp>
        <p:nvSpPr>
          <p:cNvPr id="137" name="Text 135"/>
          <p:cNvSpPr/>
          <p:nvPr/>
        </p:nvSpPr>
        <p:spPr>
          <a:xfrm>
            <a:off x="10637215" y="6355080"/>
            <a:ext cx="914400" cy="274320"/>
          </a:xfrm>
          <a:prstGeom prst="rect">
            <a:avLst/>
          </a:prstGeom>
          <a:noFill/>
          <a:ln/>
        </p:spPr>
        <p:txBody>
          <a:bodyPr wrap="square" lIns="0" tIns="0" rIns="0" bIns="0" rtlCol="0" anchor="ctr"/>
          <a:lstStyle/>
          <a:p>
            <a:pPr algn="r" indent="0" marL="0">
              <a:buNone/>
            </a:pPr>
            <a:r>
              <a:rPr lang="en-US" sz="1000" dirty="0">
                <a:solidFill>
                  <a:srgbClr val="6B7385"/>
                </a:solidFill>
                <a:latin typeface="Arial" pitchFamily="34" charset="0"/>
                <a:ea typeface="Arial" pitchFamily="34" charset="-122"/>
                <a:cs typeface="Arial"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11535" cy="274320"/>
          </a:xfrm>
          <a:prstGeom prst="rect">
            <a:avLst/>
          </a:prstGeom>
          <a:noFill/>
          <a:ln/>
        </p:spPr>
        <p:txBody>
          <a:bodyPr wrap="square" lIns="0" tIns="0" rIns="0" bIns="0" rtlCol="0" anchor="ctr"/>
          <a:lstStyle/>
          <a:p>
            <a:pPr indent="0" marL="0">
              <a:buNone/>
            </a:pPr>
            <a:r>
              <a:rPr lang="en-US" sz="1100" b="1" spc="200" kern="0" dirty="0">
                <a:solidFill>
                  <a:srgbClr val="14B88F"/>
                </a:solidFill>
                <a:latin typeface="Arial" pitchFamily="34" charset="0"/>
                <a:ea typeface="Arial" pitchFamily="34" charset="-122"/>
                <a:cs typeface="Arial" pitchFamily="34" charset="-120"/>
              </a:rPr>
              <a:t>QUỸ NHÓM</a:t>
            </a:r>
            <a:endParaRPr lang="en-US" sz="1100" dirty="0"/>
          </a:p>
        </p:txBody>
      </p:sp>
      <p:sp>
        <p:nvSpPr>
          <p:cNvPr id="3" name="Text 1"/>
          <p:cNvSpPr/>
          <p:nvPr/>
        </p:nvSpPr>
        <p:spPr>
          <a:xfrm>
            <a:off x="640080" y="868680"/>
            <a:ext cx="5760720" cy="1188720"/>
          </a:xfrm>
          <a:prstGeom prst="rect">
            <a:avLst/>
          </a:prstGeom>
          <a:noFill/>
          <a:ln/>
        </p:spPr>
        <p:txBody>
          <a:bodyPr wrap="square" lIns="0" tIns="0" rIns="0" bIns="0" rtlCol="0" anchor="t"/>
          <a:lstStyle/>
          <a:p>
            <a:pPr indent="0" marL="0">
              <a:buNone/>
            </a:pPr>
            <a:r>
              <a:rPr lang="en-US" sz="3400" b="1" dirty="0">
                <a:solidFill>
                  <a:srgbClr val="16233D"/>
                </a:solidFill>
                <a:latin typeface="Arial" pitchFamily="34" charset="0"/>
                <a:ea typeface="Arial" pitchFamily="34" charset="-122"/>
                <a:cs typeface="Arial" pitchFamily="34" charset="-120"/>
              </a:rPr>
              <a:t>Quỹ chung rõ ràng</a:t>
            </a:r>
            <a:endParaRPr lang="en-US" sz="3400" dirty="0"/>
          </a:p>
          <a:p>
            <a:pPr indent="0" marL="0">
              <a:buNone/>
            </a:pPr>
            <a:r>
              <a:rPr lang="en-US" sz="3400" b="1" dirty="0">
                <a:solidFill>
                  <a:srgbClr val="2F7BF5"/>
                </a:solidFill>
                <a:latin typeface="Arial" pitchFamily="34" charset="0"/>
                <a:ea typeface="Arial" pitchFamily="34" charset="-122"/>
                <a:cs typeface="Arial" pitchFamily="34" charset="-120"/>
              </a:rPr>
              <a:t>đến từng đồng</a:t>
            </a:r>
            <a:endParaRPr lang="en-US" sz="3400" dirty="0"/>
          </a:p>
        </p:txBody>
      </p:sp>
      <p:sp>
        <p:nvSpPr>
          <p:cNvPr id="4" name="Text 2"/>
          <p:cNvSpPr/>
          <p:nvPr/>
        </p:nvSpPr>
        <p:spPr>
          <a:xfrm>
            <a:off x="640080" y="2103120"/>
            <a:ext cx="5394960" cy="777240"/>
          </a:xfrm>
          <a:prstGeom prst="rect">
            <a:avLst/>
          </a:prstGeom>
          <a:noFill/>
          <a:ln/>
        </p:spPr>
        <p:txBody>
          <a:bodyPr wrap="square" lIns="0" tIns="0" rIns="0" bIns="0" rtlCol="0" anchor="t"/>
          <a:lstStyle/>
          <a:p>
            <a:pPr indent="0" marL="0">
              <a:buNone/>
            </a:pPr>
            <a:r>
              <a:rPr lang="en-US" sz="1600" dirty="0">
                <a:solidFill>
                  <a:srgbClr val="4B5568"/>
                </a:solidFill>
                <a:latin typeface="Arial" pitchFamily="34" charset="0"/>
                <a:ea typeface="Arial" pitchFamily="34" charset="-122"/>
                <a:cs typeface="Arial" pitchFamily="34" charset="-120"/>
              </a:rPr>
              <a:t>Hợp với phòng trọ, nhóm ăn chung, câu lạc bộ, hay bất kỳ nhóm nào có một người giữ tiền chung.</a:t>
            </a:r>
            <a:endParaRPr lang="en-US" sz="1600" dirty="0"/>
          </a:p>
        </p:txBody>
      </p:sp>
      <p:sp>
        <p:nvSpPr>
          <p:cNvPr id="5" name="Shape 3"/>
          <p:cNvSpPr/>
          <p:nvPr/>
        </p:nvSpPr>
        <p:spPr>
          <a:xfrm>
            <a:off x="640080" y="3072384"/>
            <a:ext cx="64008" cy="777240"/>
          </a:xfrm>
          <a:prstGeom prst="rect">
            <a:avLst/>
          </a:prstGeom>
          <a:solidFill>
            <a:srgbClr val="14B88F"/>
          </a:solidFill>
          <a:ln w="12700">
            <a:solidFill>
              <a:srgbClr val="14B88F"/>
            </a:solidFill>
            <a:prstDash val="solid"/>
          </a:ln>
        </p:spPr>
      </p:sp>
      <p:sp>
        <p:nvSpPr>
          <p:cNvPr id="6" name="Text 4"/>
          <p:cNvSpPr/>
          <p:nvPr/>
        </p:nvSpPr>
        <p:spPr>
          <a:xfrm>
            <a:off x="914400" y="3017520"/>
            <a:ext cx="5120640" cy="914400"/>
          </a:xfrm>
          <a:prstGeom prst="rect">
            <a:avLst/>
          </a:prstGeom>
          <a:noFill/>
          <a:ln/>
        </p:spPr>
        <p:txBody>
          <a:bodyPr wrap="square" lIns="0" tIns="0" rIns="0" bIns="0" rtlCol="0" anchor="t"/>
          <a:lstStyle/>
          <a:p>
            <a:pPr indent="0" marL="0">
              <a:spcAft>
                <a:spcPts val="300"/>
              </a:spcAft>
              <a:buNone/>
            </a:pPr>
            <a:r>
              <a:rPr lang="en-US" sz="1600" b="1" dirty="0">
                <a:solidFill>
                  <a:srgbClr val="16233D"/>
                </a:solidFill>
                <a:latin typeface="Arial" pitchFamily="34" charset="0"/>
                <a:ea typeface="Arial" pitchFamily="34" charset="-122"/>
                <a:cs typeface="Arial" pitchFamily="34" charset="-120"/>
              </a:rPr>
              <a:t>Góp quỹ bằng VietQR</a:t>
            </a:r>
            <a:endParaRPr lang="en-US" sz="1600" dirty="0"/>
          </a:p>
          <a:p>
            <a:pPr indent="0" marL="0">
              <a:buNone/>
            </a:pPr>
            <a:r>
              <a:rPr lang="en-US" sz="1300" dirty="0">
                <a:solidFill>
                  <a:srgbClr val="4B5568"/>
                </a:solidFill>
                <a:latin typeface="Arial" pitchFamily="34" charset="0"/>
                <a:ea typeface="Arial" pitchFamily="34" charset="-122"/>
                <a:cs typeface="Arial" pitchFamily="34" charset="-120"/>
              </a:rPr>
              <a:t>Thành viên góp qua mã QR, trưởng nhóm xác nhận hoặc tự xác nhận qua SePay.</a:t>
            </a:r>
            <a:endParaRPr lang="en-US" sz="1600" dirty="0"/>
          </a:p>
        </p:txBody>
      </p:sp>
      <p:sp>
        <p:nvSpPr>
          <p:cNvPr id="7" name="Shape 5"/>
          <p:cNvSpPr/>
          <p:nvPr/>
        </p:nvSpPr>
        <p:spPr>
          <a:xfrm>
            <a:off x="640080" y="4059936"/>
            <a:ext cx="64008" cy="777240"/>
          </a:xfrm>
          <a:prstGeom prst="rect">
            <a:avLst/>
          </a:prstGeom>
          <a:solidFill>
            <a:srgbClr val="2F7BF5"/>
          </a:solidFill>
          <a:ln w="12700">
            <a:solidFill>
              <a:srgbClr val="2F7BF5"/>
            </a:solidFill>
            <a:prstDash val="solid"/>
          </a:ln>
        </p:spPr>
      </p:sp>
      <p:sp>
        <p:nvSpPr>
          <p:cNvPr id="8" name="Text 6"/>
          <p:cNvSpPr/>
          <p:nvPr/>
        </p:nvSpPr>
        <p:spPr>
          <a:xfrm>
            <a:off x="914400" y="4005072"/>
            <a:ext cx="5120640" cy="914400"/>
          </a:xfrm>
          <a:prstGeom prst="rect">
            <a:avLst/>
          </a:prstGeom>
          <a:noFill/>
          <a:ln/>
        </p:spPr>
        <p:txBody>
          <a:bodyPr wrap="square" lIns="0" tIns="0" rIns="0" bIns="0" rtlCol="0" anchor="t"/>
          <a:lstStyle/>
          <a:p>
            <a:pPr indent="0" marL="0">
              <a:spcAft>
                <a:spcPts val="300"/>
              </a:spcAft>
              <a:buNone/>
            </a:pPr>
            <a:r>
              <a:rPr lang="en-US" sz="1600" b="1" dirty="0">
                <a:solidFill>
                  <a:srgbClr val="16233D"/>
                </a:solidFill>
                <a:latin typeface="Arial" pitchFamily="34" charset="0"/>
                <a:ea typeface="Arial" pitchFamily="34" charset="-122"/>
                <a:cs typeface="Arial" pitchFamily="34" charset="-120"/>
              </a:rPr>
              <a:t>Chi thẳng từ quỹ</a:t>
            </a:r>
            <a:endParaRPr lang="en-US" sz="1600" dirty="0"/>
          </a:p>
          <a:p>
            <a:pPr indent="0" marL="0">
              <a:buNone/>
            </a:pPr>
            <a:r>
              <a:rPr lang="en-US" sz="1300" dirty="0">
                <a:solidFill>
                  <a:srgbClr val="4B5568"/>
                </a:solidFill>
                <a:latin typeface="Arial" pitchFamily="34" charset="0"/>
                <a:ea typeface="Arial" pitchFamily="34" charset="-122"/>
                <a:cs typeface="Arial" pitchFamily="34" charset="-120"/>
              </a:rPr>
              <a:t>Hóa đơn chi từ quỹ không tính nợ cho ai; ai ứng tiền túi sẽ được hoàn.</a:t>
            </a:r>
            <a:endParaRPr lang="en-US" sz="1600" dirty="0"/>
          </a:p>
        </p:txBody>
      </p:sp>
      <p:sp>
        <p:nvSpPr>
          <p:cNvPr id="9" name="Shape 7"/>
          <p:cNvSpPr/>
          <p:nvPr/>
        </p:nvSpPr>
        <p:spPr>
          <a:xfrm>
            <a:off x="640080" y="5047488"/>
            <a:ext cx="64008" cy="777240"/>
          </a:xfrm>
          <a:prstGeom prst="rect">
            <a:avLst/>
          </a:prstGeom>
          <a:solidFill>
            <a:srgbClr val="14B88F"/>
          </a:solidFill>
          <a:ln w="12700">
            <a:solidFill>
              <a:srgbClr val="14B88F"/>
            </a:solidFill>
            <a:prstDash val="solid"/>
          </a:ln>
        </p:spPr>
      </p:sp>
      <p:sp>
        <p:nvSpPr>
          <p:cNvPr id="10" name="Text 8"/>
          <p:cNvSpPr/>
          <p:nvPr/>
        </p:nvSpPr>
        <p:spPr>
          <a:xfrm>
            <a:off x="914400" y="4992624"/>
            <a:ext cx="5120640" cy="914400"/>
          </a:xfrm>
          <a:prstGeom prst="rect">
            <a:avLst/>
          </a:prstGeom>
          <a:noFill/>
          <a:ln/>
        </p:spPr>
        <p:txBody>
          <a:bodyPr wrap="square" lIns="0" tIns="0" rIns="0" bIns="0" rtlCol="0" anchor="t"/>
          <a:lstStyle/>
          <a:p>
            <a:pPr indent="0" marL="0">
              <a:spcAft>
                <a:spcPts val="300"/>
              </a:spcAft>
              <a:buNone/>
            </a:pPr>
            <a:r>
              <a:rPr lang="en-US" sz="1600" b="1" dirty="0">
                <a:solidFill>
                  <a:srgbClr val="16233D"/>
                </a:solidFill>
                <a:latin typeface="Arial" pitchFamily="34" charset="0"/>
                <a:ea typeface="Arial" pitchFamily="34" charset="-122"/>
                <a:cs typeface="Arial" pitchFamily="34" charset="-120"/>
              </a:rPr>
              <a:t>Thủ quỹ cấp tiền</a:t>
            </a:r>
            <a:endParaRPr lang="en-US" sz="1600" dirty="0"/>
          </a:p>
          <a:p>
            <a:pPr indent="0" marL="0">
              <a:buNone/>
            </a:pPr>
            <a:r>
              <a:rPr lang="en-US" sz="1300" dirty="0">
                <a:solidFill>
                  <a:srgbClr val="4B5568"/>
                </a:solidFill>
                <a:latin typeface="Arial" pitchFamily="34" charset="0"/>
                <a:ea typeface="Arial" pitchFamily="34" charset="-122"/>
                <a:cs typeface="Arial" pitchFamily="34" charset="-120"/>
              </a:rPr>
              <a:t>Cấp tiền đi chợ hằng ngày, hằng tuần; số dư tự cấn trừ.</a:t>
            </a:r>
            <a:endParaRPr lang="en-US" sz="1600" dirty="0"/>
          </a:p>
        </p:txBody>
      </p:sp>
      <p:sp>
        <p:nvSpPr>
          <p:cNvPr id="11" name="Shape 9"/>
          <p:cNvSpPr/>
          <p:nvPr/>
        </p:nvSpPr>
        <p:spPr>
          <a:xfrm>
            <a:off x="6675120" y="914400"/>
            <a:ext cx="4876495" cy="5120640"/>
          </a:xfrm>
          <a:prstGeom prst="roundRect">
            <a:avLst>
              <a:gd name="adj" fmla="val 2250"/>
            </a:avLst>
          </a:prstGeom>
          <a:solidFill>
            <a:srgbClr val="F5F8FC"/>
          </a:solidFill>
          <a:ln w="12700">
            <a:solidFill>
              <a:srgbClr val="F5F8FC"/>
            </a:solidFill>
            <a:prstDash val="solid"/>
          </a:ln>
        </p:spPr>
      </p:sp>
      <p:sp>
        <p:nvSpPr>
          <p:cNvPr id="12" name="Text 10"/>
          <p:cNvSpPr/>
          <p:nvPr/>
        </p:nvSpPr>
        <p:spPr>
          <a:xfrm>
            <a:off x="7086600" y="1280160"/>
            <a:ext cx="4053535" cy="274320"/>
          </a:xfrm>
          <a:prstGeom prst="rect">
            <a:avLst/>
          </a:prstGeom>
          <a:noFill/>
          <a:ln/>
        </p:spPr>
        <p:txBody>
          <a:bodyPr wrap="square" lIns="0" tIns="0" rIns="0" bIns="0" rtlCol="0" anchor="t"/>
          <a:lstStyle/>
          <a:p>
            <a:pPr indent="0" marL="0">
              <a:buNone/>
            </a:pPr>
            <a:r>
              <a:rPr lang="en-US" sz="1100" b="1" spc="100" kern="0" dirty="0">
                <a:solidFill>
                  <a:srgbClr val="6B7385"/>
                </a:solidFill>
                <a:latin typeface="Arial" pitchFamily="34" charset="0"/>
                <a:ea typeface="Arial" pitchFamily="34" charset="-122"/>
                <a:cs typeface="Arial" pitchFamily="34" charset="-120"/>
              </a:rPr>
              <a:t>QUỸ NHÓM · PHÒNG 302</a:t>
            </a:r>
            <a:endParaRPr lang="en-US" sz="1100" dirty="0"/>
          </a:p>
        </p:txBody>
      </p:sp>
      <p:sp>
        <p:nvSpPr>
          <p:cNvPr id="13" name="Text 11"/>
          <p:cNvSpPr/>
          <p:nvPr/>
        </p:nvSpPr>
        <p:spPr>
          <a:xfrm>
            <a:off x="7086600" y="1600200"/>
            <a:ext cx="4053535" cy="731520"/>
          </a:xfrm>
          <a:prstGeom prst="rect">
            <a:avLst/>
          </a:prstGeom>
          <a:noFill/>
          <a:ln/>
        </p:spPr>
        <p:txBody>
          <a:bodyPr wrap="square" lIns="0" tIns="0" rIns="0" bIns="0" rtlCol="0" anchor="t"/>
          <a:lstStyle/>
          <a:p>
            <a:pPr indent="0" marL="0">
              <a:buNone/>
            </a:pPr>
            <a:r>
              <a:rPr lang="en-US" sz="4000" b="1" dirty="0">
                <a:solidFill>
                  <a:srgbClr val="16233D"/>
                </a:solidFill>
                <a:latin typeface="Arial" pitchFamily="34" charset="0"/>
                <a:ea typeface="Arial" pitchFamily="34" charset="-122"/>
                <a:cs typeface="Arial" pitchFamily="34" charset="-120"/>
              </a:rPr>
              <a:t>2.350.000 ₫</a:t>
            </a:r>
            <a:endParaRPr lang="en-US" sz="4000" dirty="0"/>
          </a:p>
        </p:txBody>
      </p:sp>
      <p:sp>
        <p:nvSpPr>
          <p:cNvPr id="14" name="Text 12"/>
          <p:cNvSpPr/>
          <p:nvPr/>
        </p:nvSpPr>
        <p:spPr>
          <a:xfrm>
            <a:off x="7086600" y="2331720"/>
            <a:ext cx="4053535" cy="274320"/>
          </a:xfrm>
          <a:prstGeom prst="rect">
            <a:avLst/>
          </a:prstGeom>
          <a:noFill/>
          <a:ln/>
        </p:spPr>
        <p:txBody>
          <a:bodyPr wrap="square" lIns="0" tIns="0" rIns="0" bIns="0" rtlCol="0" anchor="t"/>
          <a:lstStyle/>
          <a:p>
            <a:pPr indent="0" marL="0">
              <a:buNone/>
            </a:pPr>
            <a:r>
              <a:rPr lang="en-US" sz="1200" dirty="0">
                <a:solidFill>
                  <a:srgbClr val="6B7385"/>
                </a:solidFill>
                <a:latin typeface="Arial" pitchFamily="34" charset="0"/>
                <a:ea typeface="Arial" pitchFamily="34" charset="-122"/>
                <a:cs typeface="Arial" pitchFamily="34" charset="-120"/>
              </a:rPr>
              <a:t>còn trong quỹ · cả nhóm cùng xem được</a:t>
            </a:r>
            <a:endParaRPr lang="en-US" sz="1200" dirty="0"/>
          </a:p>
        </p:txBody>
      </p:sp>
      <p:sp>
        <p:nvSpPr>
          <p:cNvPr id="15" name="Shape 13"/>
          <p:cNvSpPr/>
          <p:nvPr/>
        </p:nvSpPr>
        <p:spPr>
          <a:xfrm>
            <a:off x="6995160" y="2834640"/>
            <a:ext cx="4236415" cy="621792"/>
          </a:xfrm>
          <a:prstGeom prst="roundRect">
            <a:avLst>
              <a:gd name="adj" fmla="val 11765"/>
            </a:avLst>
          </a:prstGeom>
          <a:solidFill>
            <a:srgbClr val="FFFFFF"/>
          </a:solidFill>
          <a:ln w="12700">
            <a:solidFill>
              <a:srgbClr val="FFFFFF"/>
            </a:solidFill>
            <a:prstDash val="solid"/>
          </a:ln>
        </p:spPr>
      </p:sp>
      <p:sp>
        <p:nvSpPr>
          <p:cNvPr id="16" name="Text 14"/>
          <p:cNvSpPr/>
          <p:nvPr/>
        </p:nvSpPr>
        <p:spPr>
          <a:xfrm>
            <a:off x="7178040" y="2907792"/>
            <a:ext cx="2499055" cy="502920"/>
          </a:xfrm>
          <a:prstGeom prst="rect">
            <a:avLst/>
          </a:prstGeom>
          <a:noFill/>
          <a:ln/>
        </p:spPr>
        <p:txBody>
          <a:bodyPr wrap="square" lIns="0" tIns="0" rIns="0" bIns="0" rtlCol="0" anchor="t"/>
          <a:lstStyle/>
          <a:p>
            <a:pPr indent="0" marL="0">
              <a:buNone/>
            </a:pPr>
            <a:r>
              <a:rPr lang="en-US" sz="1250" b="1" dirty="0">
                <a:solidFill>
                  <a:srgbClr val="16233D"/>
                </a:solidFill>
                <a:latin typeface="Arial" pitchFamily="34" charset="0"/>
                <a:ea typeface="Arial" pitchFamily="34" charset="-122"/>
                <a:cs typeface="Arial" pitchFamily="34" charset="-120"/>
              </a:rPr>
              <a:t>Chi góp quỹ tháng 10</a:t>
            </a:r>
            <a:endParaRPr lang="en-US" sz="1250" dirty="0"/>
          </a:p>
          <a:p>
            <a:pPr indent="0" marL="0">
              <a:buNone/>
            </a:pPr>
            <a:r>
              <a:rPr lang="en-US" sz="1000" dirty="0">
                <a:solidFill>
                  <a:srgbClr val="6B7385"/>
                </a:solidFill>
                <a:latin typeface="Arial" pitchFamily="34" charset="0"/>
                <a:ea typeface="Arial" pitchFamily="34" charset="-122"/>
                <a:cs typeface="Arial" pitchFamily="34" charset="-120"/>
              </a:rPr>
              <a:t>Đã xác nhận</a:t>
            </a:r>
            <a:endParaRPr lang="en-US" sz="1250" dirty="0"/>
          </a:p>
        </p:txBody>
      </p:sp>
      <p:sp>
        <p:nvSpPr>
          <p:cNvPr id="17" name="Text 15"/>
          <p:cNvSpPr/>
          <p:nvPr/>
        </p:nvSpPr>
        <p:spPr>
          <a:xfrm>
            <a:off x="9539935" y="2834640"/>
            <a:ext cx="1508760" cy="621792"/>
          </a:xfrm>
          <a:prstGeom prst="rect">
            <a:avLst/>
          </a:prstGeom>
          <a:noFill/>
          <a:ln/>
        </p:spPr>
        <p:txBody>
          <a:bodyPr wrap="square" lIns="0" tIns="0" rIns="0" bIns="0" rtlCol="0" anchor="ctr"/>
          <a:lstStyle/>
          <a:p>
            <a:pPr algn="r" indent="0" marL="0">
              <a:buNone/>
            </a:pPr>
            <a:r>
              <a:rPr lang="en-US" sz="1400" b="1" dirty="0">
                <a:solidFill>
                  <a:srgbClr val="0E8B6C"/>
                </a:solidFill>
                <a:latin typeface="Arial" pitchFamily="34" charset="0"/>
                <a:ea typeface="Arial" pitchFamily="34" charset="-122"/>
                <a:cs typeface="Arial" pitchFamily="34" charset="-120"/>
              </a:rPr>
              <a:t>+500.000 ₫</a:t>
            </a:r>
            <a:endParaRPr lang="en-US" sz="1400" dirty="0"/>
          </a:p>
        </p:txBody>
      </p:sp>
      <p:sp>
        <p:nvSpPr>
          <p:cNvPr id="18" name="Shape 16"/>
          <p:cNvSpPr/>
          <p:nvPr/>
        </p:nvSpPr>
        <p:spPr>
          <a:xfrm>
            <a:off x="6995160" y="3584448"/>
            <a:ext cx="4236415" cy="621792"/>
          </a:xfrm>
          <a:prstGeom prst="roundRect">
            <a:avLst>
              <a:gd name="adj" fmla="val 11765"/>
            </a:avLst>
          </a:prstGeom>
          <a:solidFill>
            <a:srgbClr val="FFFFFF"/>
          </a:solidFill>
          <a:ln w="12700">
            <a:solidFill>
              <a:srgbClr val="FFFFFF"/>
            </a:solidFill>
            <a:prstDash val="solid"/>
          </a:ln>
        </p:spPr>
      </p:sp>
      <p:sp>
        <p:nvSpPr>
          <p:cNvPr id="19" name="Text 17"/>
          <p:cNvSpPr/>
          <p:nvPr/>
        </p:nvSpPr>
        <p:spPr>
          <a:xfrm>
            <a:off x="7178040" y="3657600"/>
            <a:ext cx="2499055" cy="502920"/>
          </a:xfrm>
          <a:prstGeom prst="rect">
            <a:avLst/>
          </a:prstGeom>
          <a:noFill/>
          <a:ln/>
        </p:spPr>
        <p:txBody>
          <a:bodyPr wrap="square" lIns="0" tIns="0" rIns="0" bIns="0" rtlCol="0" anchor="t"/>
          <a:lstStyle/>
          <a:p>
            <a:pPr indent="0" marL="0">
              <a:buNone/>
            </a:pPr>
            <a:r>
              <a:rPr lang="en-US" sz="1250" b="1" dirty="0">
                <a:solidFill>
                  <a:srgbClr val="16233D"/>
                </a:solidFill>
                <a:latin typeface="Arial" pitchFamily="34" charset="0"/>
                <a:ea typeface="Arial" pitchFamily="34" charset="-122"/>
                <a:cs typeface="Arial" pitchFamily="34" charset="-120"/>
              </a:rPr>
              <a:t>Đi chợ tuần này</a:t>
            </a:r>
            <a:endParaRPr lang="en-US" sz="1250" dirty="0"/>
          </a:p>
          <a:p>
            <a:pPr indent="0" marL="0">
              <a:buNone/>
            </a:pPr>
            <a:r>
              <a:rPr lang="en-US" sz="1000" dirty="0">
                <a:solidFill>
                  <a:srgbClr val="6B7385"/>
                </a:solidFill>
                <a:latin typeface="Arial" pitchFamily="34" charset="0"/>
                <a:ea typeface="Arial" pitchFamily="34" charset="-122"/>
                <a:cs typeface="Arial" pitchFamily="34" charset="-120"/>
              </a:rPr>
              <a:t>Chi từ quỹ</a:t>
            </a:r>
            <a:endParaRPr lang="en-US" sz="1250" dirty="0"/>
          </a:p>
        </p:txBody>
      </p:sp>
      <p:sp>
        <p:nvSpPr>
          <p:cNvPr id="20" name="Text 18"/>
          <p:cNvSpPr/>
          <p:nvPr/>
        </p:nvSpPr>
        <p:spPr>
          <a:xfrm>
            <a:off x="9539935" y="3584448"/>
            <a:ext cx="1508760" cy="621792"/>
          </a:xfrm>
          <a:prstGeom prst="rect">
            <a:avLst/>
          </a:prstGeom>
          <a:noFill/>
          <a:ln/>
        </p:spPr>
        <p:txBody>
          <a:bodyPr wrap="square" lIns="0" tIns="0" rIns="0" bIns="0" rtlCol="0" anchor="ctr"/>
          <a:lstStyle/>
          <a:p>
            <a:pPr algn="r" indent="0" marL="0">
              <a:buNone/>
            </a:pPr>
            <a:r>
              <a:rPr lang="en-US" sz="1400" b="1" dirty="0">
                <a:solidFill>
                  <a:srgbClr val="16233D"/>
                </a:solidFill>
                <a:latin typeface="Arial" pitchFamily="34" charset="0"/>
                <a:ea typeface="Arial" pitchFamily="34" charset="-122"/>
                <a:cs typeface="Arial" pitchFamily="34" charset="-120"/>
              </a:rPr>
              <a:t>−320.000 ₫</a:t>
            </a:r>
            <a:endParaRPr lang="en-US" sz="1400" dirty="0"/>
          </a:p>
        </p:txBody>
      </p:sp>
      <p:sp>
        <p:nvSpPr>
          <p:cNvPr id="21" name="Shape 19"/>
          <p:cNvSpPr/>
          <p:nvPr/>
        </p:nvSpPr>
        <p:spPr>
          <a:xfrm>
            <a:off x="6995160" y="4334256"/>
            <a:ext cx="4236415" cy="621792"/>
          </a:xfrm>
          <a:prstGeom prst="roundRect">
            <a:avLst>
              <a:gd name="adj" fmla="val 11765"/>
            </a:avLst>
          </a:prstGeom>
          <a:solidFill>
            <a:srgbClr val="FFFFFF"/>
          </a:solidFill>
          <a:ln w="12700">
            <a:solidFill>
              <a:srgbClr val="FFFFFF"/>
            </a:solidFill>
            <a:prstDash val="solid"/>
          </a:ln>
        </p:spPr>
      </p:sp>
      <p:sp>
        <p:nvSpPr>
          <p:cNvPr id="22" name="Text 20"/>
          <p:cNvSpPr/>
          <p:nvPr/>
        </p:nvSpPr>
        <p:spPr>
          <a:xfrm>
            <a:off x="7178040" y="4407408"/>
            <a:ext cx="2499055" cy="502920"/>
          </a:xfrm>
          <a:prstGeom prst="rect">
            <a:avLst/>
          </a:prstGeom>
          <a:noFill/>
          <a:ln/>
        </p:spPr>
        <p:txBody>
          <a:bodyPr wrap="square" lIns="0" tIns="0" rIns="0" bIns="0" rtlCol="0" anchor="t"/>
          <a:lstStyle/>
          <a:p>
            <a:pPr indent="0" marL="0">
              <a:buNone/>
            </a:pPr>
            <a:r>
              <a:rPr lang="en-US" sz="1250" b="1" dirty="0">
                <a:solidFill>
                  <a:srgbClr val="16233D"/>
                </a:solidFill>
                <a:latin typeface="Arial" pitchFamily="34" charset="0"/>
                <a:ea typeface="Arial" pitchFamily="34" charset="-122"/>
                <a:cs typeface="Arial" pitchFamily="34" charset="-120"/>
              </a:rPr>
              <a:t>Cấp cho Bình mua đồ chung</a:t>
            </a:r>
            <a:endParaRPr lang="en-US" sz="1250" dirty="0"/>
          </a:p>
          <a:p>
            <a:pPr indent="0" marL="0">
              <a:buNone/>
            </a:pPr>
            <a:r>
              <a:rPr lang="en-US" sz="1000" dirty="0">
                <a:solidFill>
                  <a:srgbClr val="6B7385"/>
                </a:solidFill>
                <a:latin typeface="Arial" pitchFamily="34" charset="0"/>
                <a:ea typeface="Arial" pitchFamily="34" charset="-122"/>
                <a:cs typeface="Arial" pitchFamily="34" charset="-120"/>
              </a:rPr>
              <a:t>Cấp quỹ</a:t>
            </a:r>
            <a:endParaRPr lang="en-US" sz="1250" dirty="0"/>
          </a:p>
        </p:txBody>
      </p:sp>
      <p:sp>
        <p:nvSpPr>
          <p:cNvPr id="23" name="Text 21"/>
          <p:cNvSpPr/>
          <p:nvPr/>
        </p:nvSpPr>
        <p:spPr>
          <a:xfrm>
            <a:off x="9539935" y="4334256"/>
            <a:ext cx="1508760" cy="621792"/>
          </a:xfrm>
          <a:prstGeom prst="rect">
            <a:avLst/>
          </a:prstGeom>
          <a:noFill/>
          <a:ln/>
        </p:spPr>
        <p:txBody>
          <a:bodyPr wrap="square" lIns="0" tIns="0" rIns="0" bIns="0" rtlCol="0" anchor="ctr"/>
          <a:lstStyle/>
          <a:p>
            <a:pPr algn="r" indent="0" marL="0">
              <a:buNone/>
            </a:pPr>
            <a:r>
              <a:rPr lang="en-US" sz="1400" b="1" dirty="0">
                <a:solidFill>
                  <a:srgbClr val="16233D"/>
                </a:solidFill>
                <a:latin typeface="Arial" pitchFamily="34" charset="0"/>
                <a:ea typeface="Arial" pitchFamily="34" charset="-122"/>
                <a:cs typeface="Arial" pitchFamily="34" charset="-120"/>
              </a:rPr>
              <a:t>−200.000 ₫</a:t>
            </a:r>
            <a:endParaRPr lang="en-US" sz="1400" dirty="0"/>
          </a:p>
        </p:txBody>
      </p:sp>
      <p:sp>
        <p:nvSpPr>
          <p:cNvPr id="24" name="Shape 22"/>
          <p:cNvSpPr/>
          <p:nvPr/>
        </p:nvSpPr>
        <p:spPr>
          <a:xfrm>
            <a:off x="6995160" y="5084064"/>
            <a:ext cx="4236415" cy="621792"/>
          </a:xfrm>
          <a:prstGeom prst="roundRect">
            <a:avLst>
              <a:gd name="adj" fmla="val 11765"/>
            </a:avLst>
          </a:prstGeom>
          <a:solidFill>
            <a:srgbClr val="FFFFFF"/>
          </a:solidFill>
          <a:ln w="12700">
            <a:solidFill>
              <a:srgbClr val="FFFFFF"/>
            </a:solidFill>
            <a:prstDash val="solid"/>
          </a:ln>
        </p:spPr>
      </p:sp>
      <p:sp>
        <p:nvSpPr>
          <p:cNvPr id="25" name="Text 23"/>
          <p:cNvSpPr/>
          <p:nvPr/>
        </p:nvSpPr>
        <p:spPr>
          <a:xfrm>
            <a:off x="7178040" y="5157216"/>
            <a:ext cx="2499055" cy="502920"/>
          </a:xfrm>
          <a:prstGeom prst="rect">
            <a:avLst/>
          </a:prstGeom>
          <a:noFill/>
          <a:ln/>
        </p:spPr>
        <p:txBody>
          <a:bodyPr wrap="square" lIns="0" tIns="0" rIns="0" bIns="0" rtlCol="0" anchor="t"/>
          <a:lstStyle/>
          <a:p>
            <a:pPr indent="0" marL="0">
              <a:buNone/>
            </a:pPr>
            <a:r>
              <a:rPr lang="en-US" sz="1250" b="1" dirty="0">
                <a:solidFill>
                  <a:srgbClr val="16233D"/>
                </a:solidFill>
                <a:latin typeface="Arial" pitchFamily="34" charset="0"/>
                <a:ea typeface="Arial" pitchFamily="34" charset="-122"/>
                <a:cs typeface="Arial" pitchFamily="34" charset="-120"/>
              </a:rPr>
              <a:t>Dũng góp quỹ tháng 10</a:t>
            </a:r>
            <a:endParaRPr lang="en-US" sz="1250" dirty="0"/>
          </a:p>
          <a:p>
            <a:pPr indent="0" marL="0">
              <a:buNone/>
            </a:pPr>
            <a:r>
              <a:rPr lang="en-US" sz="1000" dirty="0">
                <a:solidFill>
                  <a:srgbClr val="6B7385"/>
                </a:solidFill>
                <a:latin typeface="Arial" pitchFamily="34" charset="0"/>
                <a:ea typeface="Arial" pitchFamily="34" charset="-122"/>
                <a:cs typeface="Arial" pitchFamily="34" charset="-120"/>
              </a:rPr>
              <a:t>Tự xác nhận qua SePay</a:t>
            </a:r>
            <a:endParaRPr lang="en-US" sz="1250" dirty="0"/>
          </a:p>
        </p:txBody>
      </p:sp>
      <p:sp>
        <p:nvSpPr>
          <p:cNvPr id="26" name="Text 24"/>
          <p:cNvSpPr/>
          <p:nvPr/>
        </p:nvSpPr>
        <p:spPr>
          <a:xfrm>
            <a:off x="9539935" y="5084064"/>
            <a:ext cx="1508760" cy="621792"/>
          </a:xfrm>
          <a:prstGeom prst="rect">
            <a:avLst/>
          </a:prstGeom>
          <a:noFill/>
          <a:ln/>
        </p:spPr>
        <p:txBody>
          <a:bodyPr wrap="square" lIns="0" tIns="0" rIns="0" bIns="0" rtlCol="0" anchor="ctr"/>
          <a:lstStyle/>
          <a:p>
            <a:pPr algn="r" indent="0" marL="0">
              <a:buNone/>
            </a:pPr>
            <a:r>
              <a:rPr lang="en-US" sz="1400" b="1" dirty="0">
                <a:solidFill>
                  <a:srgbClr val="0E8B6C"/>
                </a:solidFill>
                <a:latin typeface="Arial" pitchFamily="34" charset="0"/>
                <a:ea typeface="Arial" pitchFamily="34" charset="-122"/>
                <a:cs typeface="Arial" pitchFamily="34" charset="-120"/>
              </a:rPr>
              <a:t>+500.000 ₫</a:t>
            </a:r>
            <a:endParaRPr lang="en-US" sz="1400" dirty="0"/>
          </a:p>
        </p:txBody>
      </p:sp>
      <p:sp>
        <p:nvSpPr>
          <p:cNvPr id="27" name="Text 25"/>
          <p:cNvSpPr/>
          <p:nvPr/>
        </p:nvSpPr>
        <p:spPr>
          <a:xfrm>
            <a:off x="640080" y="6355080"/>
            <a:ext cx="2743200" cy="274320"/>
          </a:xfrm>
          <a:prstGeom prst="rect">
            <a:avLst/>
          </a:prstGeom>
          <a:noFill/>
          <a:ln/>
        </p:spPr>
        <p:txBody>
          <a:bodyPr wrap="square" lIns="0" tIns="0" rIns="0" bIns="0" rtlCol="0" anchor="ctr"/>
          <a:lstStyle/>
          <a:p>
            <a:pPr indent="0" marL="0">
              <a:buNone/>
            </a:pPr>
            <a:r>
              <a:rPr lang="en-US" sz="1100" b="1" dirty="0">
                <a:solidFill>
                  <a:srgbClr val="16233D"/>
                </a:solidFill>
                <a:latin typeface="Arial" pitchFamily="34" charset="0"/>
                <a:ea typeface="Arial" pitchFamily="34" charset="-122"/>
                <a:cs typeface="Arial" pitchFamily="34" charset="-120"/>
              </a:rPr>
              <a:t>Group</a:t>
            </a:r>
            <a:pPr indent="0" marL="0">
              <a:buNone/>
            </a:pPr>
            <a:r>
              <a:rPr lang="en-US" sz="1100" b="1" dirty="0">
                <a:solidFill>
                  <a:srgbClr val="2F7BF5"/>
                </a:solidFill>
                <a:latin typeface="Arial" pitchFamily="34" charset="0"/>
                <a:ea typeface="Arial" pitchFamily="34" charset="-122"/>
                <a:cs typeface="Arial" pitchFamily="34" charset="-120"/>
              </a:rPr>
              <a:t>Split</a:t>
            </a:r>
            <a:endParaRPr lang="en-US" sz="1100" dirty="0"/>
          </a:p>
        </p:txBody>
      </p:sp>
      <p:sp>
        <p:nvSpPr>
          <p:cNvPr id="28" name="Text 26"/>
          <p:cNvSpPr/>
          <p:nvPr/>
        </p:nvSpPr>
        <p:spPr>
          <a:xfrm>
            <a:off x="10637215" y="6355080"/>
            <a:ext cx="914400" cy="274320"/>
          </a:xfrm>
          <a:prstGeom prst="rect">
            <a:avLst/>
          </a:prstGeom>
          <a:noFill/>
          <a:ln/>
        </p:spPr>
        <p:txBody>
          <a:bodyPr wrap="square" lIns="0" tIns="0" rIns="0" bIns="0" rtlCol="0" anchor="ctr"/>
          <a:lstStyle/>
          <a:p>
            <a:pPr algn="r" indent="0" marL="0">
              <a:buNone/>
            </a:pPr>
            <a:r>
              <a:rPr lang="en-US" sz="1000" dirty="0">
                <a:solidFill>
                  <a:srgbClr val="6B7385"/>
                </a:solidFill>
                <a:latin typeface="Arial" pitchFamily="34" charset="0"/>
                <a:ea typeface="Arial" pitchFamily="34" charset="-122"/>
                <a:cs typeface="Arial"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11535" cy="274320"/>
          </a:xfrm>
          <a:prstGeom prst="rect">
            <a:avLst/>
          </a:prstGeom>
          <a:noFill/>
          <a:ln/>
        </p:spPr>
        <p:txBody>
          <a:bodyPr wrap="square" lIns="0" tIns="0" rIns="0" bIns="0" rtlCol="0" anchor="ctr"/>
          <a:lstStyle/>
          <a:p>
            <a:pPr indent="0" marL="0">
              <a:buNone/>
            </a:pPr>
            <a:r>
              <a:rPr lang="en-US" sz="1100" b="1" spc="200" kern="0" dirty="0">
                <a:solidFill>
                  <a:srgbClr val="14B88F"/>
                </a:solidFill>
                <a:latin typeface="Arial" pitchFamily="34" charset="0"/>
                <a:ea typeface="Arial" pitchFamily="34" charset="-122"/>
                <a:cs typeface="Arial" pitchFamily="34" charset="-120"/>
              </a:rPr>
              <a:t>LUÔN CẬP NHẬT</a:t>
            </a:r>
            <a:endParaRPr lang="en-US" sz="1100" dirty="0"/>
          </a:p>
        </p:txBody>
      </p:sp>
      <p:sp>
        <p:nvSpPr>
          <p:cNvPr id="3" name="Text 1"/>
          <p:cNvSpPr/>
          <p:nvPr/>
        </p:nvSpPr>
        <p:spPr>
          <a:xfrm>
            <a:off x="640080" y="868680"/>
            <a:ext cx="5486400" cy="1188720"/>
          </a:xfrm>
          <a:prstGeom prst="rect">
            <a:avLst/>
          </a:prstGeom>
          <a:noFill/>
          <a:ln/>
        </p:spPr>
        <p:txBody>
          <a:bodyPr wrap="square" lIns="0" tIns="0" rIns="0" bIns="0" rtlCol="0" anchor="t"/>
          <a:lstStyle/>
          <a:p>
            <a:pPr indent="0" marL="0">
              <a:buNone/>
            </a:pPr>
            <a:r>
              <a:rPr lang="en-US" sz="3400" b="1" dirty="0">
                <a:solidFill>
                  <a:srgbClr val="16233D"/>
                </a:solidFill>
                <a:latin typeface="Arial" pitchFamily="34" charset="0"/>
                <a:ea typeface="Arial" pitchFamily="34" charset="-122"/>
                <a:cs typeface="Arial" pitchFamily="34" charset="-120"/>
              </a:rPr>
              <a:t>Ai thêm gì,</a:t>
            </a:r>
            <a:endParaRPr lang="en-US" sz="3400" dirty="0"/>
          </a:p>
          <a:p>
            <a:pPr indent="0" marL="0">
              <a:buNone/>
            </a:pPr>
            <a:r>
              <a:rPr lang="en-US" sz="3400" b="1" dirty="0">
                <a:solidFill>
                  <a:srgbClr val="2F7BF5"/>
                </a:solidFill>
                <a:latin typeface="Arial" pitchFamily="34" charset="0"/>
                <a:ea typeface="Arial" pitchFamily="34" charset="-122"/>
                <a:cs typeface="Arial" pitchFamily="34" charset="-120"/>
              </a:rPr>
              <a:t>cả nhóm thấy ngay</a:t>
            </a:r>
            <a:endParaRPr lang="en-US" sz="3400" dirty="0"/>
          </a:p>
        </p:txBody>
      </p:sp>
      <p:sp>
        <p:nvSpPr>
          <p:cNvPr id="4" name="Shape 2"/>
          <p:cNvSpPr/>
          <p:nvPr/>
        </p:nvSpPr>
        <p:spPr>
          <a:xfrm>
            <a:off x="640080" y="2286000"/>
            <a:ext cx="457200" cy="457200"/>
          </a:xfrm>
          <a:prstGeom prst="ellipse">
            <a:avLst/>
          </a:prstGeom>
          <a:solidFill>
            <a:srgbClr val="14B88F"/>
          </a:solidFill>
          <a:ln w="12700">
            <a:solidFill>
              <a:srgbClr val="14B88F"/>
            </a:solidFill>
            <a:prstDash val="solid"/>
          </a:ln>
        </p:spPr>
      </p:sp>
      <p:sp>
        <p:nvSpPr>
          <p:cNvPr id="5" name="Text 3"/>
          <p:cNvSpPr/>
          <p:nvPr/>
        </p:nvSpPr>
        <p:spPr>
          <a:xfrm>
            <a:off x="640080" y="22860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6" name="Text 4"/>
          <p:cNvSpPr/>
          <p:nvPr/>
        </p:nvSpPr>
        <p:spPr>
          <a:xfrm>
            <a:off x="1325880" y="2240280"/>
            <a:ext cx="4754880" cy="1188720"/>
          </a:xfrm>
          <a:prstGeom prst="rect">
            <a:avLst/>
          </a:prstGeom>
          <a:noFill/>
          <a:ln/>
        </p:spPr>
        <p:txBody>
          <a:bodyPr wrap="square" lIns="0" tIns="0" rIns="0" bIns="0" rtlCol="0" anchor="t"/>
          <a:lstStyle/>
          <a:p>
            <a:pPr indent="0" marL="0">
              <a:spcAft>
                <a:spcPts val="400"/>
              </a:spcAft>
              <a:buNone/>
            </a:pPr>
            <a:r>
              <a:rPr lang="en-US" sz="1700" b="1" dirty="0">
                <a:solidFill>
                  <a:srgbClr val="16233D"/>
                </a:solidFill>
                <a:latin typeface="Arial" pitchFamily="34" charset="0"/>
                <a:ea typeface="Arial" pitchFamily="34" charset="-122"/>
                <a:cs typeface="Arial" pitchFamily="34" charset="-120"/>
              </a:rPr>
              <a:t>Màn hình tự cập nhật</a:t>
            </a:r>
            <a:endParaRPr lang="en-US" sz="1700" dirty="0"/>
          </a:p>
          <a:p>
            <a:pPr indent="0" marL="0">
              <a:buNone/>
            </a:pPr>
            <a:r>
              <a:rPr lang="en-US" sz="1350" dirty="0">
                <a:solidFill>
                  <a:srgbClr val="4B5568"/>
                </a:solidFill>
                <a:latin typeface="Arial" pitchFamily="34" charset="0"/>
                <a:ea typeface="Arial" pitchFamily="34" charset="-122"/>
                <a:cs typeface="Arial" pitchFamily="34" charset="-120"/>
              </a:rPr>
              <a:t>Không cần tải lại trang: hóa đơn mới, khoản trả, số dư quỹ hiện ra ngay trên máy mọi người.</a:t>
            </a:r>
            <a:endParaRPr lang="en-US" sz="1700" dirty="0"/>
          </a:p>
        </p:txBody>
      </p:sp>
      <p:sp>
        <p:nvSpPr>
          <p:cNvPr id="7" name="Shape 5"/>
          <p:cNvSpPr/>
          <p:nvPr/>
        </p:nvSpPr>
        <p:spPr>
          <a:xfrm>
            <a:off x="640080" y="3520440"/>
            <a:ext cx="457200" cy="457200"/>
          </a:xfrm>
          <a:prstGeom prst="ellipse">
            <a:avLst/>
          </a:prstGeom>
          <a:solidFill>
            <a:srgbClr val="2F7BF5"/>
          </a:solidFill>
          <a:ln w="12700">
            <a:solidFill>
              <a:srgbClr val="2F7BF5"/>
            </a:solidFill>
            <a:prstDash val="solid"/>
          </a:ln>
        </p:spPr>
      </p:sp>
      <p:sp>
        <p:nvSpPr>
          <p:cNvPr id="8" name="Text 6"/>
          <p:cNvSpPr/>
          <p:nvPr/>
        </p:nvSpPr>
        <p:spPr>
          <a:xfrm>
            <a:off x="64008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9" name="Text 7"/>
          <p:cNvSpPr/>
          <p:nvPr/>
        </p:nvSpPr>
        <p:spPr>
          <a:xfrm>
            <a:off x="1325880" y="3474720"/>
            <a:ext cx="4754880" cy="1188720"/>
          </a:xfrm>
          <a:prstGeom prst="rect">
            <a:avLst/>
          </a:prstGeom>
          <a:noFill/>
          <a:ln/>
        </p:spPr>
        <p:txBody>
          <a:bodyPr wrap="square" lIns="0" tIns="0" rIns="0" bIns="0" rtlCol="0" anchor="t"/>
          <a:lstStyle/>
          <a:p>
            <a:pPr indent="0" marL="0">
              <a:spcAft>
                <a:spcPts val="400"/>
              </a:spcAft>
              <a:buNone/>
            </a:pPr>
            <a:r>
              <a:rPr lang="en-US" sz="1700" b="1" dirty="0">
                <a:solidFill>
                  <a:srgbClr val="16233D"/>
                </a:solidFill>
                <a:latin typeface="Arial" pitchFamily="34" charset="0"/>
                <a:ea typeface="Arial" pitchFamily="34" charset="-122"/>
                <a:cs typeface="Arial" pitchFamily="34" charset="-120"/>
              </a:rPr>
              <a:t>Thông báo đúng kênh</a:t>
            </a:r>
            <a:endParaRPr lang="en-US" sz="1700" dirty="0"/>
          </a:p>
          <a:p>
            <a:pPr indent="0" marL="0">
              <a:buNone/>
            </a:pPr>
            <a:r>
              <a:rPr lang="en-US" sz="1350" dirty="0">
                <a:solidFill>
                  <a:srgbClr val="4B5568"/>
                </a:solidFill>
                <a:latin typeface="Arial" pitchFamily="34" charset="0"/>
                <a:ea typeface="Arial" pitchFamily="34" charset="-122"/>
                <a:cs typeface="Arial" pitchFamily="34" charset="-120"/>
              </a:rPr>
              <a:t>Chuông thông báo trong app, tin nhắn Zalo và email cho các việc quan trọng.</a:t>
            </a:r>
            <a:endParaRPr lang="en-US" sz="1700" dirty="0"/>
          </a:p>
        </p:txBody>
      </p:sp>
      <p:sp>
        <p:nvSpPr>
          <p:cNvPr id="10" name="Shape 8"/>
          <p:cNvSpPr/>
          <p:nvPr/>
        </p:nvSpPr>
        <p:spPr>
          <a:xfrm>
            <a:off x="640080" y="4754880"/>
            <a:ext cx="457200" cy="457200"/>
          </a:xfrm>
          <a:prstGeom prst="ellipse">
            <a:avLst/>
          </a:prstGeom>
          <a:solidFill>
            <a:srgbClr val="14B88F"/>
          </a:solidFill>
          <a:ln w="12700">
            <a:solidFill>
              <a:srgbClr val="14B88F"/>
            </a:solidFill>
            <a:prstDash val="solid"/>
          </a:ln>
        </p:spPr>
      </p:sp>
      <p:sp>
        <p:nvSpPr>
          <p:cNvPr id="11" name="Text 9"/>
          <p:cNvSpPr/>
          <p:nvPr/>
        </p:nvSpPr>
        <p:spPr>
          <a:xfrm>
            <a:off x="640080" y="47548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2" name="Text 10"/>
          <p:cNvSpPr/>
          <p:nvPr/>
        </p:nvSpPr>
        <p:spPr>
          <a:xfrm>
            <a:off x="1325880" y="4709160"/>
            <a:ext cx="4754880" cy="1188720"/>
          </a:xfrm>
          <a:prstGeom prst="rect">
            <a:avLst/>
          </a:prstGeom>
          <a:noFill/>
          <a:ln/>
        </p:spPr>
        <p:txBody>
          <a:bodyPr wrap="square" lIns="0" tIns="0" rIns="0" bIns="0" rtlCol="0" anchor="t"/>
          <a:lstStyle/>
          <a:p>
            <a:pPr indent="0" marL="0">
              <a:spcAft>
                <a:spcPts val="400"/>
              </a:spcAft>
              <a:buNone/>
            </a:pPr>
            <a:r>
              <a:rPr lang="en-US" sz="1700" b="1" dirty="0">
                <a:solidFill>
                  <a:srgbClr val="16233D"/>
                </a:solidFill>
                <a:latin typeface="Arial" pitchFamily="34" charset="0"/>
                <a:ea typeface="Arial" pitchFamily="34" charset="-122"/>
                <a:cs typeface="Arial" pitchFamily="34" charset="-120"/>
              </a:rPr>
              <a:t>Thống kê chi tiêu</a:t>
            </a:r>
            <a:endParaRPr lang="en-US" sz="1700" dirty="0"/>
          </a:p>
          <a:p>
            <a:pPr indent="0" marL="0">
              <a:buNone/>
            </a:pPr>
            <a:r>
              <a:rPr lang="en-US" sz="1350" dirty="0">
                <a:solidFill>
                  <a:srgbClr val="4B5568"/>
                </a:solidFill>
                <a:latin typeface="Arial" pitchFamily="34" charset="0"/>
                <a:ea typeface="Arial" pitchFamily="34" charset="-122"/>
                <a:cs typeface="Arial" pitchFamily="34" charset="-120"/>
              </a:rPr>
              <a:t>Biểu đồ theo thời gian, theo nhóm và theo danh mục để biết tiền đi đâu.</a:t>
            </a:r>
            <a:endParaRPr lang="en-US" sz="1700" dirty="0"/>
          </a:p>
        </p:txBody>
      </p:sp>
      <p:sp>
        <p:nvSpPr>
          <p:cNvPr id="13" name="Shape 11"/>
          <p:cNvSpPr/>
          <p:nvPr/>
        </p:nvSpPr>
        <p:spPr>
          <a:xfrm>
            <a:off x="6492240" y="1234440"/>
            <a:ext cx="4739335" cy="932688"/>
          </a:xfrm>
          <a:prstGeom prst="roundRect">
            <a:avLst>
              <a:gd name="adj" fmla="val 13725"/>
            </a:avLst>
          </a:prstGeom>
          <a:solidFill>
            <a:srgbClr val="FFFFFF"/>
          </a:solidFill>
          <a:ln w="12700">
            <a:solidFill>
              <a:srgbClr val="E3E8EF"/>
            </a:solidFill>
            <a:prstDash val="solid"/>
          </a:ln>
        </p:spPr>
      </p:sp>
      <p:sp>
        <p:nvSpPr>
          <p:cNvPr id="14" name="Shape 12"/>
          <p:cNvSpPr/>
          <p:nvPr/>
        </p:nvSpPr>
        <p:spPr>
          <a:xfrm>
            <a:off x="6720840" y="1481328"/>
            <a:ext cx="438912" cy="438912"/>
          </a:xfrm>
          <a:prstGeom prst="ellipse">
            <a:avLst/>
          </a:prstGeom>
          <a:solidFill>
            <a:srgbClr val="14B88F"/>
          </a:solidFill>
          <a:ln w="12700">
            <a:solidFill>
              <a:srgbClr val="14B88F"/>
            </a:solidFill>
            <a:prstDash val="solid"/>
          </a:ln>
        </p:spPr>
      </p:sp>
      <p:sp>
        <p:nvSpPr>
          <p:cNvPr id="15" name="Text 13"/>
          <p:cNvSpPr/>
          <p:nvPr/>
        </p:nvSpPr>
        <p:spPr>
          <a:xfrm>
            <a:off x="6720840" y="1481328"/>
            <a:ext cx="438912"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B</a:t>
            </a:r>
            <a:endParaRPr lang="en-US" sz="900" dirty="0"/>
          </a:p>
        </p:txBody>
      </p:sp>
      <p:sp>
        <p:nvSpPr>
          <p:cNvPr id="16" name="Text 14"/>
          <p:cNvSpPr/>
          <p:nvPr/>
        </p:nvSpPr>
        <p:spPr>
          <a:xfrm>
            <a:off x="7315200" y="1417320"/>
            <a:ext cx="2864815" cy="640080"/>
          </a:xfrm>
          <a:prstGeom prst="rect">
            <a:avLst/>
          </a:prstGeom>
          <a:noFill/>
          <a:ln/>
        </p:spPr>
        <p:txBody>
          <a:bodyPr wrap="square" lIns="0" tIns="0" rIns="0" bIns="0" rtlCol="0" anchor="t"/>
          <a:lstStyle/>
          <a:p>
            <a:pPr indent="0" marL="0">
              <a:spcAft>
                <a:spcPts val="200"/>
              </a:spcAft>
              <a:buNone/>
            </a:pPr>
            <a:r>
              <a:rPr lang="en-US" sz="1300" b="1" dirty="0">
                <a:solidFill>
                  <a:srgbClr val="16233D"/>
                </a:solidFill>
                <a:latin typeface="Arial" pitchFamily="34" charset="0"/>
                <a:ea typeface="Arial" pitchFamily="34" charset="-122"/>
                <a:cs typeface="Arial" pitchFamily="34" charset="-120"/>
              </a:rPr>
              <a:t>Bình vừa thêm hóa đơn “Ăn tối”</a:t>
            </a:r>
            <a:endParaRPr lang="en-US" sz="1300" dirty="0"/>
          </a:p>
          <a:p>
            <a:pPr indent="0" marL="0">
              <a:buNone/>
            </a:pPr>
            <a:r>
              <a:rPr lang="en-US" sz="1100" dirty="0">
                <a:solidFill>
                  <a:srgbClr val="6B7385"/>
                </a:solidFill>
                <a:latin typeface="Arial" pitchFamily="34" charset="0"/>
                <a:ea typeface="Arial" pitchFamily="34" charset="-122"/>
                <a:cs typeface="Arial" pitchFamily="34" charset="-120"/>
              </a:rPr>
              <a:t>400.000 ₫ · chờ trưởng nhóm duyệt</a:t>
            </a:r>
            <a:endParaRPr lang="en-US" sz="1300" dirty="0"/>
          </a:p>
        </p:txBody>
      </p:sp>
      <p:sp>
        <p:nvSpPr>
          <p:cNvPr id="17" name="Text 15"/>
          <p:cNvSpPr/>
          <p:nvPr/>
        </p:nvSpPr>
        <p:spPr>
          <a:xfrm>
            <a:off x="10225735" y="1417320"/>
            <a:ext cx="868680" cy="274320"/>
          </a:xfrm>
          <a:prstGeom prst="rect">
            <a:avLst/>
          </a:prstGeom>
          <a:noFill/>
          <a:ln/>
        </p:spPr>
        <p:txBody>
          <a:bodyPr wrap="square" lIns="0" tIns="0" rIns="0" bIns="0" rtlCol="0" anchor="t"/>
          <a:lstStyle/>
          <a:p>
            <a:pPr algn="r" indent="0" marL="0">
              <a:buNone/>
            </a:pPr>
            <a:r>
              <a:rPr lang="en-US" sz="1000" dirty="0">
                <a:solidFill>
                  <a:srgbClr val="6B7385"/>
                </a:solidFill>
                <a:latin typeface="Arial" pitchFamily="34" charset="0"/>
                <a:ea typeface="Arial" pitchFamily="34" charset="-122"/>
                <a:cs typeface="Arial" pitchFamily="34" charset="-120"/>
              </a:rPr>
              <a:t>vừa xong</a:t>
            </a:r>
            <a:endParaRPr lang="en-US" sz="1000" dirty="0"/>
          </a:p>
        </p:txBody>
      </p:sp>
      <p:sp>
        <p:nvSpPr>
          <p:cNvPr id="18" name="Shape 16"/>
          <p:cNvSpPr/>
          <p:nvPr/>
        </p:nvSpPr>
        <p:spPr>
          <a:xfrm>
            <a:off x="6812280" y="2377440"/>
            <a:ext cx="4739335" cy="932688"/>
          </a:xfrm>
          <a:prstGeom prst="roundRect">
            <a:avLst>
              <a:gd name="adj" fmla="val 13725"/>
            </a:avLst>
          </a:prstGeom>
          <a:solidFill>
            <a:srgbClr val="FFFFFF"/>
          </a:solidFill>
          <a:ln w="12700">
            <a:solidFill>
              <a:srgbClr val="E3E8EF"/>
            </a:solidFill>
            <a:prstDash val="solid"/>
          </a:ln>
        </p:spPr>
      </p:sp>
      <p:sp>
        <p:nvSpPr>
          <p:cNvPr id="19" name="Shape 17"/>
          <p:cNvSpPr/>
          <p:nvPr/>
        </p:nvSpPr>
        <p:spPr>
          <a:xfrm>
            <a:off x="7040880" y="2624328"/>
            <a:ext cx="438912" cy="438912"/>
          </a:xfrm>
          <a:prstGeom prst="ellipse">
            <a:avLst/>
          </a:prstGeom>
          <a:solidFill>
            <a:srgbClr val="2F7BF5"/>
          </a:solidFill>
          <a:ln w="12700">
            <a:solidFill>
              <a:srgbClr val="2F7BF5"/>
            </a:solidFill>
            <a:prstDash val="solid"/>
          </a:ln>
        </p:spPr>
      </p:sp>
      <p:sp>
        <p:nvSpPr>
          <p:cNvPr id="20" name="Text 18"/>
          <p:cNvSpPr/>
          <p:nvPr/>
        </p:nvSpPr>
        <p:spPr>
          <a:xfrm>
            <a:off x="7040880" y="2624328"/>
            <a:ext cx="438912"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a:t>
            </a:r>
            <a:endParaRPr lang="en-US" sz="900" dirty="0"/>
          </a:p>
        </p:txBody>
      </p:sp>
      <p:sp>
        <p:nvSpPr>
          <p:cNvPr id="21" name="Text 19"/>
          <p:cNvSpPr/>
          <p:nvPr/>
        </p:nvSpPr>
        <p:spPr>
          <a:xfrm>
            <a:off x="7635240" y="2560320"/>
            <a:ext cx="2864815" cy="640080"/>
          </a:xfrm>
          <a:prstGeom prst="rect">
            <a:avLst/>
          </a:prstGeom>
          <a:noFill/>
          <a:ln/>
        </p:spPr>
        <p:txBody>
          <a:bodyPr wrap="square" lIns="0" tIns="0" rIns="0" bIns="0" rtlCol="0" anchor="t"/>
          <a:lstStyle/>
          <a:p>
            <a:pPr indent="0" marL="0">
              <a:spcAft>
                <a:spcPts val="200"/>
              </a:spcAft>
              <a:buNone/>
            </a:pPr>
            <a:r>
              <a:rPr lang="en-US" sz="1300" b="1" dirty="0">
                <a:solidFill>
                  <a:srgbClr val="16233D"/>
                </a:solidFill>
                <a:latin typeface="Arial" pitchFamily="34" charset="0"/>
                <a:ea typeface="Arial" pitchFamily="34" charset="-122"/>
                <a:cs typeface="Arial" pitchFamily="34" charset="-120"/>
              </a:rPr>
              <a:t>An đã duyệt hóa đơn “Ăn tối”</a:t>
            </a:r>
            <a:endParaRPr lang="en-US" sz="1300" dirty="0"/>
          </a:p>
          <a:p>
            <a:pPr indent="0" marL="0">
              <a:buNone/>
            </a:pPr>
            <a:r>
              <a:rPr lang="en-US" sz="1100" dirty="0">
                <a:solidFill>
                  <a:srgbClr val="6B7385"/>
                </a:solidFill>
                <a:latin typeface="Arial" pitchFamily="34" charset="0"/>
                <a:ea typeface="Arial" pitchFamily="34" charset="-122"/>
                <a:cs typeface="Arial" pitchFamily="34" charset="-120"/>
              </a:rPr>
              <a:t>Phần của bạn: 100.000 ₫</a:t>
            </a:r>
            <a:endParaRPr lang="en-US" sz="1300" dirty="0"/>
          </a:p>
        </p:txBody>
      </p:sp>
      <p:sp>
        <p:nvSpPr>
          <p:cNvPr id="22" name="Text 20"/>
          <p:cNvSpPr/>
          <p:nvPr/>
        </p:nvSpPr>
        <p:spPr>
          <a:xfrm>
            <a:off x="10545775" y="2560320"/>
            <a:ext cx="868680" cy="274320"/>
          </a:xfrm>
          <a:prstGeom prst="rect">
            <a:avLst/>
          </a:prstGeom>
          <a:noFill/>
          <a:ln/>
        </p:spPr>
        <p:txBody>
          <a:bodyPr wrap="square" lIns="0" tIns="0" rIns="0" bIns="0" rtlCol="0" anchor="t"/>
          <a:lstStyle/>
          <a:p>
            <a:pPr algn="r" indent="0" marL="0">
              <a:buNone/>
            </a:pPr>
            <a:r>
              <a:rPr lang="en-US" sz="1000" dirty="0">
                <a:solidFill>
                  <a:srgbClr val="6B7385"/>
                </a:solidFill>
                <a:latin typeface="Arial" pitchFamily="34" charset="0"/>
                <a:ea typeface="Arial" pitchFamily="34" charset="-122"/>
                <a:cs typeface="Arial" pitchFamily="34" charset="-120"/>
              </a:rPr>
              <a:t>1 phút</a:t>
            </a:r>
            <a:endParaRPr lang="en-US" sz="1000" dirty="0"/>
          </a:p>
        </p:txBody>
      </p:sp>
      <p:sp>
        <p:nvSpPr>
          <p:cNvPr id="23" name="Shape 21"/>
          <p:cNvSpPr/>
          <p:nvPr/>
        </p:nvSpPr>
        <p:spPr>
          <a:xfrm>
            <a:off x="6492240" y="3520440"/>
            <a:ext cx="4739335" cy="932688"/>
          </a:xfrm>
          <a:prstGeom prst="roundRect">
            <a:avLst>
              <a:gd name="adj" fmla="val 13725"/>
            </a:avLst>
          </a:prstGeom>
          <a:solidFill>
            <a:srgbClr val="FFFFFF"/>
          </a:solidFill>
          <a:ln w="12700">
            <a:solidFill>
              <a:srgbClr val="E3E8EF"/>
            </a:solidFill>
            <a:prstDash val="solid"/>
          </a:ln>
        </p:spPr>
      </p:sp>
      <p:sp>
        <p:nvSpPr>
          <p:cNvPr id="24" name="Shape 22"/>
          <p:cNvSpPr/>
          <p:nvPr/>
        </p:nvSpPr>
        <p:spPr>
          <a:xfrm>
            <a:off x="6720840" y="3767328"/>
            <a:ext cx="438912" cy="438912"/>
          </a:xfrm>
          <a:prstGeom prst="ellipse">
            <a:avLst/>
          </a:prstGeom>
          <a:solidFill>
            <a:srgbClr val="8B5CF6"/>
          </a:solidFill>
          <a:ln w="12700">
            <a:solidFill>
              <a:srgbClr val="8B5CF6"/>
            </a:solidFill>
            <a:prstDash val="solid"/>
          </a:ln>
        </p:spPr>
      </p:sp>
      <p:sp>
        <p:nvSpPr>
          <p:cNvPr id="25" name="Text 23"/>
          <p:cNvSpPr/>
          <p:nvPr/>
        </p:nvSpPr>
        <p:spPr>
          <a:xfrm>
            <a:off x="6720840" y="3767328"/>
            <a:ext cx="438912"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a:t>
            </a:r>
            <a:endParaRPr lang="en-US" sz="900" dirty="0"/>
          </a:p>
        </p:txBody>
      </p:sp>
      <p:sp>
        <p:nvSpPr>
          <p:cNvPr id="26" name="Text 24"/>
          <p:cNvSpPr/>
          <p:nvPr/>
        </p:nvSpPr>
        <p:spPr>
          <a:xfrm>
            <a:off x="7315200" y="3703320"/>
            <a:ext cx="2864815" cy="640080"/>
          </a:xfrm>
          <a:prstGeom prst="rect">
            <a:avLst/>
          </a:prstGeom>
          <a:noFill/>
          <a:ln/>
        </p:spPr>
        <p:txBody>
          <a:bodyPr wrap="square" lIns="0" tIns="0" rIns="0" bIns="0" rtlCol="0" anchor="t"/>
          <a:lstStyle/>
          <a:p>
            <a:pPr indent="0" marL="0">
              <a:spcAft>
                <a:spcPts val="200"/>
              </a:spcAft>
              <a:buNone/>
            </a:pPr>
            <a:r>
              <a:rPr lang="en-US" sz="1300" b="1" dirty="0">
                <a:solidFill>
                  <a:srgbClr val="16233D"/>
                </a:solidFill>
                <a:latin typeface="Arial" pitchFamily="34" charset="0"/>
                <a:ea typeface="Arial" pitchFamily="34" charset="-122"/>
                <a:cs typeface="Arial" pitchFamily="34" charset="-120"/>
              </a:rPr>
              <a:t>Chi đã trả An 400.000 ₫</a:t>
            </a:r>
            <a:endParaRPr lang="en-US" sz="1300" dirty="0"/>
          </a:p>
          <a:p>
            <a:pPr indent="0" marL="0">
              <a:buNone/>
            </a:pPr>
            <a:r>
              <a:rPr lang="en-US" sz="1100" dirty="0">
                <a:solidFill>
                  <a:srgbClr val="6B7385"/>
                </a:solidFill>
                <a:latin typeface="Arial" pitchFamily="34" charset="0"/>
                <a:ea typeface="Arial" pitchFamily="34" charset="-122"/>
                <a:cs typeface="Arial" pitchFamily="34" charset="-120"/>
              </a:rPr>
              <a:t>Tự xác nhận qua SePay</a:t>
            </a:r>
            <a:endParaRPr lang="en-US" sz="1300" dirty="0"/>
          </a:p>
        </p:txBody>
      </p:sp>
      <p:sp>
        <p:nvSpPr>
          <p:cNvPr id="27" name="Text 25"/>
          <p:cNvSpPr/>
          <p:nvPr/>
        </p:nvSpPr>
        <p:spPr>
          <a:xfrm>
            <a:off x="10225735" y="3703320"/>
            <a:ext cx="868680" cy="274320"/>
          </a:xfrm>
          <a:prstGeom prst="rect">
            <a:avLst/>
          </a:prstGeom>
          <a:noFill/>
          <a:ln/>
        </p:spPr>
        <p:txBody>
          <a:bodyPr wrap="square" lIns="0" tIns="0" rIns="0" bIns="0" rtlCol="0" anchor="t"/>
          <a:lstStyle/>
          <a:p>
            <a:pPr algn="r" indent="0" marL="0">
              <a:buNone/>
            </a:pPr>
            <a:r>
              <a:rPr lang="en-US" sz="1000" dirty="0">
                <a:solidFill>
                  <a:srgbClr val="6B7385"/>
                </a:solidFill>
                <a:latin typeface="Arial" pitchFamily="34" charset="0"/>
                <a:ea typeface="Arial" pitchFamily="34" charset="-122"/>
                <a:cs typeface="Arial" pitchFamily="34" charset="-120"/>
              </a:rPr>
              <a:t>3 phút</a:t>
            </a:r>
            <a:endParaRPr lang="en-US" sz="1000" dirty="0"/>
          </a:p>
        </p:txBody>
      </p:sp>
      <p:sp>
        <p:nvSpPr>
          <p:cNvPr id="28" name="Text 26"/>
          <p:cNvSpPr/>
          <p:nvPr/>
        </p:nvSpPr>
        <p:spPr>
          <a:xfrm>
            <a:off x="6492240" y="4846320"/>
            <a:ext cx="1097280" cy="384048"/>
          </a:xfrm>
          <a:prstGeom prst="rect">
            <a:avLst/>
          </a:prstGeom>
          <a:noFill/>
          <a:ln/>
        </p:spPr>
        <p:txBody>
          <a:bodyPr wrap="square" lIns="0" tIns="0" rIns="0" bIns="0" rtlCol="0" anchor="ctr"/>
          <a:lstStyle/>
          <a:p>
            <a:pPr indent="0" marL="0">
              <a:buNone/>
            </a:pPr>
            <a:r>
              <a:rPr lang="en-US" sz="1200" dirty="0">
                <a:solidFill>
                  <a:srgbClr val="6B7385"/>
                </a:solidFill>
                <a:latin typeface="Arial" pitchFamily="34" charset="0"/>
                <a:ea typeface="Arial" pitchFamily="34" charset="-122"/>
                <a:cs typeface="Arial" pitchFamily="34" charset="-120"/>
              </a:rPr>
              <a:t>Nhận qua</a:t>
            </a:r>
            <a:endParaRPr lang="en-US" sz="1200" dirty="0"/>
          </a:p>
        </p:txBody>
      </p:sp>
      <p:sp>
        <p:nvSpPr>
          <p:cNvPr id="29" name="Shape 27"/>
          <p:cNvSpPr/>
          <p:nvPr/>
        </p:nvSpPr>
        <p:spPr>
          <a:xfrm>
            <a:off x="7498080" y="4846320"/>
            <a:ext cx="1136051" cy="384048"/>
          </a:xfrm>
          <a:prstGeom prst="roundRect">
            <a:avLst>
              <a:gd name="adj" fmla="val 50000"/>
            </a:avLst>
          </a:prstGeom>
          <a:solidFill>
            <a:srgbClr val="EAF2FE"/>
          </a:solidFill>
          <a:ln w="12700">
            <a:solidFill>
              <a:srgbClr val="EAF2FE"/>
            </a:solidFill>
            <a:prstDash val="solid"/>
          </a:ln>
        </p:spPr>
      </p:sp>
      <p:sp>
        <p:nvSpPr>
          <p:cNvPr id="30" name="Text 28"/>
          <p:cNvSpPr/>
          <p:nvPr/>
        </p:nvSpPr>
        <p:spPr>
          <a:xfrm>
            <a:off x="7498080" y="4846320"/>
            <a:ext cx="1136051" cy="384048"/>
          </a:xfrm>
          <a:prstGeom prst="rect">
            <a:avLst/>
          </a:prstGeom>
          <a:noFill/>
          <a:ln/>
        </p:spPr>
        <p:txBody>
          <a:bodyPr wrap="square" lIns="0" tIns="0" rIns="0" bIns="0" rtlCol="0" anchor="ctr"/>
          <a:lstStyle/>
          <a:p>
            <a:pPr algn="ctr" indent="0" marL="0">
              <a:buNone/>
            </a:pPr>
            <a:r>
              <a:rPr lang="en-US" sz="1200" b="1" dirty="0">
                <a:solidFill>
                  <a:srgbClr val="1F5FD6"/>
                </a:solidFill>
                <a:latin typeface="Arial" pitchFamily="34" charset="0"/>
                <a:ea typeface="Arial" pitchFamily="34" charset="-122"/>
                <a:cs typeface="Arial" pitchFamily="34" charset="-120"/>
              </a:rPr>
              <a:t>Trong app</a:t>
            </a:r>
            <a:endParaRPr lang="en-US" sz="1200" dirty="0"/>
          </a:p>
        </p:txBody>
      </p:sp>
      <p:sp>
        <p:nvSpPr>
          <p:cNvPr id="31" name="Shape 29"/>
          <p:cNvSpPr/>
          <p:nvPr/>
        </p:nvSpPr>
        <p:spPr>
          <a:xfrm>
            <a:off x="8771291" y="4846320"/>
            <a:ext cx="708111" cy="384048"/>
          </a:xfrm>
          <a:prstGeom prst="roundRect">
            <a:avLst>
              <a:gd name="adj" fmla="val 50000"/>
            </a:avLst>
          </a:prstGeom>
          <a:solidFill>
            <a:srgbClr val="EAF2FE"/>
          </a:solidFill>
          <a:ln w="12700">
            <a:solidFill>
              <a:srgbClr val="EAF2FE"/>
            </a:solidFill>
            <a:prstDash val="solid"/>
          </a:ln>
        </p:spPr>
      </p:sp>
      <p:sp>
        <p:nvSpPr>
          <p:cNvPr id="32" name="Text 30"/>
          <p:cNvSpPr/>
          <p:nvPr/>
        </p:nvSpPr>
        <p:spPr>
          <a:xfrm>
            <a:off x="8771291" y="4846320"/>
            <a:ext cx="708111" cy="384048"/>
          </a:xfrm>
          <a:prstGeom prst="rect">
            <a:avLst/>
          </a:prstGeom>
          <a:noFill/>
          <a:ln/>
        </p:spPr>
        <p:txBody>
          <a:bodyPr wrap="square" lIns="0" tIns="0" rIns="0" bIns="0" rtlCol="0" anchor="ctr"/>
          <a:lstStyle/>
          <a:p>
            <a:pPr algn="ctr" indent="0" marL="0">
              <a:buNone/>
            </a:pPr>
            <a:r>
              <a:rPr lang="en-US" sz="1200" b="1" dirty="0">
                <a:solidFill>
                  <a:srgbClr val="1F5FD6"/>
                </a:solidFill>
                <a:latin typeface="Arial" pitchFamily="34" charset="0"/>
                <a:ea typeface="Arial" pitchFamily="34" charset="-122"/>
                <a:cs typeface="Arial" pitchFamily="34" charset="-120"/>
              </a:rPr>
              <a:t>Zalo</a:t>
            </a:r>
            <a:endParaRPr lang="en-US" sz="1200" dirty="0"/>
          </a:p>
        </p:txBody>
      </p:sp>
      <p:sp>
        <p:nvSpPr>
          <p:cNvPr id="33" name="Shape 31"/>
          <p:cNvSpPr/>
          <p:nvPr/>
        </p:nvSpPr>
        <p:spPr>
          <a:xfrm>
            <a:off x="9616562" y="4846320"/>
            <a:ext cx="793699" cy="384048"/>
          </a:xfrm>
          <a:prstGeom prst="roundRect">
            <a:avLst>
              <a:gd name="adj" fmla="val 50000"/>
            </a:avLst>
          </a:prstGeom>
          <a:solidFill>
            <a:srgbClr val="EAF2FE"/>
          </a:solidFill>
          <a:ln w="12700">
            <a:solidFill>
              <a:srgbClr val="EAF2FE"/>
            </a:solidFill>
            <a:prstDash val="solid"/>
          </a:ln>
        </p:spPr>
      </p:sp>
      <p:sp>
        <p:nvSpPr>
          <p:cNvPr id="34" name="Text 32"/>
          <p:cNvSpPr/>
          <p:nvPr/>
        </p:nvSpPr>
        <p:spPr>
          <a:xfrm>
            <a:off x="9616562" y="4846320"/>
            <a:ext cx="793699" cy="384048"/>
          </a:xfrm>
          <a:prstGeom prst="rect">
            <a:avLst/>
          </a:prstGeom>
          <a:noFill/>
          <a:ln/>
        </p:spPr>
        <p:txBody>
          <a:bodyPr wrap="square" lIns="0" tIns="0" rIns="0" bIns="0" rtlCol="0" anchor="ctr"/>
          <a:lstStyle/>
          <a:p>
            <a:pPr algn="ctr" indent="0" marL="0">
              <a:buNone/>
            </a:pPr>
            <a:r>
              <a:rPr lang="en-US" sz="1200" b="1" dirty="0">
                <a:solidFill>
                  <a:srgbClr val="1F5FD6"/>
                </a:solidFill>
                <a:latin typeface="Arial" pitchFamily="34" charset="0"/>
                <a:ea typeface="Arial" pitchFamily="34" charset="-122"/>
                <a:cs typeface="Arial" pitchFamily="34" charset="-120"/>
              </a:rPr>
              <a:t>Email</a:t>
            </a:r>
            <a:endParaRPr lang="en-US" sz="1200" dirty="0"/>
          </a:p>
        </p:txBody>
      </p:sp>
      <p:sp>
        <p:nvSpPr>
          <p:cNvPr id="35" name="Text 33"/>
          <p:cNvSpPr/>
          <p:nvPr/>
        </p:nvSpPr>
        <p:spPr>
          <a:xfrm>
            <a:off x="640080" y="6355080"/>
            <a:ext cx="2743200" cy="274320"/>
          </a:xfrm>
          <a:prstGeom prst="rect">
            <a:avLst/>
          </a:prstGeom>
          <a:noFill/>
          <a:ln/>
        </p:spPr>
        <p:txBody>
          <a:bodyPr wrap="square" lIns="0" tIns="0" rIns="0" bIns="0" rtlCol="0" anchor="ctr"/>
          <a:lstStyle/>
          <a:p>
            <a:pPr indent="0" marL="0">
              <a:buNone/>
            </a:pPr>
            <a:r>
              <a:rPr lang="en-US" sz="1100" b="1" dirty="0">
                <a:solidFill>
                  <a:srgbClr val="16233D"/>
                </a:solidFill>
                <a:latin typeface="Arial" pitchFamily="34" charset="0"/>
                <a:ea typeface="Arial" pitchFamily="34" charset="-122"/>
                <a:cs typeface="Arial" pitchFamily="34" charset="-120"/>
              </a:rPr>
              <a:t>Group</a:t>
            </a:r>
            <a:pPr indent="0" marL="0">
              <a:buNone/>
            </a:pPr>
            <a:r>
              <a:rPr lang="en-US" sz="1100" b="1" dirty="0">
                <a:solidFill>
                  <a:srgbClr val="2F7BF5"/>
                </a:solidFill>
                <a:latin typeface="Arial" pitchFamily="34" charset="0"/>
                <a:ea typeface="Arial" pitchFamily="34" charset="-122"/>
                <a:cs typeface="Arial" pitchFamily="34" charset="-120"/>
              </a:rPr>
              <a:t>Split</a:t>
            </a:r>
            <a:endParaRPr lang="en-US" sz="1100" dirty="0"/>
          </a:p>
        </p:txBody>
      </p:sp>
      <p:sp>
        <p:nvSpPr>
          <p:cNvPr id="36" name="Text 34"/>
          <p:cNvSpPr/>
          <p:nvPr/>
        </p:nvSpPr>
        <p:spPr>
          <a:xfrm>
            <a:off x="10637215" y="6355080"/>
            <a:ext cx="914400" cy="274320"/>
          </a:xfrm>
          <a:prstGeom prst="rect">
            <a:avLst/>
          </a:prstGeom>
          <a:noFill/>
          <a:ln/>
        </p:spPr>
        <p:txBody>
          <a:bodyPr wrap="square" lIns="0" tIns="0" rIns="0" bIns="0" rtlCol="0" anchor="ctr"/>
          <a:lstStyle/>
          <a:p>
            <a:pPr algn="r" indent="0" marL="0">
              <a:buNone/>
            </a:pPr>
            <a:r>
              <a:rPr lang="en-US" sz="1000" dirty="0">
                <a:solidFill>
                  <a:srgbClr val="6B7385"/>
                </a:solidFill>
                <a:latin typeface="Arial" pitchFamily="34" charset="0"/>
                <a:ea typeface="Arial" pitchFamily="34" charset="-122"/>
                <a:cs typeface="Arial"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11535" cy="274320"/>
          </a:xfrm>
          <a:prstGeom prst="rect">
            <a:avLst/>
          </a:prstGeom>
          <a:noFill/>
          <a:ln/>
        </p:spPr>
        <p:txBody>
          <a:bodyPr wrap="square" lIns="0" tIns="0" rIns="0" bIns="0" rtlCol="0" anchor="ctr"/>
          <a:lstStyle/>
          <a:p>
            <a:pPr indent="0" marL="0">
              <a:buNone/>
            </a:pPr>
            <a:r>
              <a:rPr lang="en-US" sz="1100" b="1" spc="200" kern="0" dirty="0">
                <a:solidFill>
                  <a:srgbClr val="14B88F"/>
                </a:solidFill>
                <a:latin typeface="Arial" pitchFamily="34" charset="0"/>
                <a:ea typeface="Arial" pitchFamily="34" charset="-122"/>
                <a:cs typeface="Arial" pitchFamily="34" charset="-120"/>
              </a:rPr>
              <a:t>DÀNH CHO AI</a:t>
            </a:r>
            <a:endParaRPr lang="en-US" sz="1100" dirty="0"/>
          </a:p>
        </p:txBody>
      </p:sp>
      <p:sp>
        <p:nvSpPr>
          <p:cNvPr id="3" name="Text 1"/>
          <p:cNvSpPr/>
          <p:nvPr/>
        </p:nvSpPr>
        <p:spPr>
          <a:xfrm>
            <a:off x="640080" y="868680"/>
            <a:ext cx="10911535" cy="822960"/>
          </a:xfrm>
          <a:prstGeom prst="rect">
            <a:avLst/>
          </a:prstGeom>
          <a:noFill/>
          <a:ln/>
        </p:spPr>
        <p:txBody>
          <a:bodyPr wrap="square" lIns="0" tIns="0" rIns="0" bIns="0" rtlCol="0" anchor="t"/>
          <a:lstStyle/>
          <a:p>
            <a:pPr indent="0" marL="0">
              <a:buNone/>
            </a:pPr>
            <a:r>
              <a:rPr lang="en-US" sz="3400" b="1" dirty="0">
                <a:solidFill>
                  <a:srgbClr val="16233D"/>
                </a:solidFill>
                <a:latin typeface="Arial" pitchFamily="34" charset="0"/>
                <a:ea typeface="Arial" pitchFamily="34" charset="-122"/>
                <a:cs typeface="Arial" pitchFamily="34" charset="-120"/>
              </a:rPr>
              <a:t>Mọi nhóm có </a:t>
            </a:r>
            <a:pPr indent="0" marL="0">
              <a:buNone/>
            </a:pPr>
            <a:r>
              <a:rPr lang="en-US" sz="3400" b="1" dirty="0">
                <a:solidFill>
                  <a:srgbClr val="2F7BF5"/>
                </a:solidFill>
                <a:latin typeface="Arial" pitchFamily="34" charset="0"/>
                <a:ea typeface="Arial" pitchFamily="34" charset="-122"/>
                <a:cs typeface="Arial" pitchFamily="34" charset="-120"/>
              </a:rPr>
              <a:t>tiền chung</a:t>
            </a:r>
            <a:endParaRPr lang="en-US" sz="3400" dirty="0"/>
          </a:p>
        </p:txBody>
      </p:sp>
      <p:sp>
        <p:nvSpPr>
          <p:cNvPr id="4" name="Shape 2"/>
          <p:cNvSpPr/>
          <p:nvPr/>
        </p:nvSpPr>
        <p:spPr>
          <a:xfrm>
            <a:off x="640080" y="1965960"/>
            <a:ext cx="2522144" cy="2377440"/>
          </a:xfrm>
          <a:prstGeom prst="roundRect">
            <a:avLst>
              <a:gd name="adj" fmla="val 4615"/>
            </a:avLst>
          </a:prstGeom>
          <a:solidFill>
            <a:srgbClr val="E3F6EF"/>
          </a:solidFill>
          <a:ln w="12700">
            <a:solidFill>
              <a:srgbClr val="E3F6EF"/>
            </a:solidFill>
            <a:prstDash val="solid"/>
          </a:ln>
        </p:spPr>
      </p:sp>
      <p:sp>
        <p:nvSpPr>
          <p:cNvPr id="5" name="Text 3"/>
          <p:cNvSpPr/>
          <p:nvPr/>
        </p:nvSpPr>
        <p:spPr>
          <a:xfrm>
            <a:off x="914400" y="2286000"/>
            <a:ext cx="1973504" cy="1828800"/>
          </a:xfrm>
          <a:prstGeom prst="rect">
            <a:avLst/>
          </a:prstGeom>
          <a:noFill/>
          <a:ln/>
        </p:spPr>
        <p:txBody>
          <a:bodyPr wrap="square" lIns="0" tIns="0" rIns="0" bIns="0" rtlCol="0" anchor="t"/>
          <a:lstStyle/>
          <a:p>
            <a:pPr indent="0" marL="0">
              <a:spcAft>
                <a:spcPts val="800"/>
              </a:spcAft>
              <a:buNone/>
            </a:pPr>
            <a:r>
              <a:rPr lang="en-US" sz="1800" b="1" dirty="0">
                <a:solidFill>
                  <a:srgbClr val="16233D"/>
                </a:solidFill>
                <a:latin typeface="Arial" pitchFamily="34" charset="0"/>
                <a:ea typeface="Arial" pitchFamily="34" charset="-122"/>
                <a:cs typeface="Arial" pitchFamily="34" charset="-120"/>
              </a:rPr>
              <a:t>Đi du lịch</a:t>
            </a:r>
            <a:endParaRPr lang="en-US" sz="1800" dirty="0"/>
          </a:p>
          <a:p>
            <a:pPr indent="0" marL="0">
              <a:buNone/>
            </a:pPr>
            <a:r>
              <a:rPr lang="en-US" sz="1350" dirty="0">
                <a:solidFill>
                  <a:srgbClr val="4B5568"/>
                </a:solidFill>
                <a:latin typeface="Arial" pitchFamily="34" charset="0"/>
                <a:ea typeface="Arial" pitchFamily="34" charset="-122"/>
                <a:cs typeface="Arial" pitchFamily="34" charset="-120"/>
              </a:rPr>
              <a:t>Chia khách sạn, xăng xe, ăn uống ngay trong chuyến đi; về nhà là đã chốt sổ.</a:t>
            </a:r>
            <a:endParaRPr lang="en-US" sz="1800" dirty="0"/>
          </a:p>
        </p:txBody>
      </p:sp>
      <p:sp>
        <p:nvSpPr>
          <p:cNvPr id="6" name="Shape 4"/>
          <p:cNvSpPr/>
          <p:nvPr/>
        </p:nvSpPr>
        <p:spPr>
          <a:xfrm>
            <a:off x="3436544" y="1965960"/>
            <a:ext cx="2522144" cy="2377440"/>
          </a:xfrm>
          <a:prstGeom prst="roundRect">
            <a:avLst>
              <a:gd name="adj" fmla="val 4615"/>
            </a:avLst>
          </a:prstGeom>
          <a:solidFill>
            <a:srgbClr val="EAF2FE"/>
          </a:solidFill>
          <a:ln w="12700">
            <a:solidFill>
              <a:srgbClr val="EAF2FE"/>
            </a:solidFill>
            <a:prstDash val="solid"/>
          </a:ln>
        </p:spPr>
      </p:sp>
      <p:sp>
        <p:nvSpPr>
          <p:cNvPr id="7" name="Text 5"/>
          <p:cNvSpPr/>
          <p:nvPr/>
        </p:nvSpPr>
        <p:spPr>
          <a:xfrm>
            <a:off x="3710864" y="2286000"/>
            <a:ext cx="1973504" cy="1828800"/>
          </a:xfrm>
          <a:prstGeom prst="rect">
            <a:avLst/>
          </a:prstGeom>
          <a:noFill/>
          <a:ln/>
        </p:spPr>
        <p:txBody>
          <a:bodyPr wrap="square" lIns="0" tIns="0" rIns="0" bIns="0" rtlCol="0" anchor="t"/>
          <a:lstStyle/>
          <a:p>
            <a:pPr indent="0" marL="0">
              <a:spcAft>
                <a:spcPts val="800"/>
              </a:spcAft>
              <a:buNone/>
            </a:pPr>
            <a:r>
              <a:rPr lang="en-US" sz="1800" b="1" dirty="0">
                <a:solidFill>
                  <a:srgbClr val="16233D"/>
                </a:solidFill>
                <a:latin typeface="Arial" pitchFamily="34" charset="0"/>
                <a:ea typeface="Arial" pitchFamily="34" charset="-122"/>
                <a:cs typeface="Arial" pitchFamily="34" charset="-120"/>
              </a:rPr>
              <a:t>Phòng trọ, ký túc xá</a:t>
            </a:r>
            <a:endParaRPr lang="en-US" sz="1800" dirty="0"/>
          </a:p>
          <a:p>
            <a:pPr indent="0" marL="0">
              <a:buNone/>
            </a:pPr>
            <a:r>
              <a:rPr lang="en-US" sz="1350" dirty="0">
                <a:solidFill>
                  <a:srgbClr val="4B5568"/>
                </a:solidFill>
                <a:latin typeface="Arial" pitchFamily="34" charset="0"/>
                <a:ea typeface="Arial" pitchFamily="34" charset="-122"/>
                <a:cs typeface="Arial" pitchFamily="34" charset="-120"/>
              </a:rPr>
              <a:t>Tiền nhà, điện nước, đi chợ; quỹ chung minh bạch từng tháng.</a:t>
            </a:r>
            <a:endParaRPr lang="en-US" sz="1800" dirty="0"/>
          </a:p>
        </p:txBody>
      </p:sp>
      <p:sp>
        <p:nvSpPr>
          <p:cNvPr id="8" name="Shape 6"/>
          <p:cNvSpPr/>
          <p:nvPr/>
        </p:nvSpPr>
        <p:spPr>
          <a:xfrm>
            <a:off x="6233008" y="1965960"/>
            <a:ext cx="2522144" cy="2377440"/>
          </a:xfrm>
          <a:prstGeom prst="roundRect">
            <a:avLst>
              <a:gd name="adj" fmla="val 4615"/>
            </a:avLst>
          </a:prstGeom>
          <a:solidFill>
            <a:srgbClr val="E3F6EF"/>
          </a:solidFill>
          <a:ln w="12700">
            <a:solidFill>
              <a:srgbClr val="E3F6EF"/>
            </a:solidFill>
            <a:prstDash val="solid"/>
          </a:ln>
        </p:spPr>
      </p:sp>
      <p:sp>
        <p:nvSpPr>
          <p:cNvPr id="9" name="Text 7"/>
          <p:cNvSpPr/>
          <p:nvPr/>
        </p:nvSpPr>
        <p:spPr>
          <a:xfrm>
            <a:off x="6507328" y="2286000"/>
            <a:ext cx="1973504" cy="1828800"/>
          </a:xfrm>
          <a:prstGeom prst="rect">
            <a:avLst/>
          </a:prstGeom>
          <a:noFill/>
          <a:ln/>
        </p:spPr>
        <p:txBody>
          <a:bodyPr wrap="square" lIns="0" tIns="0" rIns="0" bIns="0" rtlCol="0" anchor="t"/>
          <a:lstStyle/>
          <a:p>
            <a:pPr indent="0" marL="0">
              <a:spcAft>
                <a:spcPts val="800"/>
              </a:spcAft>
              <a:buNone/>
            </a:pPr>
            <a:r>
              <a:rPr lang="en-US" sz="1800" b="1" dirty="0">
                <a:solidFill>
                  <a:srgbClr val="16233D"/>
                </a:solidFill>
                <a:latin typeface="Arial" pitchFamily="34" charset="0"/>
                <a:ea typeface="Arial" pitchFamily="34" charset="-122"/>
                <a:cs typeface="Arial" pitchFamily="34" charset="-120"/>
              </a:rPr>
              <a:t>Nhóm bạn đi ăn</a:t>
            </a:r>
            <a:endParaRPr lang="en-US" sz="1800" dirty="0"/>
          </a:p>
          <a:p>
            <a:pPr indent="0" marL="0">
              <a:buNone/>
            </a:pPr>
            <a:r>
              <a:rPr lang="en-US" sz="1350" dirty="0">
                <a:solidFill>
                  <a:srgbClr val="4B5568"/>
                </a:solidFill>
                <a:latin typeface="Arial" pitchFamily="34" charset="0"/>
                <a:ea typeface="Arial" pitchFamily="34" charset="-122"/>
                <a:cs typeface="Arial" pitchFamily="34" charset="-120"/>
              </a:rPr>
              <a:t>Người trả trước ghi hóa đơn, cả bàn quét QR trả lại trong một phút.</a:t>
            </a:r>
            <a:endParaRPr lang="en-US" sz="1800" dirty="0"/>
          </a:p>
        </p:txBody>
      </p:sp>
      <p:sp>
        <p:nvSpPr>
          <p:cNvPr id="10" name="Shape 8"/>
          <p:cNvSpPr/>
          <p:nvPr/>
        </p:nvSpPr>
        <p:spPr>
          <a:xfrm>
            <a:off x="9029471" y="1965960"/>
            <a:ext cx="2522144" cy="2377440"/>
          </a:xfrm>
          <a:prstGeom prst="roundRect">
            <a:avLst>
              <a:gd name="adj" fmla="val 4615"/>
            </a:avLst>
          </a:prstGeom>
          <a:solidFill>
            <a:srgbClr val="EAF2FE"/>
          </a:solidFill>
          <a:ln w="12700">
            <a:solidFill>
              <a:srgbClr val="EAF2FE"/>
            </a:solidFill>
            <a:prstDash val="solid"/>
          </a:ln>
        </p:spPr>
      </p:sp>
      <p:sp>
        <p:nvSpPr>
          <p:cNvPr id="11" name="Text 9"/>
          <p:cNvSpPr/>
          <p:nvPr/>
        </p:nvSpPr>
        <p:spPr>
          <a:xfrm>
            <a:off x="9303791" y="2286000"/>
            <a:ext cx="1973504" cy="1828800"/>
          </a:xfrm>
          <a:prstGeom prst="rect">
            <a:avLst/>
          </a:prstGeom>
          <a:noFill/>
          <a:ln/>
        </p:spPr>
        <p:txBody>
          <a:bodyPr wrap="square" lIns="0" tIns="0" rIns="0" bIns="0" rtlCol="0" anchor="t"/>
          <a:lstStyle/>
          <a:p>
            <a:pPr indent="0" marL="0">
              <a:spcAft>
                <a:spcPts val="800"/>
              </a:spcAft>
              <a:buNone/>
            </a:pPr>
            <a:r>
              <a:rPr lang="en-US" sz="1800" b="1" dirty="0">
                <a:solidFill>
                  <a:srgbClr val="16233D"/>
                </a:solidFill>
                <a:latin typeface="Arial" pitchFamily="34" charset="0"/>
                <a:ea typeface="Arial" pitchFamily="34" charset="-122"/>
                <a:cs typeface="Arial" pitchFamily="34" charset="-120"/>
              </a:rPr>
              <a:t>CLB, lớp học, văn phòng</a:t>
            </a:r>
            <a:endParaRPr lang="en-US" sz="1800" dirty="0"/>
          </a:p>
          <a:p>
            <a:pPr indent="0" marL="0">
              <a:buNone/>
            </a:pPr>
            <a:r>
              <a:rPr lang="en-US" sz="1350" dirty="0">
                <a:solidFill>
                  <a:srgbClr val="4B5568"/>
                </a:solidFill>
                <a:latin typeface="Arial" pitchFamily="34" charset="0"/>
                <a:ea typeface="Arial" pitchFamily="34" charset="-122"/>
                <a:cs typeface="Arial" pitchFamily="34" charset="-120"/>
              </a:rPr>
              <a:t>Thu quỹ, chi hoạt động, có lịch sử rõ ràng cho cả nhóm cùng xem.</a:t>
            </a:r>
            <a:endParaRPr lang="en-US" sz="1800" dirty="0"/>
          </a:p>
        </p:txBody>
      </p:sp>
      <p:sp>
        <p:nvSpPr>
          <p:cNvPr id="12" name="Text 10"/>
          <p:cNvSpPr/>
          <p:nvPr/>
        </p:nvSpPr>
        <p:spPr>
          <a:xfrm>
            <a:off x="640080" y="4709160"/>
            <a:ext cx="10911535" cy="274320"/>
          </a:xfrm>
          <a:prstGeom prst="rect">
            <a:avLst/>
          </a:prstGeom>
          <a:noFill/>
          <a:ln/>
        </p:spPr>
        <p:txBody>
          <a:bodyPr wrap="square" lIns="0" tIns="0" rIns="0" bIns="0" rtlCol="0" anchor="t"/>
          <a:lstStyle/>
          <a:p>
            <a:pPr indent="0" marL="0">
              <a:buNone/>
            </a:pPr>
            <a:r>
              <a:rPr lang="en-US" sz="1100" b="1" spc="200" kern="0" dirty="0">
                <a:solidFill>
                  <a:srgbClr val="6B7385"/>
                </a:solidFill>
                <a:latin typeface="Arial" pitchFamily="34" charset="0"/>
                <a:ea typeface="Arial" pitchFamily="34" charset="-122"/>
                <a:cs typeface="Arial" pitchFamily="34" charset="-120"/>
              </a:rPr>
              <a:t>AN TÂM KHI DÙNG</a:t>
            </a:r>
            <a:endParaRPr lang="en-US" sz="1100" dirty="0"/>
          </a:p>
        </p:txBody>
      </p:sp>
      <p:sp>
        <p:nvSpPr>
          <p:cNvPr id="13" name="Shape 11"/>
          <p:cNvSpPr/>
          <p:nvPr/>
        </p:nvSpPr>
        <p:spPr>
          <a:xfrm>
            <a:off x="640080" y="5074920"/>
            <a:ext cx="2797881" cy="420624"/>
          </a:xfrm>
          <a:prstGeom prst="roundRect">
            <a:avLst>
              <a:gd name="adj" fmla="val 50000"/>
            </a:avLst>
          </a:prstGeom>
          <a:solidFill>
            <a:srgbClr val="F5F8FC"/>
          </a:solidFill>
          <a:ln w="12700">
            <a:solidFill>
              <a:srgbClr val="F5F8FC"/>
            </a:solidFill>
            <a:prstDash val="solid"/>
          </a:ln>
        </p:spPr>
      </p:sp>
      <p:sp>
        <p:nvSpPr>
          <p:cNvPr id="14" name="Text 12"/>
          <p:cNvSpPr/>
          <p:nvPr/>
        </p:nvSpPr>
        <p:spPr>
          <a:xfrm>
            <a:off x="640080" y="5074920"/>
            <a:ext cx="2797881" cy="420624"/>
          </a:xfrm>
          <a:prstGeom prst="rect">
            <a:avLst/>
          </a:prstGeom>
          <a:noFill/>
          <a:ln/>
        </p:spPr>
        <p:txBody>
          <a:bodyPr wrap="square" lIns="0" tIns="0" rIns="0" bIns="0" rtlCol="0" anchor="ctr"/>
          <a:lstStyle/>
          <a:p>
            <a:pPr algn="ctr" indent="0" marL="0">
              <a:buNone/>
            </a:pPr>
            <a:r>
              <a:rPr lang="en-US" sz="1100" b="1" dirty="0">
                <a:solidFill>
                  <a:srgbClr val="16233D"/>
                </a:solidFill>
                <a:latin typeface="Arial" pitchFamily="34" charset="0"/>
                <a:ea typeface="Arial" pitchFamily="34" charset="-122"/>
                <a:cs typeface="Arial" pitchFamily="34" charset="-120"/>
              </a:rPr>
              <a:t>✓  Xác thực tài khoản qua email</a:t>
            </a:r>
            <a:endParaRPr lang="en-US" sz="1100" dirty="0"/>
          </a:p>
        </p:txBody>
      </p:sp>
      <p:sp>
        <p:nvSpPr>
          <p:cNvPr id="15" name="Shape 13"/>
          <p:cNvSpPr/>
          <p:nvPr/>
        </p:nvSpPr>
        <p:spPr>
          <a:xfrm>
            <a:off x="3602553" y="5074920"/>
            <a:ext cx="2170237" cy="420624"/>
          </a:xfrm>
          <a:prstGeom prst="roundRect">
            <a:avLst>
              <a:gd name="adj" fmla="val 50000"/>
            </a:avLst>
          </a:prstGeom>
          <a:solidFill>
            <a:srgbClr val="F5F8FC"/>
          </a:solidFill>
          <a:ln w="12700">
            <a:solidFill>
              <a:srgbClr val="F5F8FC"/>
            </a:solidFill>
            <a:prstDash val="solid"/>
          </a:ln>
        </p:spPr>
      </p:sp>
      <p:sp>
        <p:nvSpPr>
          <p:cNvPr id="16" name="Text 14"/>
          <p:cNvSpPr/>
          <p:nvPr/>
        </p:nvSpPr>
        <p:spPr>
          <a:xfrm>
            <a:off x="3602553" y="5074920"/>
            <a:ext cx="2170237" cy="420624"/>
          </a:xfrm>
          <a:prstGeom prst="rect">
            <a:avLst/>
          </a:prstGeom>
          <a:noFill/>
          <a:ln/>
        </p:spPr>
        <p:txBody>
          <a:bodyPr wrap="square" lIns="0" tIns="0" rIns="0" bIns="0" rtlCol="0" anchor="ctr"/>
          <a:lstStyle/>
          <a:p>
            <a:pPr algn="ctr" indent="0" marL="0">
              <a:buNone/>
            </a:pPr>
            <a:r>
              <a:rPr lang="en-US" sz="1100" b="1" dirty="0">
                <a:solidFill>
                  <a:srgbClr val="16233D"/>
                </a:solidFill>
                <a:latin typeface="Arial" pitchFamily="34" charset="0"/>
                <a:ea typeface="Arial" pitchFamily="34" charset="-122"/>
                <a:cs typeface="Arial" pitchFamily="34" charset="-120"/>
              </a:rPr>
              <a:t>✓  Mật khẩu được mã hóa</a:t>
            </a:r>
            <a:endParaRPr lang="en-US" sz="1100" dirty="0"/>
          </a:p>
        </p:txBody>
      </p:sp>
      <p:sp>
        <p:nvSpPr>
          <p:cNvPr id="17" name="Shape 15"/>
          <p:cNvSpPr/>
          <p:nvPr/>
        </p:nvSpPr>
        <p:spPr>
          <a:xfrm>
            <a:off x="5937382" y="5074920"/>
            <a:ext cx="2954792" cy="420624"/>
          </a:xfrm>
          <a:prstGeom prst="roundRect">
            <a:avLst>
              <a:gd name="adj" fmla="val 50000"/>
            </a:avLst>
          </a:prstGeom>
          <a:solidFill>
            <a:srgbClr val="F5F8FC"/>
          </a:solidFill>
          <a:ln w="12700">
            <a:solidFill>
              <a:srgbClr val="F5F8FC"/>
            </a:solidFill>
            <a:prstDash val="solid"/>
          </a:ln>
        </p:spPr>
      </p:sp>
      <p:sp>
        <p:nvSpPr>
          <p:cNvPr id="18" name="Text 16"/>
          <p:cNvSpPr/>
          <p:nvPr/>
        </p:nvSpPr>
        <p:spPr>
          <a:xfrm>
            <a:off x="5937382" y="5074920"/>
            <a:ext cx="2954792" cy="420624"/>
          </a:xfrm>
          <a:prstGeom prst="rect">
            <a:avLst/>
          </a:prstGeom>
          <a:noFill/>
          <a:ln/>
        </p:spPr>
        <p:txBody>
          <a:bodyPr wrap="square" lIns="0" tIns="0" rIns="0" bIns="0" rtlCol="0" anchor="ctr"/>
          <a:lstStyle/>
          <a:p>
            <a:pPr algn="ctr" indent="0" marL="0">
              <a:buNone/>
            </a:pPr>
            <a:r>
              <a:rPr lang="en-US" sz="1100" b="1" dirty="0">
                <a:solidFill>
                  <a:srgbClr val="16233D"/>
                </a:solidFill>
                <a:latin typeface="Arial" pitchFamily="34" charset="0"/>
                <a:ea typeface="Arial" pitchFamily="34" charset="-122"/>
                <a:cs typeface="Arial" pitchFamily="34" charset="-120"/>
              </a:rPr>
              <a:t>✓  Trưởng nhóm duyệt từng hóa đơn</a:t>
            </a:r>
            <a:endParaRPr lang="en-US" sz="1100" dirty="0"/>
          </a:p>
        </p:txBody>
      </p:sp>
      <p:sp>
        <p:nvSpPr>
          <p:cNvPr id="19" name="Shape 17"/>
          <p:cNvSpPr/>
          <p:nvPr/>
        </p:nvSpPr>
        <p:spPr>
          <a:xfrm>
            <a:off x="9056766" y="5074920"/>
            <a:ext cx="2013326" cy="420624"/>
          </a:xfrm>
          <a:prstGeom prst="roundRect">
            <a:avLst>
              <a:gd name="adj" fmla="val 50000"/>
            </a:avLst>
          </a:prstGeom>
          <a:solidFill>
            <a:srgbClr val="F5F8FC"/>
          </a:solidFill>
          <a:ln w="12700">
            <a:solidFill>
              <a:srgbClr val="F5F8FC"/>
            </a:solidFill>
            <a:prstDash val="solid"/>
          </a:ln>
        </p:spPr>
      </p:sp>
      <p:sp>
        <p:nvSpPr>
          <p:cNvPr id="20" name="Text 18"/>
          <p:cNvSpPr/>
          <p:nvPr/>
        </p:nvSpPr>
        <p:spPr>
          <a:xfrm>
            <a:off x="9056766" y="5074920"/>
            <a:ext cx="2013326" cy="420624"/>
          </a:xfrm>
          <a:prstGeom prst="rect">
            <a:avLst/>
          </a:prstGeom>
          <a:noFill/>
          <a:ln/>
        </p:spPr>
        <p:txBody>
          <a:bodyPr wrap="square" lIns="0" tIns="0" rIns="0" bIns="0" rtlCol="0" anchor="ctr"/>
          <a:lstStyle/>
          <a:p>
            <a:pPr algn="ctr" indent="0" marL="0">
              <a:buNone/>
            </a:pPr>
            <a:r>
              <a:rPr lang="en-US" sz="1100" b="1" dirty="0">
                <a:solidFill>
                  <a:srgbClr val="16233D"/>
                </a:solidFill>
                <a:latin typeface="Arial" pitchFamily="34" charset="0"/>
                <a:ea typeface="Arial" pitchFamily="34" charset="-122"/>
                <a:cs typeface="Arial" pitchFamily="34" charset="-120"/>
              </a:rPr>
              <a:t>✓  Chặn đoán mật khẩu</a:t>
            </a:r>
            <a:endParaRPr lang="en-US" sz="1100" dirty="0"/>
          </a:p>
        </p:txBody>
      </p:sp>
      <p:sp>
        <p:nvSpPr>
          <p:cNvPr id="21" name="Text 19"/>
          <p:cNvSpPr/>
          <p:nvPr/>
        </p:nvSpPr>
        <p:spPr>
          <a:xfrm>
            <a:off x="640080" y="6355080"/>
            <a:ext cx="2743200" cy="274320"/>
          </a:xfrm>
          <a:prstGeom prst="rect">
            <a:avLst/>
          </a:prstGeom>
          <a:noFill/>
          <a:ln/>
        </p:spPr>
        <p:txBody>
          <a:bodyPr wrap="square" lIns="0" tIns="0" rIns="0" bIns="0" rtlCol="0" anchor="ctr"/>
          <a:lstStyle/>
          <a:p>
            <a:pPr indent="0" marL="0">
              <a:buNone/>
            </a:pPr>
            <a:r>
              <a:rPr lang="en-US" sz="1100" b="1" dirty="0">
                <a:solidFill>
                  <a:srgbClr val="16233D"/>
                </a:solidFill>
                <a:latin typeface="Arial" pitchFamily="34" charset="0"/>
                <a:ea typeface="Arial" pitchFamily="34" charset="-122"/>
                <a:cs typeface="Arial" pitchFamily="34" charset="-120"/>
              </a:rPr>
              <a:t>Group</a:t>
            </a:r>
            <a:pPr indent="0" marL="0">
              <a:buNone/>
            </a:pPr>
            <a:r>
              <a:rPr lang="en-US" sz="1100" b="1" dirty="0">
                <a:solidFill>
                  <a:srgbClr val="2F7BF5"/>
                </a:solidFill>
                <a:latin typeface="Arial" pitchFamily="34" charset="0"/>
                <a:ea typeface="Arial" pitchFamily="34" charset="-122"/>
                <a:cs typeface="Arial" pitchFamily="34" charset="-120"/>
              </a:rPr>
              <a:t>Split</a:t>
            </a:r>
            <a:endParaRPr lang="en-US" sz="1100" dirty="0"/>
          </a:p>
        </p:txBody>
      </p:sp>
      <p:sp>
        <p:nvSpPr>
          <p:cNvPr id="22" name="Text 20"/>
          <p:cNvSpPr/>
          <p:nvPr/>
        </p:nvSpPr>
        <p:spPr>
          <a:xfrm>
            <a:off x="10637215" y="6355080"/>
            <a:ext cx="914400" cy="274320"/>
          </a:xfrm>
          <a:prstGeom prst="rect">
            <a:avLst/>
          </a:prstGeom>
          <a:noFill/>
          <a:ln/>
        </p:spPr>
        <p:txBody>
          <a:bodyPr wrap="square" lIns="0" tIns="0" rIns="0" bIns="0" rtlCol="0" anchor="ctr"/>
          <a:lstStyle/>
          <a:p>
            <a:pPr algn="r" indent="0" marL="0">
              <a:buNone/>
            </a:pPr>
            <a:r>
              <a:rPr lang="en-US" sz="1000" dirty="0">
                <a:solidFill>
                  <a:srgbClr val="6B7385"/>
                </a:solidFill>
                <a:latin typeface="Arial" pitchFamily="34" charset="0"/>
                <a:ea typeface="Arial" pitchFamily="34" charset="-122"/>
                <a:cs typeface="Arial"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33D"/>
        </a:solidFill>
      </p:bgPr>
    </p:bg>
    <p:spTree>
      <p:nvGrpSpPr>
        <p:cNvPr id="1" name=""/>
        <p:cNvGrpSpPr/>
        <p:nvPr/>
      </p:nvGrpSpPr>
      <p:grpSpPr>
        <a:xfrm>
          <a:off x="0" y="0"/>
          <a:ext cx="0" cy="0"/>
          <a:chOff x="0" y="0"/>
          <a:chExt cx="0" cy="0"/>
        </a:xfrm>
      </p:grpSpPr>
      <p:sp>
        <p:nvSpPr>
          <p:cNvPr id="2" name="Shape 0"/>
          <p:cNvSpPr/>
          <p:nvPr/>
        </p:nvSpPr>
        <p:spPr>
          <a:xfrm>
            <a:off x="7726680" y="1143000"/>
            <a:ext cx="4389120" cy="4389120"/>
          </a:xfrm>
          <a:prstGeom prst="pie">
            <a:avLst>
              <a:gd name="adj1" fmla="val 5400000"/>
              <a:gd name="adj2" fmla="val 16200000"/>
            </a:avLst>
          </a:prstGeom>
          <a:solidFill>
            <a:srgbClr val="14B88F"/>
          </a:solidFill>
          <a:ln w="12700">
            <a:solidFill>
              <a:srgbClr val="14B88F"/>
            </a:solidFill>
            <a:prstDash val="solid"/>
          </a:ln>
        </p:spPr>
      </p:sp>
      <p:sp>
        <p:nvSpPr>
          <p:cNvPr id="3" name="Shape 1"/>
          <p:cNvSpPr/>
          <p:nvPr/>
        </p:nvSpPr>
        <p:spPr>
          <a:xfrm>
            <a:off x="7726680" y="1143000"/>
            <a:ext cx="4389120" cy="4389120"/>
          </a:xfrm>
          <a:prstGeom prst="pie">
            <a:avLst>
              <a:gd name="adj1" fmla="val 16200000"/>
              <a:gd name="adj2" fmla="val 5400000"/>
            </a:avLst>
          </a:prstGeom>
          <a:solidFill>
            <a:srgbClr val="2F7BF5"/>
          </a:solidFill>
          <a:ln w="12700">
            <a:solidFill>
              <a:srgbClr val="2F7BF5"/>
            </a:solidFill>
            <a:prstDash val="solid"/>
          </a:ln>
        </p:spPr>
      </p:sp>
      <p:sp>
        <p:nvSpPr>
          <p:cNvPr id="4" name="Shape 2"/>
          <p:cNvSpPr/>
          <p:nvPr/>
        </p:nvSpPr>
        <p:spPr>
          <a:xfrm>
            <a:off x="9098280" y="2377440"/>
            <a:ext cx="1920240" cy="1920240"/>
          </a:xfrm>
          <a:prstGeom prst="roundRect">
            <a:avLst>
              <a:gd name="adj" fmla="val 7619"/>
            </a:avLst>
          </a:prstGeom>
          <a:solidFill>
            <a:srgbClr val="FFFFFF"/>
          </a:solidFill>
          <a:ln w="12700">
            <a:solidFill>
              <a:srgbClr val="FFFFFF"/>
            </a:solidFill>
            <a:prstDash val="solid"/>
          </a:ln>
        </p:spPr>
      </p:sp>
      <p:sp>
        <p:nvSpPr>
          <p:cNvPr id="5" name="Shape 3"/>
          <p:cNvSpPr/>
          <p:nvPr/>
        </p:nvSpPr>
        <p:spPr>
          <a:xfrm>
            <a:off x="9235440" y="2514600"/>
            <a:ext cx="1645920" cy="1645920"/>
          </a:xfrm>
          <a:prstGeom prst="roundRect">
            <a:avLst>
              <a:gd name="adj" fmla="val 5556"/>
            </a:avLst>
          </a:prstGeom>
          <a:solidFill>
            <a:srgbClr val="FFFFFF"/>
          </a:solidFill>
          <a:ln w="15875">
            <a:solidFill>
              <a:srgbClr val="6B7385"/>
            </a:solidFill>
            <a:prstDash val="dash"/>
          </a:ln>
        </p:spPr>
      </p:sp>
      <p:sp>
        <p:nvSpPr>
          <p:cNvPr id="6" name="Text 4"/>
          <p:cNvSpPr/>
          <p:nvPr/>
        </p:nvSpPr>
        <p:spPr>
          <a:xfrm>
            <a:off x="9235440" y="2514600"/>
            <a:ext cx="1645920" cy="1645920"/>
          </a:xfrm>
          <a:prstGeom prst="rect">
            <a:avLst/>
          </a:prstGeom>
          <a:noFill/>
          <a:ln/>
        </p:spPr>
        <p:txBody>
          <a:bodyPr wrap="square" lIns="0" tIns="0" rIns="0" bIns="0" rtlCol="0" anchor="ctr"/>
          <a:lstStyle/>
          <a:p>
            <a:pPr algn="ctr" indent="0" marL="0">
              <a:buNone/>
            </a:pPr>
            <a:r>
              <a:rPr lang="en-US" sz="1100" dirty="0">
                <a:solidFill>
                  <a:srgbClr val="6B7385"/>
                </a:solidFill>
                <a:latin typeface="Arial" pitchFamily="34" charset="0"/>
                <a:ea typeface="Arial" pitchFamily="34" charset="-122"/>
                <a:cs typeface="Arial" pitchFamily="34" charset="-120"/>
              </a:rPr>
              <a:t>Chèn mã QR</a:t>
            </a:r>
            <a:endParaRPr lang="en-US" sz="1100" dirty="0"/>
          </a:p>
          <a:p>
            <a:pPr algn="ctr" indent="0" marL="0">
              <a:buNone/>
            </a:pPr>
            <a:r>
              <a:rPr lang="en-US" sz="1100" dirty="0">
                <a:solidFill>
                  <a:srgbClr val="6B7385"/>
                </a:solidFill>
                <a:latin typeface="Arial" pitchFamily="34" charset="0"/>
                <a:ea typeface="Arial" pitchFamily="34" charset="-122"/>
                <a:cs typeface="Arial" pitchFamily="34" charset="-120"/>
              </a:rPr>
              <a:t>dẫn tới website</a:t>
            </a:r>
            <a:endParaRPr lang="en-US" sz="1100" dirty="0"/>
          </a:p>
        </p:txBody>
      </p:sp>
      <p:sp>
        <p:nvSpPr>
          <p:cNvPr id="7" name="Text 5"/>
          <p:cNvSpPr/>
          <p:nvPr/>
        </p:nvSpPr>
        <p:spPr>
          <a:xfrm>
            <a:off x="640080" y="1371600"/>
            <a:ext cx="6400800" cy="274320"/>
          </a:xfrm>
          <a:prstGeom prst="rect">
            <a:avLst/>
          </a:prstGeom>
          <a:noFill/>
          <a:ln/>
        </p:spPr>
        <p:txBody>
          <a:bodyPr wrap="square" lIns="0" tIns="0" rIns="0" bIns="0" rtlCol="0" anchor="ctr"/>
          <a:lstStyle/>
          <a:p>
            <a:pPr indent="0" marL="0">
              <a:buNone/>
            </a:pPr>
            <a:r>
              <a:rPr lang="en-US" sz="1200" b="1" spc="200" kern="0" dirty="0">
                <a:solidFill>
                  <a:srgbClr val="7FE0C4"/>
                </a:solidFill>
                <a:latin typeface="Arial" pitchFamily="34" charset="0"/>
                <a:ea typeface="Arial" pitchFamily="34" charset="-122"/>
                <a:cs typeface="Arial" pitchFamily="34" charset="-120"/>
              </a:rPr>
              <a:t>BẮT ĐẦU NGAY</a:t>
            </a:r>
            <a:endParaRPr lang="en-US" sz="1200" dirty="0"/>
          </a:p>
        </p:txBody>
      </p:sp>
      <p:sp>
        <p:nvSpPr>
          <p:cNvPr id="8" name="Text 6"/>
          <p:cNvSpPr/>
          <p:nvPr/>
        </p:nvSpPr>
        <p:spPr>
          <a:xfrm>
            <a:off x="640080" y="1783080"/>
            <a:ext cx="6766560" cy="155448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Tạo nhóm đầu tiên</a:t>
            </a:r>
            <a:endParaRPr lang="en-US" sz="4400" dirty="0"/>
          </a:p>
          <a:p>
            <a:pPr indent="0" marL="0">
              <a:buNone/>
            </a:pPr>
            <a:r>
              <a:rPr lang="en-US" sz="4400" b="1" dirty="0">
                <a:solidFill>
                  <a:srgbClr val="8FB8FF"/>
                </a:solidFill>
                <a:latin typeface="Arial" pitchFamily="34" charset="0"/>
                <a:ea typeface="Arial" pitchFamily="34" charset="-122"/>
                <a:cs typeface="Arial" pitchFamily="34" charset="-120"/>
              </a:rPr>
              <a:t>trong một phút.</a:t>
            </a:r>
            <a:endParaRPr lang="en-US" sz="4400" dirty="0"/>
          </a:p>
        </p:txBody>
      </p:sp>
      <p:sp>
        <p:nvSpPr>
          <p:cNvPr id="9" name="Text 7"/>
          <p:cNvSpPr/>
          <p:nvPr/>
        </p:nvSpPr>
        <p:spPr>
          <a:xfrm>
            <a:off x="640080" y="3520440"/>
            <a:ext cx="6217920" cy="914400"/>
          </a:xfrm>
          <a:prstGeom prst="rect">
            <a:avLst/>
          </a:prstGeom>
          <a:noFill/>
          <a:ln/>
        </p:spPr>
        <p:txBody>
          <a:bodyPr wrap="square" lIns="0" tIns="0" rIns="0" bIns="0" rtlCol="0" anchor="t"/>
          <a:lstStyle/>
          <a:p>
            <a:pPr indent="0" marL="0">
              <a:buNone/>
            </a:pPr>
            <a:r>
              <a:rPr lang="en-US" sz="1800" dirty="0">
                <a:solidFill>
                  <a:srgbClr val="C9D4EA"/>
                </a:solidFill>
                <a:latin typeface="Arial" pitchFamily="34" charset="0"/>
                <a:ea typeface="Arial" pitchFamily="34" charset="-122"/>
                <a:cs typeface="Arial" pitchFamily="34" charset="-120"/>
              </a:rPr>
              <a:t>Hoàn toàn miễn phí. Mở trên điện thoại hoặc máy tính, không cần cài đặt. Mời cả nhóm bằng một đường link.</a:t>
            </a:r>
            <a:endParaRPr lang="en-US" sz="1800" dirty="0"/>
          </a:p>
        </p:txBody>
      </p:sp>
      <p:sp>
        <p:nvSpPr>
          <p:cNvPr id="10" name="Shape 8"/>
          <p:cNvSpPr/>
          <p:nvPr/>
        </p:nvSpPr>
        <p:spPr>
          <a:xfrm>
            <a:off x="640080" y="4663440"/>
            <a:ext cx="2926080" cy="621792"/>
          </a:xfrm>
          <a:prstGeom prst="roundRect">
            <a:avLst>
              <a:gd name="adj" fmla="val 50000"/>
            </a:avLst>
          </a:prstGeom>
          <a:solidFill>
            <a:srgbClr val="14B88F"/>
          </a:solidFill>
          <a:ln w="12700">
            <a:solidFill>
              <a:srgbClr val="14B88F"/>
            </a:solidFill>
            <a:prstDash val="solid"/>
          </a:ln>
        </p:spPr>
      </p:sp>
      <p:sp>
        <p:nvSpPr>
          <p:cNvPr id="11" name="Text 9"/>
          <p:cNvSpPr/>
          <p:nvPr/>
        </p:nvSpPr>
        <p:spPr>
          <a:xfrm>
            <a:off x="640080" y="4663440"/>
            <a:ext cx="2926080" cy="62179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Đăng ký miễn phí</a:t>
            </a:r>
            <a:endParaRPr lang="en-US" sz="1600" dirty="0"/>
          </a:p>
        </p:txBody>
      </p:sp>
      <p:sp>
        <p:nvSpPr>
          <p:cNvPr id="12" name="Text 10"/>
          <p:cNvSpPr/>
          <p:nvPr/>
        </p:nvSpPr>
        <p:spPr>
          <a:xfrm>
            <a:off x="3794760" y="4663440"/>
            <a:ext cx="3840480" cy="621792"/>
          </a:xfrm>
          <a:prstGeom prst="rect">
            <a:avLst/>
          </a:prstGeom>
          <a:noFill/>
          <a:ln/>
        </p:spPr>
        <p:txBody>
          <a:bodyPr wrap="square" lIns="0" tIns="0" rIns="0" bIns="0" rtlCol="0" anchor="ctr"/>
          <a:lstStyle/>
          <a:p>
            <a:pPr indent="0" marL="0">
              <a:buNone/>
            </a:pPr>
            <a:r>
              <a:rPr lang="en-US" sz="1200" dirty="0">
                <a:solidFill>
                  <a:srgbClr val="9AA8C7"/>
                </a:solidFill>
                <a:latin typeface="Arial" pitchFamily="34" charset="0"/>
                <a:ea typeface="Arial" pitchFamily="34" charset="-122"/>
                <a:cs typeface="Arial" pitchFamily="34" charset="-120"/>
              </a:rPr>
              <a:t>Chia tiền nhóm thông minh · không còn nỗi lo tính toán</a:t>
            </a:r>
            <a:endParaRPr lang="en-US" sz="1200" dirty="0"/>
          </a:p>
        </p:txBody>
      </p:sp>
      <p:sp>
        <p:nvSpPr>
          <p:cNvPr id="13" name="Text 11"/>
          <p:cNvSpPr/>
          <p:nvPr/>
        </p:nvSpPr>
        <p:spPr>
          <a:xfrm>
            <a:off x="640080" y="6355080"/>
            <a:ext cx="2743200" cy="2743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Group</a:t>
            </a:r>
            <a:pPr indent="0" marL="0">
              <a:buNone/>
            </a:pPr>
            <a:r>
              <a:rPr lang="en-US" sz="1100" b="1" dirty="0">
                <a:solidFill>
                  <a:srgbClr val="8FB8FF"/>
                </a:solidFill>
                <a:latin typeface="Arial" pitchFamily="34" charset="0"/>
                <a:ea typeface="Arial" pitchFamily="34" charset="-122"/>
                <a:cs typeface="Arial" pitchFamily="34" charset="-120"/>
              </a:rPr>
              <a:t>Split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GroupSplit — Chia tiền nhóm thông minh</dc:title>
  <dc:subject>PptxGenJS Presentation</dc:subject>
  <dc:creator>PptxGenJS</dc:creator>
  <cp:lastModifiedBy>PptxGenJS</cp:lastModifiedBy>
  <cp:revision>1</cp:revision>
  <dcterms:created xsi:type="dcterms:W3CDTF">2026-10-17T07:54:37Z</dcterms:created>
  <dcterms:modified xsi:type="dcterms:W3CDTF">2026-10-17T07:54:37Z</dcterms:modified>
</cp:coreProperties>
</file>