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Trước khi sửa</c:v>
                </c:pt>
              </c:strCache>
            </c:strRef>
          </c:tx>
          <c:spPr>
            <a:solidFill>
              <a:srgbClr val="A3A9B4"/>
            </a:solidFill>
            <a:ln w="31750" cap="flat">
              <a:solidFill>
                <a:srgbClr val="A3A9B4"/>
              </a:solidFill>
              <a:prstDash val="solid"/>
              <a:round/>
            </a:ln>
            <a:effectLst/>
          </c:spPr>
          <c:invertIfNegative val="0"/>
          <c:dLbls>
            <c:numFmt formatCode="[=1]&quot;&quot;;0.00&quot; s&quot;" sourceLinked="0"/>
            <c:txPr>
              <a:bodyPr/>
              <a:lstStyle/>
              <a:p>
                <a:pPr>
                  <a:defRPr b="0" i="0" strike="noStrike" sz="1000" u="none">
                    <a:solidFill>
                      <a:srgbClr val="4A5263"/>
                    </a:solidFill>
                    <a:latin typeface="Arial"/>
                  </a:defRPr>
                </a:pPr>
              </a:p>
            </c:txPr>
            <c:dLblPos val="t"/>
            <c:showLegendKey val="0"/>
            <c:showVal val="1"/>
            <c:showCatName val="0"/>
            <c:showSerName val="0"/>
            <c:showPercent val="0"/>
            <c:showBubbleSize val="0"/>
            <c:showLeaderLines val="0"/>
          </c:dLbls>
          <c:marker>
            <c:symbol val="circle"/>
            <c:size val="8"/>
            <c:spPr>
              <a:solidFill>
                <a:srgbClr val="A3A9B4"/>
              </a:solidFill>
              <a:ln w="9525" cap="flat">
                <a:solidFill>
                  <a:srgbClr val="A3A9B4"/>
                </a:solidFill>
                <a:prstDash val="solid"/>
                <a:round/>
              </a:ln>
              <a:effectLst/>
            </c:spPr>
          </c:marker>
          <c:cat>
            <c:multiLvlStrRef>
              <c:f>Sheet1!$A$2:$A$5</c:f>
              <c:multiLvlStrCache>
                <c:ptCount val="4"/>
                <c:lvl>
                  <c:pt idx="0">
                    <c:v>600</c:v>
                  </c:pt>
                  <c:pt idx="1">
                    <c:v>800</c:v>
                  </c:pt>
                  <c:pt idx="2">
                    <c:v>1.000</c:v>
                  </c:pt>
                  <c:pt idx="3">
                    <c:v>1.200</c:v>
                  </c:pt>
                </c:lvl>
              </c:multiLvlStrCache>
            </c:multiLvlStrRef>
          </c:cat>
          <c:val>
            <c:numRef>
              <c:f>Sheet1!$B$2:$B$5</c:f>
              <c:numCache>
                <c:formatCode>General</c:formatCode>
                <c:ptCount val="4"/>
                <c:pt idx="0">
                  <c:v>3.665</c:v>
                </c:pt>
                <c:pt idx="1">
                  <c:v>5.282</c:v>
                </c:pt>
                <c:pt idx="2">
                  <c:v>5.079</c:v>
                </c:pt>
                <c:pt idx="3">
                  <c:v>7.644</c:v>
                </c:pt>
              </c:numCache>
            </c:numRef>
          </c:val>
          <c:smooth val="0"/>
        </c:ser>
        <c:ser>
          <c:idx val="1"/>
          <c:order val="1"/>
          <c:tx>
            <c:strRef>
              <c:f>Sheet1!$C$1</c:f>
              <c:strCache>
                <c:ptCount val="1"/>
                <c:pt idx="0">
                  <c:v>Sau khi sửa</c:v>
                </c:pt>
              </c:strCache>
            </c:strRef>
          </c:tx>
          <c:spPr>
            <a:solidFill>
              <a:srgbClr val="2A78D6"/>
            </a:solidFill>
            <a:ln w="31750" cap="flat">
              <a:solidFill>
                <a:srgbClr val="2A78D6"/>
              </a:solidFill>
              <a:prstDash val="solid"/>
              <a:round/>
            </a:ln>
            <a:effectLst/>
          </c:spPr>
          <c:invertIfNegative val="0"/>
          <c:dLbls>
            <c:numFmt formatCode="[=1]&quot;&quot;;0.00&quot; s&quot;" sourceLinked="0"/>
            <c:txPr>
              <a:bodyPr/>
              <a:lstStyle/>
              <a:p>
                <a:pPr>
                  <a:defRPr b="0" i="0" strike="noStrike" sz="1000" u="none">
                    <a:solidFill>
                      <a:srgbClr val="4A5263"/>
                    </a:solidFill>
                    <a:latin typeface="Arial"/>
                  </a:defRPr>
                </a:pPr>
              </a:p>
            </c:txPr>
            <c:dLblPos val="t"/>
            <c:showLegendKey val="0"/>
            <c:showVal val="1"/>
            <c:showCatName val="0"/>
            <c:showSerName val="0"/>
            <c:showPercent val="0"/>
            <c:showBubbleSize val="0"/>
            <c:showLeaderLines val="0"/>
          </c:dLbls>
          <c:marker>
            <c:symbol val="circle"/>
            <c:size val="8"/>
            <c:spPr>
              <a:solidFill>
                <a:srgbClr val="2A78D6"/>
              </a:solidFill>
              <a:ln w="9525" cap="flat">
                <a:solidFill>
                  <a:srgbClr val="2A78D6"/>
                </a:solidFill>
                <a:prstDash val="solid"/>
                <a:round/>
              </a:ln>
              <a:effectLst/>
            </c:spPr>
          </c:marker>
          <c:cat>
            <c:multiLvlStrRef>
              <c:f>Sheet1!$A$2:$A$5</c:f>
              <c:multiLvlStrCache>
                <c:ptCount val="4"/>
                <c:lvl>
                  <c:pt idx="0">
                    <c:v>600</c:v>
                  </c:pt>
                  <c:pt idx="1">
                    <c:v>800</c:v>
                  </c:pt>
                  <c:pt idx="2">
                    <c:v>1.000</c:v>
                  </c:pt>
                  <c:pt idx="3">
                    <c:v>1.200</c:v>
                  </c:pt>
                </c:lvl>
              </c:multiLvlStrCache>
            </c:multiLvlStrRef>
          </c:cat>
          <c:val>
            <c:numRef>
              <c:f>Sheet1!$C$2:$C$5</c:f>
              <c:numCache>
                <c:formatCode>General</c:formatCode>
                <c:ptCount val="4"/>
                <c:pt idx="0">
                  <c:v>0.054</c:v>
                </c:pt>
                <c:pt idx="1">
                  <c:v>1.189</c:v>
                </c:pt>
                <c:pt idx="2">
                  <c:v>1.582</c:v>
                </c:pt>
                <c:pt idx="3">
                  <c:v>4.321</c:v>
                </c:pt>
              </c:numCache>
            </c:numRef>
          </c:val>
          <c:smooth val="0"/>
        </c:ser>
        <c:ser>
          <c:idx val="2"/>
          <c:order val="2"/>
          <c:tx>
            <c:strRef>
              <c:f>Sheet1!$D$1</c:f>
              <c:strCache>
                <c:ptCount val="1"/>
                <c:pt idx="0">
                  <c:v>Ngưỡng 1 giây</c:v>
                </c:pt>
              </c:strCache>
            </c:strRef>
          </c:tx>
          <c:spPr>
            <a:solidFill>
              <a:srgbClr val="D03B3B"/>
            </a:solidFill>
            <a:ln w="31750" cap="flat">
              <a:solidFill>
                <a:srgbClr val="D03B3B"/>
              </a:solidFill>
              <a:prstDash val="solid"/>
              <a:round/>
            </a:ln>
            <a:effectLst/>
          </c:spPr>
          <c:invertIfNegative val="0"/>
          <c:dLbls>
            <c:numFmt formatCode="[=1]&quot;&quot;;0.00&quot; s&quot;" sourceLinked="0"/>
            <c:txPr>
              <a:bodyPr/>
              <a:lstStyle/>
              <a:p>
                <a:pPr>
                  <a:defRPr b="0" i="0" strike="noStrike" sz="1000" u="none">
                    <a:solidFill>
                      <a:srgbClr val="4A5263"/>
                    </a:solidFill>
                    <a:latin typeface="Arial"/>
                  </a:defRPr>
                </a:pPr>
              </a:p>
            </c:txPr>
            <c:dLblPos val="t"/>
            <c:showLegendKey val="0"/>
            <c:showVal val="1"/>
            <c:showCatName val="0"/>
            <c:showSerName val="0"/>
            <c:showPercent val="0"/>
            <c:showBubbleSize val="0"/>
            <c:showLeaderLines val="0"/>
          </c:dLbls>
          <c:marker>
            <c:symbol val="circle"/>
            <c:size val="8"/>
            <c:spPr>
              <a:solidFill>
                <a:srgbClr val="D03B3B"/>
              </a:solidFill>
              <a:ln w="9525" cap="flat">
                <a:solidFill>
                  <a:srgbClr val="D03B3B"/>
                </a:solidFill>
                <a:prstDash val="solid"/>
                <a:round/>
              </a:ln>
              <a:effectLst/>
            </c:spPr>
          </c:marker>
          <c:cat>
            <c:multiLvlStrRef>
              <c:f>Sheet1!$A$2:$A$5</c:f>
              <c:multiLvlStrCache>
                <c:ptCount val="4"/>
                <c:lvl>
                  <c:pt idx="0">
                    <c:v>600</c:v>
                  </c:pt>
                  <c:pt idx="1">
                    <c:v>800</c:v>
                  </c:pt>
                  <c:pt idx="2">
                    <c:v>1.000</c:v>
                  </c:pt>
                  <c:pt idx="3">
                    <c:v>1.200</c:v>
                  </c:pt>
                </c:lvl>
              </c:multiLvlStrCache>
            </c:multiLvlStrRef>
          </c:cat>
          <c:val>
            <c:numRef>
              <c:f>Sheet1!$D$2:$D$5</c:f>
              <c:numCache>
                <c:formatCode>General</c:formatCode>
                <c:ptCount val="4"/>
                <c:pt idx="0">
                  <c:v>1</c:v>
                </c:pt>
                <c:pt idx="1">
                  <c:v>1</c:v>
                </c:pt>
                <c:pt idx="2">
                  <c:v>1</c:v>
                </c:pt>
                <c:pt idx="3">
                  <c:v>1</c:v>
                </c:pt>
              </c:numCache>
            </c:numRef>
          </c:val>
          <c:smooth val="0"/>
        </c:ser>
        <c:dLbls>
          <c:numFmt formatCode="[=1]&quot;&quot;;0.00&quot; s&quot;" sourceLinked="0"/>
          <c:txPr>
            <a:bodyPr/>
            <a:lstStyle/>
            <a:p>
              <a:pPr>
                <a:defRPr b="0" i="0" strike="noStrike" sz="1000" u="none">
                  <a:solidFill>
                    <a:srgbClr val="4A5263"/>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7385"/>
                    </a:solidFill>
                    <a:latin typeface="Arial"/>
                  </a:defRPr>
                </a:pPr>
                <a:r>
                  <a:rPr sz="1100" b="0" i="0" u="none" strike="noStrike">
                    <a:solidFill>
                      <a:srgbClr val="6B7385"/>
                    </a:solidFill>
                    <a:latin typeface="Arial"/>
                  </a:rPr>
                  <a:t>Người dùng đồng thời</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385"/>
                </a:solidFill>
                <a:latin typeface="Arial"/>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12700" cap="flat">
              <a:solidFill>
                <a:srgbClr val="E1E5EE"/>
              </a:solidFill>
              <a:prstDash val="solid"/>
              <a:round/>
            </a:ln>
          </c:spPr>
        </c:majorGridlines>
        <c:title>
          <c:tx>
            <c:rich>
              <a:bodyPr/>
              <a:lstStyle/>
              <a:p>
                <a:pPr>
                  <a:defRPr sz="1100" b="0" i="0" u="none" strike="noStrike">
                    <a:solidFill>
                      <a:srgbClr val="6B7385"/>
                    </a:solidFill>
                    <a:latin typeface="Arial"/>
                  </a:defRPr>
                </a:pPr>
                <a:r>
                  <a:rPr sz="1100" b="0" i="0" u="none" strike="noStrike">
                    <a:solidFill>
                      <a:srgbClr val="6B7385"/>
                    </a:solidFill>
                    <a:latin typeface="Arial"/>
                  </a:rPr>
                  <a:t>p99</a:t>
                </a:r>
              </a:p>
            </c:rich>
          </c:tx>
          <c:layout/>
          <c:overlay val="0"/>
        </c:title>
        <c:numFmt formatCode="0&quot; s&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85"/>
                </a:solidFill>
                <a:latin typeface="Arial"/>
              </a:defRPr>
            </a:pPr>
            <a:endParaRPr lang="en-US"/>
          </a:p>
        </c:txPr>
        <c:crossAx val="2094734554"/>
        <c:crosses val="autoZero"/>
        <c:crossBetween val="between"/>
        <c:majorUnit val="2"/>
      </c:valAx>
      <c:spPr>
        <a:noFill/>
        <a:ln>
          <a:noFill/>
        </a:ln>
        <a:effectLst/>
      </c:spPr>
    </c:plotArea>
    <c:legend>
      <c:legendPos val="t"/>
      <c:overlay val="0"/>
      <c:txPr>
        <a:bodyPr/>
        <a:lstStyle/>
        <a:p>
          <a:pPr>
            <a:defRPr sz="1200">
              <a:solidFill>
                <a:srgbClr val="4A5263"/>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Lượt/giây</c:v>
                </c:pt>
              </c:strCache>
            </c:strRef>
          </c:tx>
          <c:spPr>
            <a:solidFill>
              <a:srgbClr val="2A78D6"/>
            </a:solidFill>
            <a:effectLst/>
          </c:spPr>
          <c:invertIfNegative val="0"/>
          <c:dLbls>
            <c:numFmt formatCode="#,##0" sourceLinked="0"/>
            <c:txPr>
              <a:bodyPr/>
              <a:lstStyle/>
              <a:p>
                <a:pPr>
                  <a:defRPr b="0" i="0" strike="noStrike" sz="1200" u="none">
                    <a:solidFill>
                      <a:srgbClr val="1B2130"/>
                    </a:solidFill>
                    <a:latin typeface="Arial"/>
                  </a:defRPr>
                </a:pPr>
              </a:p>
            </c:txPr>
            <c:showLegendKey val="0"/>
            <c:showVal val="1"/>
            <c:showCatName val="0"/>
            <c:showSerName val="0"/>
            <c:showPercent val="0"/>
            <c:showBubbleSize val="0"/>
            <c:showLeaderLines val="0"/>
          </c:dLbls>
          <c:cat>
            <c:multiLvlStrRef>
              <c:f>Sheet1!$A$2:$A$7</c:f>
              <c:multiLvlStrCache>
                <c:ptCount val="6"/>
                <c:lvl>
                  <c:pt idx="0">
                    <c:v>Trang chi tiết nhóm (nút thắt)</c:v>
                  </c:pt>
                  <c:pt idx="1">
                    <c:v>Dashboard</c:v>
                  </c:pt>
                  <c:pt idx="2">
                    <c:v>Trang chủ /</c:v>
                  </c:pt>
                  <c:pt idx="3">
                    <c:v>GET /api/groups</c:v>
                  </c:pt>
                  <c:pt idx="4">
                    <c:v>Trang /login</c:v>
                  </c:pt>
                  <c:pt idx="5">
                    <c:v>GET /api/notifications</c:v>
                  </c:pt>
                </c:lvl>
              </c:multiLvlStrCache>
            </c:multiLvlStrRef>
          </c:cat>
          <c:val>
            <c:numRef>
              <c:f>Sheet1!$B$2:$B$7</c:f>
              <c:numCache>
                <c:formatCode>General</c:formatCode>
                <c:ptCount val="6"/>
                <c:pt idx="0">
                  <c:v>82</c:v>
                </c:pt>
                <c:pt idx="1">
                  <c:v>159</c:v>
                </c:pt>
                <c:pt idx="2">
                  <c:v>654</c:v>
                </c:pt>
                <c:pt idx="3">
                  <c:v>892</c:v>
                </c:pt>
                <c:pt idx="4">
                  <c:v>912</c:v>
                </c:pt>
                <c:pt idx="5">
                  <c:v>997</c:v>
                </c:pt>
              </c:numCache>
            </c:numRef>
          </c:val>
        </c:ser>
        <c:dLbls>
          <c:numFmt formatCode="#,##0" sourceLinked="0"/>
          <c:txPr>
            <a:bodyPr/>
            <a:lstStyle/>
            <a:p>
              <a:pPr>
                <a:defRPr b="0" i="0" strike="noStrike" sz="1200" u="none">
                  <a:solidFill>
                    <a:srgbClr val="1B2130"/>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263"/>
                </a:solidFill>
                <a:latin typeface="Arial"/>
              </a:defRPr>
            </a:pPr>
            <a:endParaRPr lang="en-US"/>
          </a:p>
        </c:txPr>
        <c:crossAx val="2094734552"/>
        <c:crosses val="autoZero"/>
        <c:auto val="1"/>
        <c:lblAlgn val="ctr"/>
        <c:noMultiLvlLbl val="1"/>
      </c:catAx>
      <c:valAx>
        <c:axId val="2094734552"/>
        <c:scaling>
          <c:orientation val="minMax"/>
          <c:max val="1100"/>
          <c:min val="0"/>
        </c:scaling>
        <c:delete val="0"/>
        <c:axPos val="b"/>
        <c:majorGridlines>
          <c:spPr>
            <a:ln w="12700" cap="flat">
              <a:solidFill>
                <a:srgbClr val="E1E5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385"/>
                </a:solidFill>
                <a:latin typeface="Arial"/>
              </a:defRPr>
            </a:pPr>
            <a:endParaRPr lang="en-US"/>
          </a:p>
        </c:txPr>
        <c:crossAx val="2094734554"/>
        <c:crosses val="autoZero"/>
        <c:crossBetween val="between"/>
        <c:majorUnit val="25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bằng một câu: GroupSplit giúp nhóm bạn, phòng trọ hay đoàn du lịch biết chính xác ai nợ ai và trả nợ bằng một lần quét mã. Báo trước 5 phần; phần số liệu và sửa lỗi nằm ở nửa sau.
Hình gợi ý: logo app và ảnh màn hình trang nhóm trên điện thoại. Cột số tiền bên phải chỉ là ví dụ trang trí.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một tình huống quen thuộc: chuyến đi 4 người, mỗi người trả vài khoản. Slide 09 sẽ dùng lại đúng ví dụ này để cho thấy hệ thống tính nợ ra sao.
Hình gợi ý: ảnh chụp một đoạn chat nhóm dài với các tin "chuyển khoản rồi nhé", "ai trả tiền xăng?".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quan trọng nhất của phần sản phẩm. Bước 4 và bước 6 là hai bài toán kỹ thuật chính, được giải thích ở slide 09 và 10. Nếu có thời gian, demo trực tiếp bước 2 đến bước 5 trên điện thoại.
Hình gợi ý: ảnh form thêm hóa đơn và hộp thoại mã VietQR.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nhanh, mỗi ô một câu. Nhấn vào quỹ nhóm và cấp quỹ, phù hợp phòng trọ hoặc nhóm có thủ quỹ.
Hình gợi ý: ảnh thanh 6 tab của trang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Zalo là kênh người Việt đọc nhiều nhất, nên thông báo nợ và OTP đổi mật khẩu đều có thể gửi qua Zalo Bot. Chuông thông báo trong app cũng là chỗ có tối ưu lớn nhất hôm nay (slide 14).
Hình gợi ý: ảnh dashboard đặt cạnh ảnh một tin nhắn từ Zalo 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ý "mọi đường đăng nhập" và "đúng người nhận, đủ số tiền" là phần vừa được sửa. Nhắc người nghe rằng slide 17 sẽ kể lại lỗ hổng ban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Đừng đọc hết bảng. Chọn ba dòng để nói kỹ: Next.js (một codebase, render ở server), PostgreSQL (tiền bạc cần giao dịch an toàn, và chính PostgreSQL giúp sửa lỗi ở slide 18), SSE + LISTEN/NOTIFY (realtime không cần thêm hạ tầng).
Hình gợi ý: logo từng công nghệ đặt cạnh cột "Tầng".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vào hai luồng đọc và ghi: đây là nguyên tắc chia code của cả dự án. Production chạy trên Portainer bằng docker-compose: container app và container PostgreSQL trong mạng nội bộ, database không mở cổng ra ngoài.
"N worker": next start mặc định chỉ dùng 1 nhân CPU, nên app chạy qua server.mjs để mỗi nhân một tiến trình (số đo ở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qua ví dụ chậm rãi. A trả khách sạn nên B, C, D mỗi người nợ A 300.000; B trả bữa tối nên A, C, D mỗi người nợ B 100.000. Tính theo cặp ra 6 khoản nợ. B vừa nợ 300.000 vừa được nợ 300.000 nên số dư bằng 0; C và D mỗi người âm 400.000. Gom qua trưởng nhóm chỉ còn 2 lần chuyển khoản.
Kỹ thuật: getGroupNetBalances gộp 4 nguồn (split, chi từ quỹ, trả nợ, cấp quỹ) bằng UNION ALL rồi GROUP BY theo người, nên chi phí không tăng theo số hóa đơn phải tải về.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lớp bảo vệ ở bước 4 chống giả mạo (chữ ký), chống gửi lại một request cũ (thời điểm) và chống xử lý trùng khi SePay gửi lại (lưu mã giao dịch). Bước 5 là phần vừa thêm, đã kiểm chứng: chuyển 1 ₫ cho khoản nợ 250.000 ₫ không gạch được; chuyển đủ thì gạch ngay.
Hình gợi ý: ảnh hộp thoại VietQR và tin Zalo "Hệ thống đã tự động gạch nợ".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worker là một tiến trình riêng, không chia sẻ bộ nhớ, nên cần một kênh phát chung. PostgreSQL LISTEN/NOTIFY làm việc đó mà không cần Redis.
Hai thay đổi mới: tải lại có dàn trải (slide 16 có số đo) và heartbeat. Nginx Proxy Manager mặc định cắt kết nối im lặng sau 60 giây; khi đó trình duyệt phải kết nối lại, tốn thêm một lượt xác thực và truy vấn.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Nguyên tắc: đọc dùng Server Component, ghi dùng API. Mỗi API ghi trong nhánh nghiệp vụ nhóm phát một sự kiện realtime sau khi lưu. Kiểm tra quyền có hai lớp: middleware chặn theo vùng, từng route kiểm tra vai trò (ví dụ chỉ trưởng nhóm được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dòng đầu là nền tảng đã làm trước. Dòng cluster được đo lại trên máy này: cùng 1.000 người, một tiến trình next start cho p99 13,6 giây, cluster 4 worker còn 0,65–1,2 giây. Ba dòng tiếp theo lấy từ báo cáo 14/10, đo trên máy Xeon nên chỉ so sánh trong cùng dòng.
Bốn dòng còn lại làm hôm nay (17/10), đo trước và sau trên cùng máy, cùng kịch bản. Ba slide tiếp theo đi vào từng cái.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tối ưu có tác dụng lớn nhất. Chuông nằm ở header nên có mặt trên mọi trang, và mỗi tab tự gọi API theo chu kỳ dù người dùng không làm gì. Với 1.200 người, riêng việc này đã tạo 100 request/giây, gần bằng toàn bộ năng lực của máy.
Sau khi sửa, số chưa đọc vẫn cập nhật (chậm nhất 30 giây, hoặc ngay khi quay lại tab), danh sách chỉ tải khi có thông báo mới.
File thay đổi: src/components/notifications/notification-bell.tsx, src/app/api/notifications/route.ts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 trên runtime Bun, 1 tiến trình, 200 lượt đăng nhập cùng lúc, cùng máy và cùng kịch bản. Trước khi đổi đã kiểm tra tương thích: Bun đọc đúng hash do bcryptjs tạo và ngược lại. Ngoại lệ duy nhất là mật khẩu trên 72 byte (Bun băm SHA-512 trước), nên trường hợp này vẫn đi đường cũ.
File thay đổi: src/lib/password.ts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Truy vấn theo tab còn có lợi về lâu dài: lịch sử góp quỹ và hóa đơn chi từ quỹ tăng mãi theo tuổi nhóm, trước đây người mở bất kỳ tab nào cũng phải chờ tải hết.
Realtime: đã thử 3 hệ số trễ (5, 10, 20 ms mỗi thành viên) với nhóm 50 người và chọn 10 ms vì tốt hơn bản cũ ở cả thời gian server trả lời lẫn thời gian màn hình cập nhật (p99 màn hình giữ ~0,77 s).
File thay đổi: src/app/(app)/groups/[id]/page.tsx, src/components/groups/group-realtime-listener.tsx, src/app/api/groups/[id]/realtime/route.ts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Lỗi đăng nhập: form trên web luôn đi qua /api/auth/login-check có captcha và giới hạn 15 lần/phút, nhưng gửi thẳng mật khẩu tới /api/auth/callback/credentials thì không có giới hạn nào, tức dò mật khẩu không giới hạn được. Nay cả hai đường chung một ngưỡng.
Lỗi SePay: webhook được gọi cho tài khoản của người nhận, nên ngoài số tiền còn phải kiểm tra khoản nợ đó có đúng là trả cho chính người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khe hở: giữa lúc đọc và lúc ghi có một khoảng thời gian, các request khác chen vào đọc cùng giá trị cũ. Khi điều kiện nằm ngay trong câu UPDATE, PostgreSQL khóa dòng và kiểm tra lại điều kiện lúc ghi, nên chỉ một request đổi được trạng thái. Áp dụng cùng một mẫu cho 7 chỗ: duyệt hóa đơn, xác nhận nhận tiền, rời trạng thái chờ QR, góp quỹ, yêu cầu vào nhóm, lời mời, và webhook SePay.
Phụ: request duyệt trùng cũng nhanh hơn (p99 7,1 s → 3,9 s) vì 1.199 request thua không còn ghi thông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khác so với bài test ban đầu: có thêm chuông thông báo chạy nền. Bài ban đầu chỉ mô phỏng việc mở trang nên cho kết quả lạc quan (800 người đạt); khi thêm phần gọi nền cho đúng hành vi trình duyệt, bản cũ quá tải ngay từ 600 người.
Giới hạn của phép đo: app, database và máy phát tải tranh CPU của cùng một laptop. Docker Desktop trên Mac còn làm mỗi truy vấn chậm 6–12 lần so với chạy trong mạng nội bộ Docker (đo bằng pgbench). Số liệu vì thế thận trọng hơn một server Linux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thẳng: trên laptop này, chưa. Sau khi sửa, ngưỡng tăng từ dưới 600 lên khoảng 600–750 người. Mọi mức tải đều 0% lỗi: hệ thống chậm đi khi quá tải chứ không sập, không mất dữ liệu.
Bảng số liệu (p99 trước → sau, request/giây sau):
600 người: 3.665 ms → 54 ms (79 req/s)
800 người: 5.282 ms → 1.189 ms (103 req/s)
1.000 người: 5.079 ms → 1.582 ms (127 req/s)
1.200 người: 7.644 ms → 4.321 ms (133 req/s)
Số request/giây sau thấp hơn trước ở cùng số người vì chuông không còn gọi API dày đặc (trước: 108–165 req/s).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nhóm chiếm 40% lưu lượng nhưng chỉ phục vụ được 60–90 lượt/giây. Đã thử tăng worker từ 4 lên 8 và đổi số kết nối DB từ 24 đến 80: không cải thiện. Profile CPU cho thấy thời gian nằm ở việc render React, không nằm ở database, nên hướng tiếp theo là giảm lượng giao diện phải render cho tab Hóa đơn.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biệt rõ "đã làm" và "còn lại". Các lỗi nghiệp vụ và bảo mật đã sửa xong. Phần còn lại là năng lực: trên laptop dùng chung, phải giảm chi phí render của tab Hóa đơn hoặc thêm CPU. Báo cáo 14/10 trên máy Xeon 12 nhân đã đạt mốc 1.200 với kịch bản không có chuông, nên hướng hạ tầng là khả thi.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bằng câu trả lời có điều kiện. Nếu bị hỏi vì sao số khác báo cáo cũ: khác phần cứng (Xeon 12 nhân so với M2 8 nhân dùng chung với database và máy phát tải) và kịch bản mới có thêm chuông thông báo chạy nền.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FB4"/>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C9D4F7"/>
                </a:solidFill>
                <a:latin typeface="Arial" pitchFamily="34" charset="0"/>
                <a:ea typeface="Arial" pitchFamily="34" charset="-122"/>
                <a:cs typeface="Arial" pitchFamily="34" charset="-120"/>
              </a:rPr>
              <a:t>01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C9D4F7"/>
                </a:solidFill>
                <a:latin typeface="Arial" pitchFamily="34" charset="0"/>
                <a:ea typeface="Arial" pitchFamily="34" charset="-122"/>
                <a:cs typeface="Arial" pitchFamily="34" charset="-120"/>
              </a:rPr>
              <a:t>BÁO CÁO DỰ ÁN · 10/2026</a:t>
            </a:r>
            <a:endParaRPr lang="en-US" sz="1000" dirty="0"/>
          </a:p>
        </p:txBody>
      </p:sp>
      <p:sp>
        <p:nvSpPr>
          <p:cNvPr id="4" name="Text 2"/>
          <p:cNvSpPr/>
          <p:nvPr/>
        </p:nvSpPr>
        <p:spPr>
          <a:xfrm>
            <a:off x="548640" y="1828800"/>
            <a:ext cx="7772400" cy="1280160"/>
          </a:xfrm>
          <a:prstGeom prst="rect">
            <a:avLst/>
          </a:prstGeom>
          <a:noFill/>
          <a:ln/>
        </p:spPr>
        <p:txBody>
          <a:bodyPr wrap="square" lIns="0" tIns="0" rIns="0" bIns="0" rtlCol="0" anchor="ctr"/>
          <a:lstStyle/>
          <a:p>
            <a:pPr indent="0" marL="0">
              <a:buNone/>
            </a:pPr>
            <a:r>
              <a:rPr lang="en-US" sz="8000" b="1" dirty="0">
                <a:solidFill>
                  <a:srgbClr val="FFFFFF"/>
                </a:solidFill>
                <a:latin typeface="Arial" pitchFamily="34" charset="0"/>
                <a:ea typeface="Arial" pitchFamily="34" charset="-122"/>
                <a:cs typeface="Arial" pitchFamily="34" charset="-120"/>
              </a:rPr>
              <a:t>GroupSplit</a:t>
            </a:r>
            <a:endParaRPr lang="en-US" sz="8000" dirty="0"/>
          </a:p>
        </p:txBody>
      </p:sp>
      <p:sp>
        <p:nvSpPr>
          <p:cNvPr id="5" name="Text 3"/>
          <p:cNvSpPr/>
          <p:nvPr/>
        </p:nvSpPr>
        <p:spPr>
          <a:xfrm>
            <a:off x="548640" y="3154680"/>
            <a:ext cx="7315200" cy="548640"/>
          </a:xfrm>
          <a:prstGeom prst="rect">
            <a:avLst/>
          </a:prstGeom>
          <a:noFill/>
          <a:ln/>
        </p:spPr>
        <p:txBody>
          <a:bodyPr wrap="square" lIns="0" tIns="0" rIns="0" bIns="0" rtlCol="0" anchor="ctr"/>
          <a:lstStyle/>
          <a:p>
            <a:pPr indent="0" marL="0">
              <a:buNone/>
            </a:pPr>
            <a:r>
              <a:rPr lang="en-US" sz="2600" dirty="0">
                <a:solidFill>
                  <a:srgbClr val="C9D4F7"/>
                </a:solidFill>
                <a:latin typeface="Arial" pitchFamily="34" charset="0"/>
                <a:ea typeface="Arial" pitchFamily="34" charset="-122"/>
                <a:cs typeface="Arial" pitchFamily="34" charset="-120"/>
              </a:rPr>
              <a:t>Chia tiền nhóm minh bạch, trả nợ một chạm.</a:t>
            </a:r>
            <a:endParaRPr lang="en-US" sz="2600" dirty="0"/>
          </a:p>
        </p:txBody>
      </p:sp>
      <p:sp>
        <p:nvSpPr>
          <p:cNvPr id="6" name="Text 4"/>
          <p:cNvSpPr/>
          <p:nvPr/>
        </p:nvSpPr>
        <p:spPr>
          <a:xfrm>
            <a:off x="548640" y="5989320"/>
            <a:ext cx="11094415" cy="365760"/>
          </a:xfrm>
          <a:prstGeom prst="rect">
            <a:avLst/>
          </a:prstGeom>
          <a:noFill/>
          <a:ln/>
        </p:spPr>
        <p:txBody>
          <a:bodyPr wrap="square" lIns="0" tIns="0" rIns="0" bIns="0" rtlCol="0" anchor="ctr"/>
          <a:lstStyle/>
          <a:p>
            <a:pPr indent="0" marL="0">
              <a:buNone/>
            </a:pPr>
            <a:r>
              <a:rPr lang="en-US" sz="1300" dirty="0">
                <a:solidFill>
                  <a:srgbClr val="C9D4F7"/>
                </a:solidFill>
                <a:latin typeface="Arial" pitchFamily="34" charset="0"/>
                <a:ea typeface="Arial" pitchFamily="34" charset="-122"/>
                <a:cs typeface="Arial" pitchFamily="34" charset="-120"/>
              </a:rPr>
              <a:t>Chức năng   ·   Công nghệ &amp; giải pháp   ·   Tối ưu   ·   Sửa lỗi   ·   Kiểm thử chịu tải</a:t>
            </a:r>
            <a:endParaRPr lang="en-US" sz="1300" dirty="0"/>
          </a:p>
        </p:txBody>
      </p:sp>
      <p:sp>
        <p:nvSpPr>
          <p:cNvPr id="7" name="Text 5"/>
          <p:cNvSpPr/>
          <p:nvPr/>
        </p:nvSpPr>
        <p:spPr>
          <a:xfrm>
            <a:off x="8168335" y="2011680"/>
            <a:ext cx="3474720" cy="2011680"/>
          </a:xfrm>
          <a:prstGeom prst="rect">
            <a:avLst/>
          </a:prstGeom>
          <a:noFill/>
          <a:ln/>
        </p:spPr>
        <p:txBody>
          <a:bodyPr wrap="square" lIns="0" tIns="0" rIns="0" bIns="0" rtlCol="0" anchor="ctr"/>
          <a:lstStyle/>
          <a:p>
            <a:pPr algn="r" indent="0" marL="0">
              <a:buNone/>
            </a:pPr>
            <a:r>
              <a:rPr lang="en-US" sz="1500" dirty="0">
                <a:solidFill>
                  <a:srgbClr val="8FA3E8"/>
                </a:solidFill>
                <a:latin typeface="Arial" pitchFamily="34" charset="0"/>
                <a:ea typeface="Arial" pitchFamily="34" charset="-122"/>
                <a:cs typeface="Arial" pitchFamily="34" charset="-120"/>
              </a:rPr>
              <a:t>Hoa trả </a:t>
            </a:r>
            <a:pPr algn="r" indent="0" marL="0">
              <a:spcAft>
                <a:spcPts val="800"/>
              </a:spcAft>
              <a:buNone/>
            </a:pPr>
            <a:r>
              <a:rPr lang="en-US" sz="1500" b="1" dirty="0">
                <a:solidFill>
                  <a:srgbClr val="FFFFFF"/>
                </a:solidFill>
                <a:latin typeface="Arial" pitchFamily="34" charset="0"/>
                <a:ea typeface="Arial" pitchFamily="34" charset="-122"/>
                <a:cs typeface="Arial" pitchFamily="34" charset="-120"/>
              </a:rPr>
              <a:t>480.000 ₫</a:t>
            </a:r>
            <a:endParaRPr lang="en-US" sz="1500" dirty="0"/>
          </a:p>
          <a:p>
            <a:pPr algn="r" indent="0" marL="0">
              <a:buNone/>
            </a:pPr>
            <a:r>
              <a:rPr lang="en-US" sz="1500" dirty="0">
                <a:solidFill>
                  <a:srgbClr val="8FA3E8"/>
                </a:solidFill>
                <a:latin typeface="Arial" pitchFamily="34" charset="0"/>
                <a:ea typeface="Arial" pitchFamily="34" charset="-122"/>
                <a:cs typeface="Arial" pitchFamily="34" charset="-120"/>
              </a:rPr>
              <a:t>Nam trả </a:t>
            </a:r>
            <a:pPr algn="r" indent="0" marL="0">
              <a:spcAft>
                <a:spcPts val="800"/>
              </a:spcAft>
              <a:buNone/>
            </a:pPr>
            <a:r>
              <a:rPr lang="en-US" sz="1500" b="1" dirty="0">
                <a:solidFill>
                  <a:srgbClr val="FFFFFF"/>
                </a:solidFill>
                <a:latin typeface="Arial" pitchFamily="34" charset="0"/>
                <a:ea typeface="Arial" pitchFamily="34" charset="-122"/>
                <a:cs typeface="Arial" pitchFamily="34" charset="-120"/>
              </a:rPr>
              <a:t>1.200.000 ₫</a:t>
            </a:r>
            <a:endParaRPr lang="en-US" sz="1500" dirty="0"/>
          </a:p>
          <a:p>
            <a:pPr algn="r" indent="0" marL="0">
              <a:buNone/>
            </a:pPr>
            <a:r>
              <a:rPr lang="en-US" sz="1500" dirty="0">
                <a:solidFill>
                  <a:srgbClr val="8FA3E8"/>
                </a:solidFill>
                <a:latin typeface="Arial" pitchFamily="34" charset="0"/>
                <a:ea typeface="Arial" pitchFamily="34" charset="-122"/>
                <a:cs typeface="Arial" pitchFamily="34" charset="-120"/>
              </a:rPr>
              <a:t>An còn nợ </a:t>
            </a:r>
            <a:pPr algn="r" indent="0" marL="0">
              <a:spcAft>
                <a:spcPts val="800"/>
              </a:spcAft>
              <a:buNone/>
            </a:pPr>
            <a:r>
              <a:rPr lang="en-US" sz="1500" b="1" dirty="0">
                <a:solidFill>
                  <a:srgbClr val="FFFFFF"/>
                </a:solidFill>
                <a:latin typeface="Arial" pitchFamily="34" charset="0"/>
                <a:ea typeface="Arial" pitchFamily="34" charset="-122"/>
                <a:cs typeface="Arial" pitchFamily="34" charset="-120"/>
              </a:rPr>
              <a:t>210.000 ₫</a:t>
            </a:r>
            <a:endParaRPr lang="en-US" sz="1500" dirty="0"/>
          </a:p>
          <a:p>
            <a:pPr algn="r" indent="0" marL="0">
              <a:buNone/>
            </a:pPr>
            <a:r>
              <a:rPr lang="en-US" sz="1500" dirty="0">
                <a:solidFill>
                  <a:srgbClr val="8FA3E8"/>
                </a:solidFill>
                <a:latin typeface="Arial" pitchFamily="34" charset="0"/>
                <a:ea typeface="Arial" pitchFamily="34" charset="-122"/>
                <a:cs typeface="Arial" pitchFamily="34" charset="-120"/>
              </a:rPr>
              <a:t>Quỹ nhóm </a:t>
            </a:r>
            <a:pPr algn="r" indent="0" marL="0">
              <a:spcAft>
                <a:spcPts val="800"/>
              </a:spcAft>
              <a:buNone/>
            </a:pPr>
            <a:r>
              <a:rPr lang="en-US" sz="1500" b="1" dirty="0">
                <a:solidFill>
                  <a:srgbClr val="FFFFFF"/>
                </a:solidFill>
                <a:latin typeface="Arial" pitchFamily="34" charset="0"/>
                <a:ea typeface="Arial" pitchFamily="34" charset="-122"/>
                <a:cs typeface="Arial" pitchFamily="34" charset="-120"/>
              </a:rPr>
              <a:t>2.350.000 ₫</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02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VẤN ĐỀ</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Chia tiền nhóm vẫn đang làm bằng tay</a:t>
            </a:r>
            <a:endParaRPr lang="en-US" sz="2800" dirty="0"/>
          </a:p>
        </p:txBody>
      </p:sp>
      <p:sp>
        <p:nvSpPr>
          <p:cNvPr id="5" name="Shape 3"/>
          <p:cNvSpPr/>
          <p:nvPr/>
        </p:nvSpPr>
        <p:spPr>
          <a:xfrm>
            <a:off x="548640" y="1600200"/>
            <a:ext cx="5410048" cy="2057400"/>
          </a:xfrm>
          <a:prstGeom prst="roundRect">
            <a:avLst>
              <a:gd name="adj" fmla="val 3556"/>
            </a:avLst>
          </a:prstGeom>
          <a:solidFill>
            <a:srgbClr val="F1F4FA"/>
          </a:solidFill>
          <a:ln w="12700">
            <a:solidFill>
              <a:srgbClr val="F1F4FA"/>
            </a:solidFill>
            <a:prstDash val="solid"/>
          </a:ln>
        </p:spPr>
      </p:sp>
      <p:sp>
        <p:nvSpPr>
          <p:cNvPr id="6" name="Text 4"/>
          <p:cNvSpPr/>
          <p:nvPr/>
        </p:nvSpPr>
        <p:spPr>
          <a:xfrm>
            <a:off x="548640" y="1600200"/>
            <a:ext cx="5410048" cy="2057400"/>
          </a:xfrm>
          <a:prstGeom prst="rect">
            <a:avLst/>
          </a:prstGeom>
          <a:noFill/>
          <a:ln/>
        </p:spPr>
        <p:txBody>
          <a:bodyPr wrap="square" lIns="114300" tIns="152400" rIns="152400" bIns="114300" rtlCol="0" anchor="t"/>
          <a:lstStyle/>
          <a:p>
            <a:pPr indent="0" marL="0">
              <a:spcAft>
                <a:spcPts val="400"/>
              </a:spcAft>
              <a:buNone/>
            </a:pPr>
            <a:r>
              <a:rPr lang="en-US" sz="1800" b="1" dirty="0">
                <a:solidFill>
                  <a:srgbClr val="1B2130"/>
                </a:solidFill>
                <a:latin typeface="Arial" pitchFamily="34" charset="0"/>
                <a:ea typeface="Arial" pitchFamily="34" charset="-122"/>
                <a:cs typeface="Arial" pitchFamily="34" charset="-120"/>
              </a:rPr>
              <a:t>Ai đã trả, ai còn nợ?</a:t>
            </a:r>
            <a:endParaRPr lang="en-US" sz="1800" dirty="0"/>
          </a:p>
          <a:p>
            <a:pPr indent="0" marL="0">
              <a:spcAft>
                <a:spcPts val="400"/>
              </a:spcAft>
              <a:buNone/>
            </a:pPr>
            <a:r>
              <a:rPr lang="en-US" sz="1600" dirty="0">
                <a:solidFill>
                  <a:srgbClr val="4A5263"/>
                </a:solidFill>
                <a:latin typeface="Arial" pitchFamily="34" charset="0"/>
                <a:ea typeface="Arial" pitchFamily="34" charset="-122"/>
                <a:cs typeface="Arial" pitchFamily="34" charset="-120"/>
              </a:rPr>
              <a:t>Hóa đơn nằm rải rác trong nhóm chat, cuối tháng ngồi cộng lại từng khoản.</a:t>
            </a:r>
            <a:endParaRPr lang="en-US" sz="1800" dirty="0"/>
          </a:p>
        </p:txBody>
      </p:sp>
      <p:sp>
        <p:nvSpPr>
          <p:cNvPr id="7" name="Shape 5"/>
          <p:cNvSpPr/>
          <p:nvPr/>
        </p:nvSpPr>
        <p:spPr>
          <a:xfrm>
            <a:off x="6233008" y="1600200"/>
            <a:ext cx="5410048" cy="2057400"/>
          </a:xfrm>
          <a:prstGeom prst="roundRect">
            <a:avLst>
              <a:gd name="adj" fmla="val 3556"/>
            </a:avLst>
          </a:prstGeom>
          <a:solidFill>
            <a:srgbClr val="F1F4FA"/>
          </a:solidFill>
          <a:ln w="12700">
            <a:solidFill>
              <a:srgbClr val="F1F4FA"/>
            </a:solidFill>
            <a:prstDash val="solid"/>
          </a:ln>
        </p:spPr>
      </p:sp>
      <p:sp>
        <p:nvSpPr>
          <p:cNvPr id="8" name="Text 6"/>
          <p:cNvSpPr/>
          <p:nvPr/>
        </p:nvSpPr>
        <p:spPr>
          <a:xfrm>
            <a:off x="6233008" y="1600200"/>
            <a:ext cx="5410048" cy="2057400"/>
          </a:xfrm>
          <a:prstGeom prst="rect">
            <a:avLst/>
          </a:prstGeom>
          <a:noFill/>
          <a:ln/>
        </p:spPr>
        <p:txBody>
          <a:bodyPr wrap="square" lIns="114300" tIns="152400" rIns="152400" bIns="114300" rtlCol="0" anchor="t"/>
          <a:lstStyle/>
          <a:p>
            <a:pPr indent="0" marL="0">
              <a:spcAft>
                <a:spcPts val="400"/>
              </a:spcAft>
              <a:buNone/>
            </a:pPr>
            <a:r>
              <a:rPr lang="en-US" sz="1800" b="1" dirty="0">
                <a:solidFill>
                  <a:srgbClr val="1B2130"/>
                </a:solidFill>
                <a:latin typeface="Arial" pitchFamily="34" charset="0"/>
                <a:ea typeface="Arial" pitchFamily="34" charset="-122"/>
                <a:cs typeface="Arial" pitchFamily="34" charset="-120"/>
              </a:rPr>
              <a:t>Ngại đòi nợ</a:t>
            </a:r>
            <a:endParaRPr lang="en-US" sz="1800" dirty="0"/>
          </a:p>
          <a:p>
            <a:pPr indent="0" marL="0">
              <a:spcAft>
                <a:spcPts val="400"/>
              </a:spcAft>
              <a:buNone/>
            </a:pPr>
            <a:r>
              <a:rPr lang="en-US" sz="1600" dirty="0">
                <a:solidFill>
                  <a:srgbClr val="4A5263"/>
                </a:solidFill>
                <a:latin typeface="Arial" pitchFamily="34" charset="0"/>
                <a:ea typeface="Arial" pitchFamily="34" charset="-122"/>
                <a:cs typeface="Arial" pitchFamily="34" charset="-120"/>
              </a:rPr>
              <a:t>Nhắc tiền bằng tin nhắn dễ mất lòng nên thường bị bỏ qua.</a:t>
            </a:r>
            <a:endParaRPr lang="en-US" sz="1800" dirty="0"/>
          </a:p>
        </p:txBody>
      </p:sp>
      <p:sp>
        <p:nvSpPr>
          <p:cNvPr id="9" name="Shape 7"/>
          <p:cNvSpPr/>
          <p:nvPr/>
        </p:nvSpPr>
        <p:spPr>
          <a:xfrm>
            <a:off x="548640" y="3840480"/>
            <a:ext cx="5410048" cy="2057400"/>
          </a:xfrm>
          <a:prstGeom prst="roundRect">
            <a:avLst>
              <a:gd name="adj" fmla="val 3556"/>
            </a:avLst>
          </a:prstGeom>
          <a:solidFill>
            <a:srgbClr val="F1F4FA"/>
          </a:solidFill>
          <a:ln w="12700">
            <a:solidFill>
              <a:srgbClr val="F1F4FA"/>
            </a:solidFill>
            <a:prstDash val="solid"/>
          </a:ln>
        </p:spPr>
      </p:sp>
      <p:sp>
        <p:nvSpPr>
          <p:cNvPr id="10" name="Text 8"/>
          <p:cNvSpPr/>
          <p:nvPr/>
        </p:nvSpPr>
        <p:spPr>
          <a:xfrm>
            <a:off x="548640" y="3840480"/>
            <a:ext cx="5410048" cy="2057400"/>
          </a:xfrm>
          <a:prstGeom prst="rect">
            <a:avLst/>
          </a:prstGeom>
          <a:noFill/>
          <a:ln/>
        </p:spPr>
        <p:txBody>
          <a:bodyPr wrap="square" lIns="114300" tIns="152400" rIns="152400" bIns="114300" rtlCol="0" anchor="t"/>
          <a:lstStyle/>
          <a:p>
            <a:pPr indent="0" marL="0">
              <a:spcAft>
                <a:spcPts val="400"/>
              </a:spcAft>
              <a:buNone/>
            </a:pPr>
            <a:r>
              <a:rPr lang="en-US" sz="1800" b="1" dirty="0">
                <a:solidFill>
                  <a:srgbClr val="1B2130"/>
                </a:solidFill>
                <a:latin typeface="Arial" pitchFamily="34" charset="0"/>
                <a:ea typeface="Arial" pitchFamily="34" charset="-122"/>
                <a:cs typeface="Arial" pitchFamily="34" charset="-120"/>
              </a:rPr>
              <a:t>Đối soát chuyển khoản</a:t>
            </a:r>
            <a:endParaRPr lang="en-US" sz="1800" dirty="0"/>
          </a:p>
          <a:p>
            <a:pPr indent="0" marL="0">
              <a:spcAft>
                <a:spcPts val="400"/>
              </a:spcAft>
              <a:buNone/>
            </a:pPr>
            <a:r>
              <a:rPr lang="en-US" sz="1600" dirty="0">
                <a:solidFill>
                  <a:srgbClr val="4A5263"/>
                </a:solidFill>
                <a:latin typeface="Arial" pitchFamily="34" charset="0"/>
                <a:ea typeface="Arial" pitchFamily="34" charset="-122"/>
                <a:cs typeface="Arial" pitchFamily="34" charset="-120"/>
              </a:rPr>
              <a:t>Nhận tiền xong phải mở app ngân hàng dò từng giao dịch.</a:t>
            </a:r>
            <a:endParaRPr lang="en-US" sz="1800" dirty="0"/>
          </a:p>
        </p:txBody>
      </p:sp>
      <p:sp>
        <p:nvSpPr>
          <p:cNvPr id="11" name="Shape 9"/>
          <p:cNvSpPr/>
          <p:nvPr/>
        </p:nvSpPr>
        <p:spPr>
          <a:xfrm>
            <a:off x="6233008" y="3840480"/>
            <a:ext cx="5410048" cy="2057400"/>
          </a:xfrm>
          <a:prstGeom prst="roundRect">
            <a:avLst>
              <a:gd name="adj" fmla="val 3556"/>
            </a:avLst>
          </a:prstGeom>
          <a:solidFill>
            <a:srgbClr val="F1F4FA"/>
          </a:solidFill>
          <a:ln w="12700">
            <a:solidFill>
              <a:srgbClr val="F1F4FA"/>
            </a:solidFill>
            <a:prstDash val="solid"/>
          </a:ln>
        </p:spPr>
      </p:sp>
      <p:sp>
        <p:nvSpPr>
          <p:cNvPr id="12" name="Text 10"/>
          <p:cNvSpPr/>
          <p:nvPr/>
        </p:nvSpPr>
        <p:spPr>
          <a:xfrm>
            <a:off x="6233008" y="3840480"/>
            <a:ext cx="5410048" cy="2057400"/>
          </a:xfrm>
          <a:prstGeom prst="rect">
            <a:avLst/>
          </a:prstGeom>
          <a:noFill/>
          <a:ln/>
        </p:spPr>
        <p:txBody>
          <a:bodyPr wrap="square" lIns="114300" tIns="152400" rIns="152400" bIns="114300" rtlCol="0" anchor="t"/>
          <a:lstStyle/>
          <a:p>
            <a:pPr indent="0" marL="0">
              <a:spcAft>
                <a:spcPts val="400"/>
              </a:spcAft>
              <a:buNone/>
            </a:pPr>
            <a:r>
              <a:rPr lang="en-US" sz="1800" b="1" dirty="0">
                <a:solidFill>
                  <a:srgbClr val="1B2130"/>
                </a:solidFill>
                <a:latin typeface="Arial" pitchFamily="34" charset="0"/>
                <a:ea typeface="Arial" pitchFamily="34" charset="-122"/>
                <a:cs typeface="Arial" pitchFamily="34" charset="-120"/>
              </a:rPr>
              <a:t>Quỹ chung không rõ ràng</a:t>
            </a:r>
            <a:endParaRPr lang="en-US" sz="1800" dirty="0"/>
          </a:p>
          <a:p>
            <a:pPr indent="0" marL="0">
              <a:spcAft>
                <a:spcPts val="400"/>
              </a:spcAft>
              <a:buNone/>
            </a:pPr>
            <a:r>
              <a:rPr lang="en-US" sz="1600" dirty="0">
                <a:solidFill>
                  <a:srgbClr val="4A5263"/>
                </a:solidFill>
                <a:latin typeface="Arial" pitchFamily="34" charset="0"/>
                <a:ea typeface="Arial" pitchFamily="34" charset="-122"/>
                <a:cs typeface="Arial" pitchFamily="34" charset="-120"/>
              </a:rPr>
              <a:t>Không ai chắc quỹ còn bao nhiêu và đã chi vào việc gì.</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03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LUỒNG SỬ DỤNG</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Một hóa đơn đi từ lúc nhập đến lúc trả xong</a:t>
            </a:r>
            <a:endParaRPr lang="en-US" sz="2800" dirty="0"/>
          </a:p>
        </p:txBody>
      </p:sp>
      <p:sp>
        <p:nvSpPr>
          <p:cNvPr id="5" name="Shape 3"/>
          <p:cNvSpPr/>
          <p:nvPr/>
        </p:nvSpPr>
        <p:spPr>
          <a:xfrm>
            <a:off x="548640" y="1691640"/>
            <a:ext cx="3527450" cy="36576"/>
          </a:xfrm>
          <a:prstGeom prst="rect">
            <a:avLst/>
          </a:prstGeom>
          <a:solidFill>
            <a:srgbClr val="2D5BE3"/>
          </a:solidFill>
          <a:ln w="12700">
            <a:solidFill>
              <a:srgbClr val="2D5BE3"/>
            </a:solidFill>
            <a:prstDash val="solid"/>
          </a:ln>
        </p:spPr>
      </p:sp>
      <p:sp>
        <p:nvSpPr>
          <p:cNvPr id="6" name="Text 4"/>
          <p:cNvSpPr/>
          <p:nvPr/>
        </p:nvSpPr>
        <p:spPr>
          <a:xfrm>
            <a:off x="548640" y="1783080"/>
            <a:ext cx="3527450" cy="182880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01</a:t>
            </a:r>
            <a:endParaRPr lang="en-US" sz="1100" dirty="0"/>
          </a:p>
          <a:p>
            <a:pPr indent="0" marL="0">
              <a:spcAft>
                <a:spcPts val="400"/>
              </a:spcAft>
              <a:buNone/>
            </a:pPr>
            <a:r>
              <a:rPr lang="en-US" sz="1600" b="1" dirty="0">
                <a:solidFill>
                  <a:srgbClr val="1B2130"/>
                </a:solidFill>
                <a:latin typeface="Arial" pitchFamily="34" charset="0"/>
                <a:ea typeface="Arial" pitchFamily="34" charset="-122"/>
                <a:cs typeface="Arial" pitchFamily="34" charset="-120"/>
              </a:rPr>
              <a:t>Tạo nhóm, mời thành viên</a:t>
            </a:r>
            <a:endParaRPr lang="en-US" sz="1100" dirty="0"/>
          </a:p>
          <a:p>
            <a:pPr indent="0" marL="0">
              <a:buNone/>
            </a:pPr>
            <a:r>
              <a:rPr lang="en-US" sz="1450" dirty="0">
                <a:solidFill>
                  <a:srgbClr val="4A5263"/>
                </a:solidFill>
                <a:latin typeface="Arial" pitchFamily="34" charset="0"/>
                <a:ea typeface="Arial" pitchFamily="34" charset="-122"/>
                <a:cs typeface="Arial" pitchFamily="34" charset="-120"/>
              </a:rPr>
              <a:t>Gửi link mời hoặc mời theo tên tài khoản; trưởng nhóm duyệt yêu cầu vào nhóm.</a:t>
            </a:r>
            <a:endParaRPr lang="en-US" sz="1100" dirty="0"/>
          </a:p>
        </p:txBody>
      </p:sp>
      <p:sp>
        <p:nvSpPr>
          <p:cNvPr id="7" name="Shape 5"/>
          <p:cNvSpPr/>
          <p:nvPr/>
        </p:nvSpPr>
        <p:spPr>
          <a:xfrm>
            <a:off x="4332122" y="1691640"/>
            <a:ext cx="3527450" cy="36576"/>
          </a:xfrm>
          <a:prstGeom prst="rect">
            <a:avLst/>
          </a:prstGeom>
          <a:solidFill>
            <a:srgbClr val="2D5BE3"/>
          </a:solidFill>
          <a:ln w="12700">
            <a:solidFill>
              <a:srgbClr val="2D5BE3"/>
            </a:solidFill>
            <a:prstDash val="solid"/>
          </a:ln>
        </p:spPr>
      </p:sp>
      <p:sp>
        <p:nvSpPr>
          <p:cNvPr id="8" name="Text 6"/>
          <p:cNvSpPr/>
          <p:nvPr/>
        </p:nvSpPr>
        <p:spPr>
          <a:xfrm>
            <a:off x="4332122" y="1783080"/>
            <a:ext cx="3527450" cy="182880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02</a:t>
            </a:r>
            <a:endParaRPr lang="en-US" sz="1100" dirty="0"/>
          </a:p>
          <a:p>
            <a:pPr indent="0" marL="0">
              <a:spcAft>
                <a:spcPts val="400"/>
              </a:spcAft>
              <a:buNone/>
            </a:pPr>
            <a:r>
              <a:rPr lang="en-US" sz="1600" b="1" dirty="0">
                <a:solidFill>
                  <a:srgbClr val="1B2130"/>
                </a:solidFill>
                <a:latin typeface="Arial" pitchFamily="34" charset="0"/>
                <a:ea typeface="Arial" pitchFamily="34" charset="-122"/>
                <a:cs typeface="Arial" pitchFamily="34" charset="-120"/>
              </a:rPr>
              <a:t>Thêm hóa đơn</a:t>
            </a:r>
            <a:endParaRPr lang="en-US" sz="1100" dirty="0"/>
          </a:p>
          <a:p>
            <a:pPr indent="0" marL="0">
              <a:buNone/>
            </a:pPr>
            <a:r>
              <a:rPr lang="en-US" sz="1450" dirty="0">
                <a:solidFill>
                  <a:srgbClr val="4A5263"/>
                </a:solidFill>
                <a:latin typeface="Arial" pitchFamily="34" charset="0"/>
                <a:ea typeface="Arial" pitchFamily="34" charset="-122"/>
                <a:cs typeface="Arial" pitchFamily="34" charset="-120"/>
              </a:rPr>
              <a:t>Chia đều, theo số tiền, theo phần trăm hoặc theo suất.</a:t>
            </a:r>
            <a:endParaRPr lang="en-US" sz="1100" dirty="0"/>
          </a:p>
        </p:txBody>
      </p:sp>
      <p:sp>
        <p:nvSpPr>
          <p:cNvPr id="9" name="Shape 7"/>
          <p:cNvSpPr/>
          <p:nvPr/>
        </p:nvSpPr>
        <p:spPr>
          <a:xfrm>
            <a:off x="8115605" y="1691640"/>
            <a:ext cx="3527450" cy="36576"/>
          </a:xfrm>
          <a:prstGeom prst="rect">
            <a:avLst/>
          </a:prstGeom>
          <a:solidFill>
            <a:srgbClr val="2D5BE3"/>
          </a:solidFill>
          <a:ln w="12700">
            <a:solidFill>
              <a:srgbClr val="2D5BE3"/>
            </a:solidFill>
            <a:prstDash val="solid"/>
          </a:ln>
        </p:spPr>
      </p:sp>
      <p:sp>
        <p:nvSpPr>
          <p:cNvPr id="10" name="Text 8"/>
          <p:cNvSpPr/>
          <p:nvPr/>
        </p:nvSpPr>
        <p:spPr>
          <a:xfrm>
            <a:off x="8115605" y="1783080"/>
            <a:ext cx="3527450" cy="182880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03</a:t>
            </a:r>
            <a:endParaRPr lang="en-US" sz="1100" dirty="0"/>
          </a:p>
          <a:p>
            <a:pPr indent="0" marL="0">
              <a:spcAft>
                <a:spcPts val="400"/>
              </a:spcAft>
              <a:buNone/>
            </a:pPr>
            <a:r>
              <a:rPr lang="en-US" sz="1600" b="1" dirty="0">
                <a:solidFill>
                  <a:srgbClr val="1B2130"/>
                </a:solidFill>
                <a:latin typeface="Arial" pitchFamily="34" charset="0"/>
                <a:ea typeface="Arial" pitchFamily="34" charset="-122"/>
                <a:cs typeface="Arial" pitchFamily="34" charset="-120"/>
              </a:rPr>
              <a:t>Trưởng nhóm duyệt</a:t>
            </a:r>
            <a:endParaRPr lang="en-US" sz="1100" dirty="0"/>
          </a:p>
          <a:p>
            <a:pPr indent="0" marL="0">
              <a:buNone/>
            </a:pPr>
            <a:r>
              <a:rPr lang="en-US" sz="1450" dirty="0">
                <a:solidFill>
                  <a:srgbClr val="4A5263"/>
                </a:solidFill>
                <a:latin typeface="Arial" pitchFamily="34" charset="0"/>
                <a:ea typeface="Arial" pitchFamily="34" charset="-122"/>
                <a:cs typeface="Arial" pitchFamily="34" charset="-120"/>
              </a:rPr>
              <a:t>Hóa đơn chỉ được tính vào sổ sau khi duyệt.</a:t>
            </a:r>
            <a:endParaRPr lang="en-US" sz="1100" dirty="0"/>
          </a:p>
        </p:txBody>
      </p:sp>
      <p:sp>
        <p:nvSpPr>
          <p:cNvPr id="11" name="Shape 9"/>
          <p:cNvSpPr/>
          <p:nvPr/>
        </p:nvSpPr>
        <p:spPr>
          <a:xfrm>
            <a:off x="548640" y="3840480"/>
            <a:ext cx="3527450" cy="36576"/>
          </a:xfrm>
          <a:prstGeom prst="rect">
            <a:avLst/>
          </a:prstGeom>
          <a:solidFill>
            <a:srgbClr val="2D5BE3"/>
          </a:solidFill>
          <a:ln w="12700">
            <a:solidFill>
              <a:srgbClr val="2D5BE3"/>
            </a:solidFill>
            <a:prstDash val="solid"/>
          </a:ln>
        </p:spPr>
      </p:sp>
      <p:sp>
        <p:nvSpPr>
          <p:cNvPr id="12" name="Text 10"/>
          <p:cNvSpPr/>
          <p:nvPr/>
        </p:nvSpPr>
        <p:spPr>
          <a:xfrm>
            <a:off x="548640" y="3931920"/>
            <a:ext cx="3527450" cy="182880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04</a:t>
            </a:r>
            <a:endParaRPr lang="en-US" sz="1100" dirty="0"/>
          </a:p>
          <a:p>
            <a:pPr indent="0" marL="0">
              <a:spcAft>
                <a:spcPts val="400"/>
              </a:spcAft>
              <a:buNone/>
            </a:pPr>
            <a:r>
              <a:rPr lang="en-US" sz="1600" b="1" dirty="0">
                <a:solidFill>
                  <a:srgbClr val="1B2130"/>
                </a:solidFill>
                <a:latin typeface="Arial" pitchFamily="34" charset="0"/>
                <a:ea typeface="Arial" pitchFamily="34" charset="-122"/>
                <a:cs typeface="Arial" pitchFamily="34" charset="-120"/>
              </a:rPr>
              <a:t>Tự tính ai nợ ai</a:t>
            </a:r>
            <a:endParaRPr lang="en-US" sz="1100" dirty="0"/>
          </a:p>
          <a:p>
            <a:pPr indent="0" marL="0">
              <a:buNone/>
            </a:pPr>
            <a:r>
              <a:rPr lang="en-US" sz="1450" dirty="0">
                <a:solidFill>
                  <a:srgbClr val="4A5263"/>
                </a:solidFill>
                <a:latin typeface="Arial" pitchFamily="34" charset="0"/>
                <a:ea typeface="Arial" pitchFamily="34" charset="-122"/>
                <a:cs typeface="Arial" pitchFamily="34" charset="-120"/>
              </a:rPr>
              <a:t>Mọi khoản gom qua trưởng nhóm, mỗi người chỉ còn một con số.</a:t>
            </a:r>
            <a:endParaRPr lang="en-US" sz="1100" dirty="0"/>
          </a:p>
        </p:txBody>
      </p:sp>
      <p:sp>
        <p:nvSpPr>
          <p:cNvPr id="13" name="Shape 11"/>
          <p:cNvSpPr/>
          <p:nvPr/>
        </p:nvSpPr>
        <p:spPr>
          <a:xfrm>
            <a:off x="4332122" y="3840480"/>
            <a:ext cx="3527450" cy="36576"/>
          </a:xfrm>
          <a:prstGeom prst="rect">
            <a:avLst/>
          </a:prstGeom>
          <a:solidFill>
            <a:srgbClr val="2D5BE3"/>
          </a:solidFill>
          <a:ln w="12700">
            <a:solidFill>
              <a:srgbClr val="2D5BE3"/>
            </a:solidFill>
            <a:prstDash val="solid"/>
          </a:ln>
        </p:spPr>
      </p:sp>
      <p:sp>
        <p:nvSpPr>
          <p:cNvPr id="14" name="Text 12"/>
          <p:cNvSpPr/>
          <p:nvPr/>
        </p:nvSpPr>
        <p:spPr>
          <a:xfrm>
            <a:off x="4332122" y="3931920"/>
            <a:ext cx="3527450" cy="182880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05</a:t>
            </a:r>
            <a:endParaRPr lang="en-US" sz="1100" dirty="0"/>
          </a:p>
          <a:p>
            <a:pPr indent="0" marL="0">
              <a:spcAft>
                <a:spcPts val="400"/>
              </a:spcAft>
              <a:buNone/>
            </a:pPr>
            <a:r>
              <a:rPr lang="en-US" sz="1600" b="1" dirty="0">
                <a:solidFill>
                  <a:srgbClr val="1B2130"/>
                </a:solidFill>
                <a:latin typeface="Arial" pitchFamily="34" charset="0"/>
                <a:ea typeface="Arial" pitchFamily="34" charset="-122"/>
                <a:cs typeface="Arial" pitchFamily="34" charset="-120"/>
              </a:rPr>
              <a:t>Quét VietQR để trả</a:t>
            </a:r>
            <a:endParaRPr lang="en-US" sz="1100" dirty="0"/>
          </a:p>
          <a:p>
            <a:pPr indent="0" marL="0">
              <a:buNone/>
            </a:pPr>
            <a:r>
              <a:rPr lang="en-US" sz="1450" dirty="0">
                <a:solidFill>
                  <a:srgbClr val="4A5263"/>
                </a:solidFill>
                <a:latin typeface="Arial" pitchFamily="34" charset="0"/>
                <a:ea typeface="Arial" pitchFamily="34" charset="-122"/>
                <a:cs typeface="Arial" pitchFamily="34" charset="-120"/>
              </a:rPr>
              <a:t>Mã QR điền sẵn ngân hàng, số tài khoản, số tiền và nội dung.</a:t>
            </a:r>
            <a:endParaRPr lang="en-US" sz="1100" dirty="0"/>
          </a:p>
        </p:txBody>
      </p:sp>
      <p:sp>
        <p:nvSpPr>
          <p:cNvPr id="15" name="Shape 13"/>
          <p:cNvSpPr/>
          <p:nvPr/>
        </p:nvSpPr>
        <p:spPr>
          <a:xfrm>
            <a:off x="8115605" y="3840480"/>
            <a:ext cx="3527450" cy="36576"/>
          </a:xfrm>
          <a:prstGeom prst="rect">
            <a:avLst/>
          </a:prstGeom>
          <a:solidFill>
            <a:srgbClr val="2D5BE3"/>
          </a:solidFill>
          <a:ln w="12700">
            <a:solidFill>
              <a:srgbClr val="2D5BE3"/>
            </a:solidFill>
            <a:prstDash val="solid"/>
          </a:ln>
        </p:spPr>
      </p:sp>
      <p:sp>
        <p:nvSpPr>
          <p:cNvPr id="16" name="Text 14"/>
          <p:cNvSpPr/>
          <p:nvPr/>
        </p:nvSpPr>
        <p:spPr>
          <a:xfrm>
            <a:off x="8115605" y="3931920"/>
            <a:ext cx="3527450" cy="182880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06</a:t>
            </a:r>
            <a:endParaRPr lang="en-US" sz="1100" dirty="0"/>
          </a:p>
          <a:p>
            <a:pPr indent="0" marL="0">
              <a:spcAft>
                <a:spcPts val="400"/>
              </a:spcAft>
              <a:buNone/>
            </a:pPr>
            <a:r>
              <a:rPr lang="en-US" sz="1600" b="1" dirty="0">
                <a:solidFill>
                  <a:srgbClr val="1B2130"/>
                </a:solidFill>
                <a:latin typeface="Arial" pitchFamily="34" charset="0"/>
                <a:ea typeface="Arial" pitchFamily="34" charset="-122"/>
                <a:cs typeface="Arial" pitchFamily="34" charset="-120"/>
              </a:rPr>
              <a:t>Tự xác nhận</a:t>
            </a:r>
            <a:endParaRPr lang="en-US" sz="1100" dirty="0"/>
          </a:p>
          <a:p>
            <a:pPr indent="0" marL="0">
              <a:buNone/>
            </a:pPr>
            <a:r>
              <a:rPr lang="en-US" sz="1450" dirty="0">
                <a:solidFill>
                  <a:srgbClr val="4A5263"/>
                </a:solidFill>
                <a:latin typeface="Arial" pitchFamily="34" charset="0"/>
                <a:ea typeface="Arial" pitchFamily="34" charset="-122"/>
                <a:cs typeface="Arial" pitchFamily="34" charset="-120"/>
              </a:rPr>
              <a:t>SePay báo tiền về, khoản nợ tự đóng và cả nhóm nhận thông báo.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04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CHỨC NĂNG TRONG NHÓM</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Mỗi nhóm có 6 khu vực làm việc</a:t>
            </a:r>
            <a:endParaRPr lang="en-US" sz="2800" dirty="0"/>
          </a:p>
        </p:txBody>
      </p:sp>
      <p:sp>
        <p:nvSpPr>
          <p:cNvPr id="5" name="Shape 3"/>
          <p:cNvSpPr/>
          <p:nvPr/>
        </p:nvSpPr>
        <p:spPr>
          <a:xfrm>
            <a:off x="548640" y="1600200"/>
            <a:ext cx="3515258" cy="2057400"/>
          </a:xfrm>
          <a:prstGeom prst="roundRect">
            <a:avLst>
              <a:gd name="adj" fmla="val 3556"/>
            </a:avLst>
          </a:prstGeom>
          <a:solidFill>
            <a:srgbClr val="F1F4FA"/>
          </a:solidFill>
          <a:ln w="12700">
            <a:solidFill>
              <a:srgbClr val="F1F4FA"/>
            </a:solidFill>
            <a:prstDash val="solid"/>
          </a:ln>
        </p:spPr>
      </p:sp>
      <p:sp>
        <p:nvSpPr>
          <p:cNvPr id="6" name="Text 4"/>
          <p:cNvSpPr/>
          <p:nvPr/>
        </p:nvSpPr>
        <p:spPr>
          <a:xfrm>
            <a:off x="548640" y="1600200"/>
            <a:ext cx="3515258" cy="2057400"/>
          </a:xfrm>
          <a:prstGeom prst="rect">
            <a:avLst/>
          </a:prstGeom>
          <a:noFill/>
          <a:ln/>
        </p:spPr>
        <p:txBody>
          <a:bodyPr wrap="square" lIns="114300" tIns="152400" rIns="152400" bIns="114300" rtlCol="0" anchor="t"/>
          <a:lstStyle/>
          <a:p>
            <a:pPr indent="0" marL="0">
              <a:spcAft>
                <a:spcPts val="400"/>
              </a:spcAft>
              <a:buNone/>
            </a:pPr>
            <a:r>
              <a:rPr lang="en-US" sz="1700" b="1" dirty="0">
                <a:solidFill>
                  <a:srgbClr val="1B2130"/>
                </a:solidFill>
                <a:latin typeface="Arial" pitchFamily="34" charset="0"/>
                <a:ea typeface="Arial" pitchFamily="34" charset="-122"/>
                <a:cs typeface="Arial" pitchFamily="34" charset="-120"/>
              </a:rPr>
              <a:t>Hóa đơn</a:t>
            </a:r>
            <a:endParaRPr lang="en-US" sz="1700" dirty="0"/>
          </a:p>
          <a:p>
            <a:pPr indent="0" marL="0">
              <a:spcAft>
                <a:spcPts val="400"/>
              </a:spcAft>
              <a:buNone/>
            </a:pPr>
            <a:r>
              <a:rPr lang="en-US" sz="1500" dirty="0">
                <a:solidFill>
                  <a:srgbClr val="4A5263"/>
                </a:solidFill>
                <a:latin typeface="Arial" pitchFamily="34" charset="0"/>
                <a:ea typeface="Arial" pitchFamily="34" charset="-122"/>
                <a:cs typeface="Arial" pitchFamily="34" charset="-120"/>
              </a:rPr>
              <a:t>Danh sách chờ duyệt và đã duyệt, lọc theo ngày, phân trang, sửa, xóa.</a:t>
            </a:r>
            <a:endParaRPr lang="en-US" sz="1700" dirty="0"/>
          </a:p>
        </p:txBody>
      </p:sp>
      <p:sp>
        <p:nvSpPr>
          <p:cNvPr id="7" name="Shape 5"/>
          <p:cNvSpPr/>
          <p:nvPr/>
        </p:nvSpPr>
        <p:spPr>
          <a:xfrm>
            <a:off x="4338218" y="1600200"/>
            <a:ext cx="3515258" cy="2057400"/>
          </a:xfrm>
          <a:prstGeom prst="roundRect">
            <a:avLst>
              <a:gd name="adj" fmla="val 3556"/>
            </a:avLst>
          </a:prstGeom>
          <a:solidFill>
            <a:srgbClr val="F1F4FA"/>
          </a:solidFill>
          <a:ln w="12700">
            <a:solidFill>
              <a:srgbClr val="F1F4FA"/>
            </a:solidFill>
            <a:prstDash val="solid"/>
          </a:ln>
        </p:spPr>
      </p:sp>
      <p:sp>
        <p:nvSpPr>
          <p:cNvPr id="8" name="Text 6"/>
          <p:cNvSpPr/>
          <p:nvPr/>
        </p:nvSpPr>
        <p:spPr>
          <a:xfrm>
            <a:off x="4338218" y="1600200"/>
            <a:ext cx="3515258" cy="2057400"/>
          </a:xfrm>
          <a:prstGeom prst="rect">
            <a:avLst/>
          </a:prstGeom>
          <a:noFill/>
          <a:ln/>
        </p:spPr>
        <p:txBody>
          <a:bodyPr wrap="square" lIns="114300" tIns="152400" rIns="152400" bIns="114300" rtlCol="0" anchor="t"/>
          <a:lstStyle/>
          <a:p>
            <a:pPr indent="0" marL="0">
              <a:spcAft>
                <a:spcPts val="400"/>
              </a:spcAft>
              <a:buNone/>
            </a:pPr>
            <a:r>
              <a:rPr lang="en-US" sz="1700" b="1" dirty="0">
                <a:solidFill>
                  <a:srgbClr val="1B2130"/>
                </a:solidFill>
                <a:latin typeface="Arial" pitchFamily="34" charset="0"/>
                <a:ea typeface="Arial" pitchFamily="34" charset="-122"/>
                <a:cs typeface="Arial" pitchFamily="34" charset="-120"/>
              </a:rPr>
              <a:t>Trả nợ</a:t>
            </a:r>
            <a:endParaRPr lang="en-US" sz="1700" dirty="0"/>
          </a:p>
          <a:p>
            <a:pPr indent="0" marL="0">
              <a:spcAft>
                <a:spcPts val="400"/>
              </a:spcAft>
              <a:buNone/>
            </a:pPr>
            <a:r>
              <a:rPr lang="en-US" sz="1500" dirty="0">
                <a:solidFill>
                  <a:srgbClr val="4A5263"/>
                </a:solidFill>
                <a:latin typeface="Arial" pitchFamily="34" charset="0"/>
                <a:ea typeface="Arial" pitchFamily="34" charset="-122"/>
                <a:cs typeface="Arial" pitchFamily="34" charset="-120"/>
              </a:rPr>
              <a:t>Số dư từng người, giải thích vì sao nợ, báo đã chuyển tiền, xác nhận.</a:t>
            </a:r>
            <a:endParaRPr lang="en-US" sz="1700" dirty="0"/>
          </a:p>
        </p:txBody>
      </p:sp>
      <p:sp>
        <p:nvSpPr>
          <p:cNvPr id="9" name="Shape 7"/>
          <p:cNvSpPr/>
          <p:nvPr/>
        </p:nvSpPr>
        <p:spPr>
          <a:xfrm>
            <a:off x="8127797" y="1600200"/>
            <a:ext cx="3515258" cy="2057400"/>
          </a:xfrm>
          <a:prstGeom prst="roundRect">
            <a:avLst>
              <a:gd name="adj" fmla="val 3556"/>
            </a:avLst>
          </a:prstGeom>
          <a:solidFill>
            <a:srgbClr val="F1F4FA"/>
          </a:solidFill>
          <a:ln w="12700">
            <a:solidFill>
              <a:srgbClr val="F1F4FA"/>
            </a:solidFill>
            <a:prstDash val="solid"/>
          </a:ln>
        </p:spPr>
      </p:sp>
      <p:sp>
        <p:nvSpPr>
          <p:cNvPr id="10" name="Text 8"/>
          <p:cNvSpPr/>
          <p:nvPr/>
        </p:nvSpPr>
        <p:spPr>
          <a:xfrm>
            <a:off x="8127797" y="1600200"/>
            <a:ext cx="3515258" cy="2057400"/>
          </a:xfrm>
          <a:prstGeom prst="rect">
            <a:avLst/>
          </a:prstGeom>
          <a:noFill/>
          <a:ln/>
        </p:spPr>
        <p:txBody>
          <a:bodyPr wrap="square" lIns="114300" tIns="152400" rIns="152400" bIns="114300" rtlCol="0" anchor="t"/>
          <a:lstStyle/>
          <a:p>
            <a:pPr indent="0" marL="0">
              <a:spcAft>
                <a:spcPts val="400"/>
              </a:spcAft>
              <a:buNone/>
            </a:pPr>
            <a:r>
              <a:rPr lang="en-US" sz="1700" b="1" dirty="0">
                <a:solidFill>
                  <a:srgbClr val="1B2130"/>
                </a:solidFill>
                <a:latin typeface="Arial" pitchFamily="34" charset="0"/>
                <a:ea typeface="Arial" pitchFamily="34" charset="-122"/>
                <a:cs typeface="Arial" pitchFamily="34" charset="-120"/>
              </a:rPr>
              <a:t>Quỹ nhóm</a:t>
            </a:r>
            <a:endParaRPr lang="en-US" sz="1700" dirty="0"/>
          </a:p>
          <a:p>
            <a:pPr indent="0" marL="0">
              <a:spcAft>
                <a:spcPts val="400"/>
              </a:spcAft>
              <a:buNone/>
            </a:pPr>
            <a:r>
              <a:rPr lang="en-US" sz="1500" dirty="0">
                <a:solidFill>
                  <a:srgbClr val="4A5263"/>
                </a:solidFill>
                <a:latin typeface="Arial" pitchFamily="34" charset="0"/>
                <a:ea typeface="Arial" pitchFamily="34" charset="-122"/>
                <a:cs typeface="Arial" pitchFamily="34" charset="-120"/>
              </a:rPr>
              <a:t>Thành viên góp quỹ; hóa đơn có thể chi thẳng từ quỹ.</a:t>
            </a:r>
            <a:endParaRPr lang="en-US" sz="1700" dirty="0"/>
          </a:p>
        </p:txBody>
      </p:sp>
      <p:sp>
        <p:nvSpPr>
          <p:cNvPr id="11" name="Shape 9"/>
          <p:cNvSpPr/>
          <p:nvPr/>
        </p:nvSpPr>
        <p:spPr>
          <a:xfrm>
            <a:off x="548640" y="3886200"/>
            <a:ext cx="3515258" cy="2057400"/>
          </a:xfrm>
          <a:prstGeom prst="roundRect">
            <a:avLst>
              <a:gd name="adj" fmla="val 3556"/>
            </a:avLst>
          </a:prstGeom>
          <a:solidFill>
            <a:srgbClr val="F1F4FA"/>
          </a:solidFill>
          <a:ln w="12700">
            <a:solidFill>
              <a:srgbClr val="F1F4FA"/>
            </a:solidFill>
            <a:prstDash val="solid"/>
          </a:ln>
        </p:spPr>
      </p:sp>
      <p:sp>
        <p:nvSpPr>
          <p:cNvPr id="12" name="Text 10"/>
          <p:cNvSpPr/>
          <p:nvPr/>
        </p:nvSpPr>
        <p:spPr>
          <a:xfrm>
            <a:off x="548640" y="3886200"/>
            <a:ext cx="3515258" cy="2057400"/>
          </a:xfrm>
          <a:prstGeom prst="rect">
            <a:avLst/>
          </a:prstGeom>
          <a:noFill/>
          <a:ln/>
        </p:spPr>
        <p:txBody>
          <a:bodyPr wrap="square" lIns="114300" tIns="152400" rIns="152400" bIns="114300" rtlCol="0" anchor="t"/>
          <a:lstStyle/>
          <a:p>
            <a:pPr indent="0" marL="0">
              <a:spcAft>
                <a:spcPts val="400"/>
              </a:spcAft>
              <a:buNone/>
            </a:pPr>
            <a:r>
              <a:rPr lang="en-US" sz="1700" b="1" dirty="0">
                <a:solidFill>
                  <a:srgbClr val="1B2130"/>
                </a:solidFill>
                <a:latin typeface="Arial" pitchFamily="34" charset="0"/>
                <a:ea typeface="Arial" pitchFamily="34" charset="-122"/>
                <a:cs typeface="Arial" pitchFamily="34" charset="-120"/>
              </a:rPr>
              <a:t>Cấp quỹ</a:t>
            </a:r>
            <a:endParaRPr lang="en-US" sz="1700" dirty="0"/>
          </a:p>
          <a:p>
            <a:pPr indent="0" marL="0">
              <a:spcAft>
                <a:spcPts val="400"/>
              </a:spcAft>
              <a:buNone/>
            </a:pPr>
            <a:r>
              <a:rPr lang="en-US" sz="1500" dirty="0">
                <a:solidFill>
                  <a:srgbClr val="4A5263"/>
                </a:solidFill>
                <a:latin typeface="Arial" pitchFamily="34" charset="0"/>
                <a:ea typeface="Arial" pitchFamily="34" charset="-122"/>
                <a:cs typeface="Arial" pitchFamily="34" charset="-120"/>
              </a:rPr>
              <a:t>Thủ quỹ cấp tiền cho thành viên đi chợ, mua đồ chung.</a:t>
            </a:r>
            <a:endParaRPr lang="en-US" sz="1700" dirty="0"/>
          </a:p>
        </p:txBody>
      </p:sp>
      <p:sp>
        <p:nvSpPr>
          <p:cNvPr id="13" name="Shape 11"/>
          <p:cNvSpPr/>
          <p:nvPr/>
        </p:nvSpPr>
        <p:spPr>
          <a:xfrm>
            <a:off x="4338218" y="3886200"/>
            <a:ext cx="3515258" cy="2057400"/>
          </a:xfrm>
          <a:prstGeom prst="roundRect">
            <a:avLst>
              <a:gd name="adj" fmla="val 3556"/>
            </a:avLst>
          </a:prstGeom>
          <a:solidFill>
            <a:srgbClr val="F1F4FA"/>
          </a:solidFill>
          <a:ln w="12700">
            <a:solidFill>
              <a:srgbClr val="F1F4FA"/>
            </a:solidFill>
            <a:prstDash val="solid"/>
          </a:ln>
        </p:spPr>
      </p:sp>
      <p:sp>
        <p:nvSpPr>
          <p:cNvPr id="14" name="Text 12"/>
          <p:cNvSpPr/>
          <p:nvPr/>
        </p:nvSpPr>
        <p:spPr>
          <a:xfrm>
            <a:off x="4338218" y="3886200"/>
            <a:ext cx="3515258" cy="2057400"/>
          </a:xfrm>
          <a:prstGeom prst="rect">
            <a:avLst/>
          </a:prstGeom>
          <a:noFill/>
          <a:ln/>
        </p:spPr>
        <p:txBody>
          <a:bodyPr wrap="square" lIns="114300" tIns="152400" rIns="152400" bIns="114300" rtlCol="0" anchor="t"/>
          <a:lstStyle/>
          <a:p>
            <a:pPr indent="0" marL="0">
              <a:spcAft>
                <a:spcPts val="400"/>
              </a:spcAft>
              <a:buNone/>
            </a:pPr>
            <a:r>
              <a:rPr lang="en-US" sz="1700" b="1" dirty="0">
                <a:solidFill>
                  <a:srgbClr val="1B2130"/>
                </a:solidFill>
                <a:latin typeface="Arial" pitchFamily="34" charset="0"/>
                <a:ea typeface="Arial" pitchFamily="34" charset="-122"/>
                <a:cs typeface="Arial" pitchFamily="34" charset="-120"/>
              </a:rPr>
              <a:t>Thành viên</a:t>
            </a:r>
            <a:endParaRPr lang="en-US" sz="1700" dirty="0"/>
          </a:p>
          <a:p>
            <a:pPr indent="0" marL="0">
              <a:spcAft>
                <a:spcPts val="400"/>
              </a:spcAft>
              <a:buNone/>
            </a:pPr>
            <a:r>
              <a:rPr lang="en-US" sz="1500" dirty="0">
                <a:solidFill>
                  <a:srgbClr val="4A5263"/>
                </a:solidFill>
                <a:latin typeface="Arial" pitchFamily="34" charset="0"/>
                <a:ea typeface="Arial" pitchFamily="34" charset="-122"/>
                <a:cs typeface="Arial" pitchFamily="34" charset="-120"/>
              </a:rPr>
              <a:t>Mời, duyệt yêu cầu, xóa, rời nhóm, mã QR nhận tiền của từng người.</a:t>
            </a:r>
            <a:endParaRPr lang="en-US" sz="1700" dirty="0"/>
          </a:p>
        </p:txBody>
      </p:sp>
      <p:sp>
        <p:nvSpPr>
          <p:cNvPr id="15" name="Shape 13"/>
          <p:cNvSpPr/>
          <p:nvPr/>
        </p:nvSpPr>
        <p:spPr>
          <a:xfrm>
            <a:off x="8127797" y="3886200"/>
            <a:ext cx="3515258" cy="2057400"/>
          </a:xfrm>
          <a:prstGeom prst="roundRect">
            <a:avLst>
              <a:gd name="adj" fmla="val 3556"/>
            </a:avLst>
          </a:prstGeom>
          <a:solidFill>
            <a:srgbClr val="F1F4FA"/>
          </a:solidFill>
          <a:ln w="12700">
            <a:solidFill>
              <a:srgbClr val="F1F4FA"/>
            </a:solidFill>
            <a:prstDash val="solid"/>
          </a:ln>
        </p:spPr>
      </p:sp>
      <p:sp>
        <p:nvSpPr>
          <p:cNvPr id="16" name="Text 14"/>
          <p:cNvSpPr/>
          <p:nvPr/>
        </p:nvSpPr>
        <p:spPr>
          <a:xfrm>
            <a:off x="8127797" y="3886200"/>
            <a:ext cx="3515258" cy="2057400"/>
          </a:xfrm>
          <a:prstGeom prst="rect">
            <a:avLst/>
          </a:prstGeom>
          <a:noFill/>
          <a:ln/>
        </p:spPr>
        <p:txBody>
          <a:bodyPr wrap="square" lIns="114300" tIns="152400" rIns="152400" bIns="114300" rtlCol="0" anchor="t"/>
          <a:lstStyle/>
          <a:p>
            <a:pPr indent="0" marL="0">
              <a:spcAft>
                <a:spcPts val="400"/>
              </a:spcAft>
              <a:buNone/>
            </a:pPr>
            <a:r>
              <a:rPr lang="en-US" sz="1700" b="1" dirty="0">
                <a:solidFill>
                  <a:srgbClr val="1B2130"/>
                </a:solidFill>
                <a:latin typeface="Arial" pitchFamily="34" charset="0"/>
                <a:ea typeface="Arial" pitchFamily="34" charset="-122"/>
                <a:cs typeface="Arial" pitchFamily="34" charset="-120"/>
              </a:rPr>
              <a:t>Cài đặt</a:t>
            </a:r>
            <a:endParaRPr lang="en-US" sz="1700" dirty="0"/>
          </a:p>
          <a:p>
            <a:pPr indent="0" marL="0">
              <a:spcAft>
                <a:spcPts val="400"/>
              </a:spcAft>
              <a:buNone/>
            </a:pPr>
            <a:r>
              <a:rPr lang="en-US" sz="1500" dirty="0">
                <a:solidFill>
                  <a:srgbClr val="4A5263"/>
                </a:solidFill>
                <a:latin typeface="Arial" pitchFamily="34" charset="0"/>
                <a:ea typeface="Arial" pitchFamily="34" charset="-122"/>
                <a:cs typeface="Arial" pitchFamily="34" charset="-120"/>
              </a:rPr>
              <a:t>Tên, ảnh nhóm, danh mục chi tiêu, chọn thủ quỹ, kết nối Zalo nhóm.</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05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DASHBOARD &amp; THÔNG BÁO</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Nhìn toàn cảnh chi tiêu, không bỏ lỡ thông báo</a:t>
            </a:r>
            <a:endParaRPr lang="en-US" sz="2800" dirty="0"/>
          </a:p>
        </p:txBody>
      </p:sp>
      <p:sp>
        <p:nvSpPr>
          <p:cNvPr id="5" name="Shape 3"/>
          <p:cNvSpPr/>
          <p:nvPr/>
        </p:nvSpPr>
        <p:spPr>
          <a:xfrm>
            <a:off x="548640" y="1600200"/>
            <a:ext cx="5410048" cy="2788920"/>
          </a:xfrm>
          <a:prstGeom prst="roundRect">
            <a:avLst>
              <a:gd name="adj" fmla="val 2623"/>
            </a:avLst>
          </a:prstGeom>
          <a:solidFill>
            <a:srgbClr val="F1F4FA"/>
          </a:solidFill>
          <a:ln w="12700">
            <a:solidFill>
              <a:srgbClr val="F1F4FA"/>
            </a:solidFill>
            <a:prstDash val="solid"/>
          </a:ln>
        </p:spPr>
      </p:sp>
      <p:sp>
        <p:nvSpPr>
          <p:cNvPr id="6" name="Text 4"/>
          <p:cNvSpPr/>
          <p:nvPr/>
        </p:nvSpPr>
        <p:spPr>
          <a:xfrm>
            <a:off x="548640" y="1600200"/>
            <a:ext cx="5410048" cy="278892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DASHBOARD</a:t>
            </a:r>
            <a:endParaRPr lang="en-US" sz="1000" dirty="0"/>
          </a:p>
          <a:p>
            <a:pPr marL="177800" indent="-177800">
              <a:spcAft>
                <a:spcPts val="500"/>
              </a:spcAft>
              <a:buSzPct val="100000"/>
              <a:buChar char="•"/>
            </a:pPr>
            <a:r>
              <a:rPr lang="en-US" sz="1500" dirty="0">
                <a:solidFill>
                  <a:srgbClr val="4A5263"/>
                </a:solidFill>
                <a:latin typeface="Arial" pitchFamily="34" charset="0"/>
                <a:ea typeface="Arial" pitchFamily="34" charset="-122"/>
                <a:cs typeface="Arial" pitchFamily="34" charset="-120"/>
              </a:rPr>
              <a:t>Tổng chi và trung bình mỗi ngày</a:t>
            </a:r>
            <a:endParaRPr lang="en-US" sz="1000" dirty="0"/>
          </a:p>
          <a:p>
            <a:pPr marL="177800" indent="-177800">
              <a:spcAft>
                <a:spcPts val="500"/>
              </a:spcAft>
              <a:buSzPct val="100000"/>
              <a:buChar char="•"/>
            </a:pPr>
            <a:r>
              <a:rPr lang="en-US" sz="1500" dirty="0">
                <a:solidFill>
                  <a:srgbClr val="4A5263"/>
                </a:solidFill>
                <a:latin typeface="Arial" pitchFamily="34" charset="0"/>
                <a:ea typeface="Arial" pitchFamily="34" charset="-122"/>
                <a:cs typeface="Arial" pitchFamily="34" charset="-120"/>
              </a:rPr>
              <a:t>Biểu đồ chi tiêu theo thời gian</a:t>
            </a:r>
            <a:endParaRPr lang="en-US" sz="1000" dirty="0"/>
          </a:p>
          <a:p>
            <a:pPr marL="177800" indent="-177800">
              <a:spcAft>
                <a:spcPts val="500"/>
              </a:spcAft>
              <a:buSzPct val="100000"/>
              <a:buChar char="•"/>
            </a:pPr>
            <a:r>
              <a:rPr lang="en-US" sz="1500" dirty="0">
                <a:solidFill>
                  <a:srgbClr val="4A5263"/>
                </a:solidFill>
                <a:latin typeface="Arial" pitchFamily="34" charset="0"/>
                <a:ea typeface="Arial" pitchFamily="34" charset="-122"/>
                <a:cs typeface="Arial" pitchFamily="34" charset="-120"/>
              </a:rPr>
              <a:t>Tỷ trọng theo nhóm và theo danh mục</a:t>
            </a:r>
            <a:endParaRPr lang="en-US" sz="1000" dirty="0"/>
          </a:p>
          <a:p>
            <a:pPr marL="177800" indent="-177800">
              <a:spcAft>
                <a:spcPts val="500"/>
              </a:spcAft>
              <a:buSzPct val="100000"/>
              <a:buChar char="•"/>
            </a:pPr>
            <a:r>
              <a:rPr lang="en-US" sz="1500" dirty="0">
                <a:solidFill>
                  <a:srgbClr val="4A5263"/>
                </a:solidFill>
                <a:latin typeface="Arial" pitchFamily="34" charset="0"/>
                <a:ea typeface="Arial" pitchFamily="34" charset="-122"/>
                <a:cs typeface="Arial" pitchFamily="34" charset="-120"/>
              </a:rPr>
              <a:t>Lọc theo khoảng ngày</a:t>
            </a:r>
            <a:endParaRPr lang="en-US" sz="1000" dirty="0"/>
          </a:p>
        </p:txBody>
      </p:sp>
      <p:sp>
        <p:nvSpPr>
          <p:cNvPr id="7" name="Shape 5"/>
          <p:cNvSpPr/>
          <p:nvPr/>
        </p:nvSpPr>
        <p:spPr>
          <a:xfrm>
            <a:off x="6233008" y="1600200"/>
            <a:ext cx="5410048" cy="2788920"/>
          </a:xfrm>
          <a:prstGeom prst="roundRect">
            <a:avLst>
              <a:gd name="adj" fmla="val 2623"/>
            </a:avLst>
          </a:prstGeom>
          <a:solidFill>
            <a:srgbClr val="F1F4FA"/>
          </a:solidFill>
          <a:ln w="12700">
            <a:solidFill>
              <a:srgbClr val="F1F4FA"/>
            </a:solidFill>
            <a:prstDash val="solid"/>
          </a:ln>
        </p:spPr>
      </p:sp>
      <p:sp>
        <p:nvSpPr>
          <p:cNvPr id="8" name="Text 6"/>
          <p:cNvSpPr/>
          <p:nvPr/>
        </p:nvSpPr>
        <p:spPr>
          <a:xfrm>
            <a:off x="6233008" y="1600200"/>
            <a:ext cx="5410048" cy="278892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THÔNG BÁO 3 KÊNH</a:t>
            </a:r>
            <a:endParaRPr lang="en-US" sz="1000" dirty="0"/>
          </a:p>
          <a:p>
            <a:pPr marL="177800" indent="-177800">
              <a:spcAft>
                <a:spcPts val="500"/>
              </a:spcAft>
              <a:buSzPct val="100000"/>
              <a:buChar char="•"/>
            </a:pPr>
            <a:r>
              <a:rPr lang="en-US" sz="1500" dirty="0">
                <a:solidFill>
                  <a:srgbClr val="4A5263"/>
                </a:solidFill>
                <a:latin typeface="Arial" pitchFamily="34" charset="0"/>
                <a:ea typeface="Arial" pitchFamily="34" charset="-122"/>
                <a:cs typeface="Arial" pitchFamily="34" charset="-120"/>
              </a:rPr>
              <a:t>Trong app: chuông thông báo, đánh dấu đã đọc</a:t>
            </a:r>
            <a:endParaRPr lang="en-US" sz="1000" dirty="0"/>
          </a:p>
          <a:p>
            <a:pPr marL="177800" indent="-177800">
              <a:spcAft>
                <a:spcPts val="500"/>
              </a:spcAft>
              <a:buSzPct val="100000"/>
              <a:buChar char="•"/>
            </a:pPr>
            <a:r>
              <a:rPr lang="en-US" sz="1500" dirty="0">
                <a:solidFill>
                  <a:srgbClr val="4A5263"/>
                </a:solidFill>
                <a:latin typeface="Arial" pitchFamily="34" charset="0"/>
                <a:ea typeface="Arial" pitchFamily="34" charset="-122"/>
                <a:cs typeface="Arial" pitchFamily="34" charset="-120"/>
              </a:rPr>
              <a:t>Zalo Bot: liên kết tài khoản bằng mã, nhận tin cá nhân và tin nhóm</a:t>
            </a:r>
            <a:endParaRPr lang="en-US" sz="1000" dirty="0"/>
          </a:p>
          <a:p>
            <a:pPr marL="177800" indent="-177800">
              <a:spcAft>
                <a:spcPts val="500"/>
              </a:spcAft>
              <a:buSzPct val="100000"/>
              <a:buChar char="•"/>
            </a:pPr>
            <a:r>
              <a:rPr lang="en-US" sz="1500" dirty="0">
                <a:solidFill>
                  <a:srgbClr val="4A5263"/>
                </a:solidFill>
                <a:latin typeface="Arial" pitchFamily="34" charset="0"/>
                <a:ea typeface="Arial" pitchFamily="34" charset="-122"/>
                <a:cs typeface="Arial" pitchFamily="34" charset="-120"/>
              </a:rPr>
              <a:t>Email: xác thực tài khoản, quên mật khẩu, OTP</a:t>
            </a:r>
            <a:endParaRPr lang="en-US" sz="1000" dirty="0"/>
          </a:p>
        </p:txBody>
      </p:sp>
      <p:sp>
        <p:nvSpPr>
          <p:cNvPr id="9" name="Shape 7"/>
          <p:cNvSpPr/>
          <p:nvPr/>
        </p:nvSpPr>
        <p:spPr>
          <a:xfrm>
            <a:off x="548640" y="4617720"/>
            <a:ext cx="11094415" cy="1325880"/>
          </a:xfrm>
          <a:prstGeom prst="roundRect">
            <a:avLst>
              <a:gd name="adj" fmla="val 5517"/>
            </a:avLst>
          </a:prstGeom>
          <a:solidFill>
            <a:srgbClr val="F1F4FA"/>
          </a:solidFill>
          <a:ln w="12700">
            <a:solidFill>
              <a:srgbClr val="F1F4FA"/>
            </a:solidFill>
            <a:prstDash val="solid"/>
          </a:ln>
        </p:spPr>
      </p:sp>
      <p:sp>
        <p:nvSpPr>
          <p:cNvPr id="10" name="Text 8"/>
          <p:cNvSpPr/>
          <p:nvPr/>
        </p:nvSpPr>
        <p:spPr>
          <a:xfrm>
            <a:off x="548640" y="4617720"/>
            <a:ext cx="11094415" cy="132588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REALTIME</a:t>
            </a:r>
            <a:endParaRPr lang="en-US" sz="1000" dirty="0"/>
          </a:p>
          <a:p>
            <a:pPr indent="0" marL="0">
              <a:spcAft>
                <a:spcPts val="400"/>
              </a:spcAft>
              <a:buNone/>
            </a:pPr>
            <a:r>
              <a:rPr lang="en-US" sz="1500" dirty="0">
                <a:solidFill>
                  <a:srgbClr val="4A5263"/>
                </a:solidFill>
                <a:latin typeface="Arial" pitchFamily="34" charset="0"/>
                <a:ea typeface="Arial" pitchFamily="34" charset="-122"/>
                <a:cs typeface="Arial" pitchFamily="34" charset="-120"/>
              </a:rPr>
              <a:t>Khi một thành viên thêm hoặc duyệt hóa đơn, màn hình của những người đang xem nhóm tự cập nhật, không cần tải lại trang.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06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BẢO MẬT &amp; QUẢN TRỊ</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Bảo mật và phân quyền</a:t>
            </a:r>
            <a:endParaRPr lang="en-US" sz="2800" dirty="0"/>
          </a:p>
        </p:txBody>
      </p:sp>
      <p:sp>
        <p:nvSpPr>
          <p:cNvPr id="5" name="Text 3"/>
          <p:cNvSpPr/>
          <p:nvPr/>
        </p:nvSpPr>
        <p:spPr>
          <a:xfrm>
            <a:off x="548640" y="1645920"/>
            <a:ext cx="11094415" cy="4206240"/>
          </a:xfrm>
          <a:prstGeom prst="rect">
            <a:avLst/>
          </a:prstGeom>
          <a:noFill/>
          <a:ln/>
        </p:spPr>
        <p:txBody>
          <a:bodyPr wrap="square" lIns="0" tIns="0" rIns="0" bIns="0" rtlCol="0" anchor="t"/>
          <a:lstStyle/>
          <a:p>
            <a:pPr marL="177800" indent="-177800">
              <a:spcAft>
                <a:spcPts val="1400"/>
              </a:spcAft>
              <a:buSzPct val="100000"/>
              <a:buChar char="•"/>
            </a:pPr>
            <a:r>
              <a:rPr lang="en-US" sz="1700" b="1" dirty="0">
                <a:solidFill>
                  <a:srgbClr val="1B2130"/>
                </a:solidFill>
                <a:latin typeface="Arial" pitchFamily="34" charset="0"/>
                <a:ea typeface="Arial" pitchFamily="34" charset="-122"/>
                <a:cs typeface="Arial" pitchFamily="34" charset="-120"/>
              </a:rPr>
              <a:t>Tài khoản: </a:t>
            </a:r>
            <a:pPr indent="0" marL="0">
              <a:spcAft>
                <a:spcPts val="1400"/>
              </a:spcAft>
              <a:buNone/>
            </a:pPr>
            <a:r>
              <a:rPr lang="en-US" sz="1700" dirty="0">
                <a:solidFill>
                  <a:srgbClr val="4A5263"/>
                </a:solidFill>
                <a:latin typeface="Arial" pitchFamily="34" charset="0"/>
                <a:ea typeface="Arial" pitchFamily="34" charset="-122"/>
                <a:cs typeface="Arial" pitchFamily="34" charset="-120"/>
              </a:rPr>
              <a:t>xác thực email, OTP khi đổi mật khẩu qua email hoặc Zalo, quên mật khẩu qua email.</a:t>
            </a:r>
            <a:endParaRPr lang="en-US" sz="1700" dirty="0"/>
          </a:p>
          <a:p>
            <a:pPr marL="177800" indent="-177800">
              <a:spcAft>
                <a:spcPts val="1400"/>
              </a:spcAft>
              <a:buSzPct val="100000"/>
              <a:buChar char="•"/>
            </a:pPr>
            <a:r>
              <a:rPr lang="en-US" sz="1700" b="1" dirty="0">
                <a:solidFill>
                  <a:srgbClr val="1B2130"/>
                </a:solidFill>
                <a:latin typeface="Arial" pitchFamily="34" charset="0"/>
                <a:ea typeface="Arial" pitchFamily="34" charset="-122"/>
                <a:cs typeface="Arial" pitchFamily="34" charset="-120"/>
              </a:rPr>
              <a:t>Đăng nhập: </a:t>
            </a:r>
            <a:pPr indent="0" marL="0">
              <a:spcAft>
                <a:spcPts val="1400"/>
              </a:spcAft>
              <a:buNone/>
            </a:pPr>
            <a:r>
              <a:rPr lang="en-US" sz="1700" dirty="0">
                <a:solidFill>
                  <a:srgbClr val="4A5263"/>
                </a:solidFill>
                <a:latin typeface="Arial" pitchFamily="34" charset="0"/>
                <a:ea typeface="Arial" pitchFamily="34" charset="-122"/>
                <a:cs typeface="Arial" pitchFamily="34" charset="-120"/>
              </a:rPr>
              <a:t>captcha, mật khẩu băm bcrypt, giới hạn 15 lần thử mỗi phút cho mỗi IP trên mọi đường đăng nhập.</a:t>
            </a:r>
            <a:endParaRPr lang="en-US" sz="1700" dirty="0"/>
          </a:p>
          <a:p>
            <a:pPr marL="177800" indent="-177800">
              <a:spcAft>
                <a:spcPts val="1400"/>
              </a:spcAft>
              <a:buSzPct val="100000"/>
              <a:buChar char="•"/>
            </a:pPr>
            <a:r>
              <a:rPr lang="en-US" sz="1700" b="1" dirty="0">
                <a:solidFill>
                  <a:srgbClr val="1B2130"/>
                </a:solidFill>
                <a:latin typeface="Arial" pitchFamily="34" charset="0"/>
                <a:ea typeface="Arial" pitchFamily="34" charset="-122"/>
                <a:cs typeface="Arial" pitchFamily="34" charset="-120"/>
              </a:rPr>
              <a:t>Phân quyền 3 cấp: </a:t>
            </a:r>
            <a:pPr indent="0" marL="0">
              <a:spcAft>
                <a:spcPts val="1400"/>
              </a:spcAft>
              <a:buNone/>
            </a:pPr>
            <a:r>
              <a:rPr lang="en-US" sz="1700" dirty="0">
                <a:solidFill>
                  <a:srgbClr val="4A5263"/>
                </a:solidFill>
                <a:latin typeface="Arial" pitchFamily="34" charset="0"/>
                <a:ea typeface="Arial" pitchFamily="34" charset="-122"/>
                <a:cs typeface="Arial" pitchFamily="34" charset="-120"/>
              </a:rPr>
              <a:t>Quản trị viên, Trưởng nhóm, Thành viên. Chỉ trưởng nhóm được duyệt hóa đơn.</a:t>
            </a:r>
            <a:endParaRPr lang="en-US" sz="1700" dirty="0"/>
          </a:p>
          <a:p>
            <a:pPr marL="177800" indent="-177800">
              <a:spcAft>
                <a:spcPts val="1400"/>
              </a:spcAft>
              <a:buSzPct val="100000"/>
              <a:buChar char="•"/>
            </a:pPr>
            <a:r>
              <a:rPr lang="en-US" sz="1700" b="1" dirty="0">
                <a:solidFill>
                  <a:srgbClr val="1B2130"/>
                </a:solidFill>
                <a:latin typeface="Arial" pitchFamily="34" charset="0"/>
                <a:ea typeface="Arial" pitchFamily="34" charset="-122"/>
                <a:cs typeface="Arial" pitchFamily="34" charset="-120"/>
              </a:rPr>
              <a:t>Thanh toán: </a:t>
            </a:r>
            <a:pPr indent="0" marL="0">
              <a:spcAft>
                <a:spcPts val="1400"/>
              </a:spcAft>
              <a:buNone/>
            </a:pPr>
            <a:r>
              <a:rPr lang="en-US" sz="1700" dirty="0">
                <a:solidFill>
                  <a:srgbClr val="4A5263"/>
                </a:solidFill>
                <a:latin typeface="Arial" pitchFamily="34" charset="0"/>
                <a:ea typeface="Arial" pitchFamily="34" charset="-122"/>
                <a:cs typeface="Arial" pitchFamily="34" charset="-120"/>
              </a:rPr>
              <a:t>webhook SePay kiểm tra chữ ký, thời điểm gửi, đúng người nhận và đủ số tiền.</a:t>
            </a:r>
            <a:endParaRPr lang="en-US" sz="1700" dirty="0"/>
          </a:p>
          <a:p>
            <a:pPr marL="177800" indent="-177800">
              <a:spcAft>
                <a:spcPts val="1400"/>
              </a:spcAft>
              <a:buSzPct val="100000"/>
              <a:buChar char="•"/>
            </a:pPr>
            <a:r>
              <a:rPr lang="en-US" sz="1700" b="1" dirty="0">
                <a:solidFill>
                  <a:srgbClr val="1B2130"/>
                </a:solidFill>
                <a:latin typeface="Arial" pitchFamily="34" charset="0"/>
                <a:ea typeface="Arial" pitchFamily="34" charset="-122"/>
                <a:cs typeface="Arial" pitchFamily="34" charset="-120"/>
              </a:rPr>
              <a:t>Trang quản trị: </a:t>
            </a:r>
            <a:pPr indent="0" marL="0">
              <a:spcAft>
                <a:spcPts val="1400"/>
              </a:spcAft>
              <a:buNone/>
            </a:pPr>
            <a:r>
              <a:rPr lang="en-US" sz="1700" dirty="0">
                <a:solidFill>
                  <a:srgbClr val="4A5263"/>
                </a:solidFill>
                <a:latin typeface="Arial" pitchFamily="34" charset="0"/>
                <a:ea typeface="Arial" pitchFamily="34" charset="-122"/>
                <a:cs typeface="Arial" pitchFamily="34" charset="-120"/>
              </a:rPr>
              <a:t>quản lý người dùng, cấu hình email hệ thống và Zalo Bot.</a:t>
            </a:r>
            <a:endParaRPr lang="en-US" sz="1700" dirty="0"/>
          </a:p>
        </p:txBody>
      </p:sp>
      <p:sp>
        <p:nvSpPr>
          <p:cNvPr id="6" name="Text 4"/>
          <p:cNvSpPr/>
          <p:nvPr/>
        </p:nvSpPr>
        <p:spPr>
          <a:xfrm>
            <a:off x="548640" y="6236208"/>
            <a:ext cx="11094415" cy="411480"/>
          </a:xfrm>
          <a:prstGeom prst="rect">
            <a:avLst/>
          </a:prstGeom>
          <a:noFill/>
          <a:ln/>
        </p:spPr>
        <p:txBody>
          <a:bodyPr wrap="square" lIns="0" tIns="0" rIns="0" bIns="0" rtlCol="0" anchor="t"/>
          <a:lstStyle/>
          <a:p>
            <a:pPr indent="0" marL="0">
              <a:buNone/>
            </a:pPr>
            <a:r>
              <a:rPr lang="en-US" sz="1100" dirty="0">
                <a:solidFill>
                  <a:srgbClr val="6B7385"/>
                </a:solidFill>
                <a:latin typeface="Arial" pitchFamily="34" charset="0"/>
                <a:ea typeface="Arial" pitchFamily="34" charset="-122"/>
                <a:cs typeface="Arial" pitchFamily="34" charset="-120"/>
              </a:rPr>
              <a:t>Mọi trang gửi kèm header bảo mật theo khuyến nghị OWASP (chống nhúng iframe, chống đoán kiểu nội dung).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07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CÔNG NGHỆ SỬ DỤNG</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Công nghệ và lý do chọn</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463040"/>
                <a:gridCol w="3840480"/>
                <a:gridCol w="5790895"/>
              </a:tblGrid>
              <a:tr h="0">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TẦNG</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CÔNG NGHỆ</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LÝ DO CHỌN</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Ứng dụng</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Next.js 16 (App Router), React 19, TypeScript</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4A5263"/>
                          </a:solidFill>
                          <a:latin typeface="Arial" pitchFamily="34" charset="0"/>
                          <a:ea typeface="Arial" pitchFamily="34" charset="-122"/>
                          <a:cs typeface="Arial" pitchFamily="34" charset="-120"/>
                        </a:rPr>
                        <a:t>Một codebase cho cả giao diện và API; trang render sẵn ở server nên mở nhanh trên điện thoại</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Giao diện</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Tailwind CSS 4, shadcn/ui, Recharts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4A5263"/>
                          </a:solidFill>
                          <a:latin typeface="Arial" pitchFamily="34" charset="0"/>
                          <a:ea typeface="Arial" pitchFamily="34" charset="-122"/>
                          <a:cs typeface="Arial" pitchFamily="34" charset="-120"/>
                        </a:rPr>
                        <a:t>Thành phần dùng lại được, có sẵn dark mode, vẽ biểu đồ dashboard</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Xác thực</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Auth.js v5 (phiên JWT), bcrypt</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4A5263"/>
                          </a:solidFill>
                          <a:latin typeface="Arial" pitchFamily="34" charset="0"/>
                          <a:ea typeface="Arial" pitchFamily="34" charset="-122"/>
                          <a:cs typeface="Arial" pitchFamily="34" charset="-120"/>
                        </a:rPr>
                        <a:t>Phiên nằm trong cookie đã ký, không phải tra database ở mỗi request</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Dữ liệu</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PostgreSQL 17, Prisma 7</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4A5263"/>
                          </a:solidFill>
                          <a:latin typeface="Arial" pitchFamily="34" charset="0"/>
                          <a:ea typeface="Arial" pitchFamily="34" charset="-122"/>
                          <a:cs typeface="Arial" pitchFamily="34" charset="-120"/>
                        </a:rPr>
                        <a:t>Tiền bạc cần giao dịch và ràng buộc chặt; Prisma cho truy vấn có kiểu, SQL thuần cho phần tổng hợp số dư</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Realtime</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Server-Sent Events, PostgreSQL LISTEN/NOTIFY</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4A5263"/>
                          </a:solidFill>
                          <a:latin typeface="Arial" pitchFamily="34" charset="0"/>
                          <a:ea typeface="Arial" pitchFamily="34" charset="-122"/>
                          <a:cs typeface="Arial" pitchFamily="34" charset="-120"/>
                        </a:rPr>
                        <a:t>Chỉ cần đẩy một chiều server → trình duyệt; dùng luôn PostgreSQL làm kênh phát, không thêm Redis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Thanh toán</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VietQR, SePay webhook</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4A5263"/>
                          </a:solidFill>
                          <a:latin typeface="Arial" pitchFamily="34" charset="0"/>
                          <a:ea typeface="Arial" pitchFamily="34" charset="-122"/>
                          <a:cs typeface="Arial" pitchFamily="34" charset="-120"/>
                        </a:rPr>
                        <a:t>QR chuẩn mọi ngân hàng Việt Nam; SePay báo khi tiền về để tự gạch nợ</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Thông báo</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Zalo Bot API, SMTP hoặc Resend</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4A5263"/>
                          </a:solidFill>
                          <a:latin typeface="Arial" pitchFamily="34" charset="0"/>
                          <a:ea typeface="Arial" pitchFamily="34" charset="-122"/>
                          <a:cs typeface="Arial" pitchFamily="34" charset="-120"/>
                        </a:rPr>
                        <a:t>Gửi tới kênh người dùng thật sự đọc</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Triển khai</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Docker (runtime Bun), Portainer, Nginx Proxy Manager</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4A5263"/>
                          </a:solidFill>
                          <a:latin typeface="Arial" pitchFamily="34" charset="0"/>
                          <a:ea typeface="Arial" pitchFamily="34" charset="-122"/>
                          <a:cs typeface="Arial" pitchFamily="34" charset="-120"/>
                        </a:rPr>
                        <a:t>Một lệnh compose; reverse proxy lo HTTPS và nén</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08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KIẾN TRÚC</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600" b="1" dirty="0">
                <a:solidFill>
                  <a:srgbClr val="1B2130"/>
                </a:solidFill>
                <a:latin typeface="Arial" pitchFamily="34" charset="0"/>
                <a:ea typeface="Arial" pitchFamily="34" charset="-122"/>
                <a:cs typeface="Arial" pitchFamily="34" charset="-120"/>
              </a:rPr>
              <a:t>Một ứng dụng Next.js, nhiều tiến trình, một PostgreSQL</a:t>
            </a:r>
            <a:endParaRPr lang="en-US" sz="2600" dirty="0"/>
          </a:p>
        </p:txBody>
      </p:sp>
      <p:sp>
        <p:nvSpPr>
          <p:cNvPr id="5" name="Shape 3"/>
          <p:cNvSpPr/>
          <p:nvPr/>
        </p:nvSpPr>
        <p:spPr>
          <a:xfrm>
            <a:off x="548640" y="1554480"/>
            <a:ext cx="2259254" cy="1051560"/>
          </a:xfrm>
          <a:prstGeom prst="roundRect">
            <a:avLst>
              <a:gd name="adj" fmla="val 6957"/>
            </a:avLst>
          </a:prstGeom>
          <a:solidFill>
            <a:srgbClr val="F1F4FA"/>
          </a:solidFill>
          <a:ln w="12700">
            <a:solidFill>
              <a:srgbClr val="F1F4FA"/>
            </a:solidFill>
            <a:prstDash val="solid"/>
          </a:ln>
        </p:spPr>
      </p:sp>
      <p:sp>
        <p:nvSpPr>
          <p:cNvPr id="6" name="Text 4"/>
          <p:cNvSpPr/>
          <p:nvPr/>
        </p:nvSpPr>
        <p:spPr>
          <a:xfrm>
            <a:off x="548640" y="1554480"/>
            <a:ext cx="2259254" cy="1051560"/>
          </a:xfrm>
          <a:prstGeom prst="rect">
            <a:avLst/>
          </a:prstGeom>
          <a:noFill/>
          <a:ln/>
        </p:spPr>
        <p:txBody>
          <a:bodyPr wrap="square" lIns="76200" tIns="127000" rIns="127000" bIns="76200" rtlCol="0" anchor="ctr"/>
          <a:lstStyle/>
          <a:p>
            <a:pPr indent="0" marL="0">
              <a:spcAft>
                <a:spcPts val="300"/>
              </a:spcAft>
              <a:buNone/>
            </a:pPr>
            <a:r>
              <a:rPr lang="en-US" sz="1500" b="1" dirty="0">
                <a:solidFill>
                  <a:srgbClr val="1B2130"/>
                </a:solidFill>
                <a:latin typeface="Arial" pitchFamily="34" charset="0"/>
                <a:ea typeface="Arial" pitchFamily="34" charset="-122"/>
                <a:cs typeface="Arial" pitchFamily="34" charset="-120"/>
              </a:rPr>
              <a:t>Trình duyệt</a:t>
            </a:r>
            <a:endParaRPr lang="en-US" sz="1500" dirty="0"/>
          </a:p>
          <a:p>
            <a:pPr indent="0" marL="0">
              <a:buNone/>
            </a:pPr>
            <a:r>
              <a:rPr lang="en-US" sz="1200" dirty="0">
                <a:solidFill>
                  <a:srgbClr val="4A5263"/>
                </a:solidFill>
                <a:latin typeface="Arial" pitchFamily="34" charset="0"/>
                <a:ea typeface="Arial" pitchFamily="34" charset="-122"/>
                <a:cs typeface="Arial" pitchFamily="34" charset="-120"/>
              </a:rPr>
              <a:t>React 19, nhận realtime qua SSE</a:t>
            </a:r>
            <a:endParaRPr lang="en-US" sz="1500" dirty="0"/>
          </a:p>
        </p:txBody>
      </p:sp>
      <p:sp>
        <p:nvSpPr>
          <p:cNvPr id="7" name="Text 5"/>
          <p:cNvSpPr/>
          <p:nvPr/>
        </p:nvSpPr>
        <p:spPr>
          <a:xfrm>
            <a:off x="2807894" y="1554480"/>
            <a:ext cx="685800" cy="1051560"/>
          </a:xfrm>
          <a:prstGeom prst="rect">
            <a:avLst/>
          </a:prstGeom>
          <a:noFill/>
          <a:ln/>
        </p:spPr>
        <p:txBody>
          <a:bodyPr wrap="square" lIns="0" tIns="0" rIns="0" bIns="0" rtlCol="0" anchor="ctr"/>
          <a:lstStyle/>
          <a:p>
            <a:pPr algn="ctr" indent="0" marL="0">
              <a:buNone/>
            </a:pPr>
            <a:r>
              <a:rPr lang="en-US" sz="2200" dirty="0">
                <a:solidFill>
                  <a:srgbClr val="6B7385"/>
                </a:solidFill>
                <a:latin typeface="Arial" pitchFamily="34" charset="0"/>
                <a:ea typeface="Arial" pitchFamily="34" charset="-122"/>
                <a:cs typeface="Arial" pitchFamily="34" charset="-120"/>
              </a:rPr>
              <a:t>→</a:t>
            </a:r>
            <a:endParaRPr lang="en-US" sz="2200" dirty="0"/>
          </a:p>
          <a:p>
            <a:pPr algn="ctr" indent="0" marL="0">
              <a:buNone/>
            </a:pPr>
            <a:r>
              <a:rPr lang="en-US" sz="950" dirty="0">
                <a:solidFill>
                  <a:srgbClr val="6B7385"/>
                </a:solidFill>
                <a:latin typeface="Arial" pitchFamily="34" charset="0"/>
                <a:ea typeface="Arial" pitchFamily="34" charset="-122"/>
                <a:cs typeface="Arial" pitchFamily="34" charset="-120"/>
              </a:rPr>
              <a:t>HTTPS</a:t>
            </a:r>
            <a:endParaRPr lang="en-US" sz="2200" dirty="0"/>
          </a:p>
        </p:txBody>
      </p:sp>
      <p:sp>
        <p:nvSpPr>
          <p:cNvPr id="8" name="Shape 6"/>
          <p:cNvSpPr/>
          <p:nvPr/>
        </p:nvSpPr>
        <p:spPr>
          <a:xfrm>
            <a:off x="3493694" y="1554480"/>
            <a:ext cx="2259254" cy="1051560"/>
          </a:xfrm>
          <a:prstGeom prst="roundRect">
            <a:avLst>
              <a:gd name="adj" fmla="val 6957"/>
            </a:avLst>
          </a:prstGeom>
          <a:solidFill>
            <a:srgbClr val="F1F4FA"/>
          </a:solidFill>
          <a:ln w="12700">
            <a:solidFill>
              <a:srgbClr val="F1F4FA"/>
            </a:solidFill>
            <a:prstDash val="solid"/>
          </a:ln>
        </p:spPr>
      </p:sp>
      <p:sp>
        <p:nvSpPr>
          <p:cNvPr id="9" name="Text 7"/>
          <p:cNvSpPr/>
          <p:nvPr/>
        </p:nvSpPr>
        <p:spPr>
          <a:xfrm>
            <a:off x="3493694" y="1554480"/>
            <a:ext cx="2259254" cy="1051560"/>
          </a:xfrm>
          <a:prstGeom prst="rect">
            <a:avLst/>
          </a:prstGeom>
          <a:noFill/>
          <a:ln/>
        </p:spPr>
        <p:txBody>
          <a:bodyPr wrap="square" lIns="76200" tIns="127000" rIns="127000" bIns="76200" rtlCol="0" anchor="ctr"/>
          <a:lstStyle/>
          <a:p>
            <a:pPr indent="0" marL="0">
              <a:spcAft>
                <a:spcPts val="300"/>
              </a:spcAft>
              <a:buNone/>
            </a:pPr>
            <a:r>
              <a:rPr lang="en-US" sz="1500" b="1" dirty="0">
                <a:solidFill>
                  <a:srgbClr val="1B2130"/>
                </a:solidFill>
                <a:latin typeface="Arial" pitchFamily="34" charset="0"/>
                <a:ea typeface="Arial" pitchFamily="34" charset="-122"/>
                <a:cs typeface="Arial" pitchFamily="34" charset="-120"/>
              </a:rPr>
              <a:t>Reverse proxy</a:t>
            </a:r>
            <a:endParaRPr lang="en-US" sz="1500" dirty="0"/>
          </a:p>
          <a:p>
            <a:pPr indent="0" marL="0">
              <a:buNone/>
            </a:pPr>
            <a:r>
              <a:rPr lang="en-US" sz="1200" dirty="0">
                <a:solidFill>
                  <a:srgbClr val="4A5263"/>
                </a:solidFill>
                <a:latin typeface="Arial" pitchFamily="34" charset="0"/>
                <a:ea typeface="Arial" pitchFamily="34" charset="-122"/>
                <a:cs typeface="Arial" pitchFamily="34" charset="-120"/>
              </a:rPr>
              <a:t>Nginx Proxy Manager: TLS, nén gzip/Brotli</a:t>
            </a:r>
            <a:endParaRPr lang="en-US" sz="1500" dirty="0"/>
          </a:p>
        </p:txBody>
      </p:sp>
      <p:sp>
        <p:nvSpPr>
          <p:cNvPr id="10" name="Text 8"/>
          <p:cNvSpPr/>
          <p:nvPr/>
        </p:nvSpPr>
        <p:spPr>
          <a:xfrm>
            <a:off x="5752948" y="1554480"/>
            <a:ext cx="685800" cy="1051560"/>
          </a:xfrm>
          <a:prstGeom prst="rect">
            <a:avLst/>
          </a:prstGeom>
          <a:noFill/>
          <a:ln/>
        </p:spPr>
        <p:txBody>
          <a:bodyPr wrap="square" lIns="0" tIns="0" rIns="0" bIns="0" rtlCol="0" anchor="ctr"/>
          <a:lstStyle/>
          <a:p>
            <a:pPr algn="ctr" indent="0" marL="0">
              <a:buNone/>
            </a:pPr>
            <a:r>
              <a:rPr lang="en-US" sz="2200" dirty="0">
                <a:solidFill>
                  <a:srgbClr val="6B7385"/>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6438748" y="1554480"/>
            <a:ext cx="2259254" cy="1051560"/>
          </a:xfrm>
          <a:prstGeom prst="roundRect">
            <a:avLst>
              <a:gd name="adj" fmla="val 6957"/>
            </a:avLst>
          </a:prstGeom>
          <a:solidFill>
            <a:srgbClr val="2D5BE3"/>
          </a:solidFill>
          <a:ln w="12700">
            <a:solidFill>
              <a:srgbClr val="2D5BE3"/>
            </a:solidFill>
            <a:prstDash val="solid"/>
          </a:ln>
        </p:spPr>
      </p:sp>
      <p:sp>
        <p:nvSpPr>
          <p:cNvPr id="12" name="Text 10"/>
          <p:cNvSpPr/>
          <p:nvPr/>
        </p:nvSpPr>
        <p:spPr>
          <a:xfrm>
            <a:off x="6438748" y="1554480"/>
            <a:ext cx="2259254" cy="1051560"/>
          </a:xfrm>
          <a:prstGeom prst="rect">
            <a:avLst/>
          </a:prstGeom>
          <a:noFill/>
          <a:ln/>
        </p:spPr>
        <p:txBody>
          <a:bodyPr wrap="square" lIns="76200" tIns="127000" rIns="127000" bIns="76200" rtlCol="0" anchor="ctr"/>
          <a:lstStyle/>
          <a:p>
            <a:pPr indent="0" marL="0">
              <a:spcAft>
                <a:spcPts val="300"/>
              </a:spcAft>
              <a:buNone/>
            </a:pPr>
            <a:r>
              <a:rPr lang="en-US" sz="1500" b="1" dirty="0">
                <a:solidFill>
                  <a:srgbClr val="FFFFFF"/>
                </a:solidFill>
                <a:latin typeface="Arial" pitchFamily="34" charset="0"/>
                <a:ea typeface="Arial" pitchFamily="34" charset="-122"/>
                <a:cs typeface="Arial" pitchFamily="34" charset="-120"/>
              </a:rPr>
              <a:t>Next.js 16 cluster</a:t>
            </a:r>
            <a:endParaRPr lang="en-US" sz="1500" dirty="0"/>
          </a:p>
          <a:p>
            <a:pPr indent="0" marL="0">
              <a:buNone/>
            </a:pPr>
            <a:r>
              <a:rPr lang="en-US" sz="1200" dirty="0">
                <a:solidFill>
                  <a:srgbClr val="C9D4F7"/>
                </a:solidFill>
                <a:latin typeface="Arial" pitchFamily="34" charset="0"/>
                <a:ea typeface="Arial" pitchFamily="34" charset="-122"/>
                <a:cs typeface="Arial" pitchFamily="34" charset="-120"/>
              </a:rPr>
              <a:t>N worker · SSR + 52 API route</a:t>
            </a:r>
            <a:endParaRPr lang="en-US" sz="1500" dirty="0"/>
          </a:p>
        </p:txBody>
      </p:sp>
      <p:sp>
        <p:nvSpPr>
          <p:cNvPr id="13" name="Text 11"/>
          <p:cNvSpPr/>
          <p:nvPr/>
        </p:nvSpPr>
        <p:spPr>
          <a:xfrm>
            <a:off x="8698001" y="1554480"/>
            <a:ext cx="685800" cy="1051560"/>
          </a:xfrm>
          <a:prstGeom prst="rect">
            <a:avLst/>
          </a:prstGeom>
          <a:noFill/>
          <a:ln/>
        </p:spPr>
        <p:txBody>
          <a:bodyPr wrap="square" lIns="0" tIns="0" rIns="0" bIns="0" rtlCol="0" anchor="ctr"/>
          <a:lstStyle/>
          <a:p>
            <a:pPr algn="ctr" indent="0" marL="0">
              <a:buNone/>
            </a:pPr>
            <a:r>
              <a:rPr lang="en-US" sz="2200" dirty="0">
                <a:solidFill>
                  <a:srgbClr val="6B7385"/>
                </a:solidFill>
                <a:latin typeface="Arial" pitchFamily="34" charset="0"/>
                <a:ea typeface="Arial" pitchFamily="34" charset="-122"/>
                <a:cs typeface="Arial" pitchFamily="34" charset="-120"/>
              </a:rPr>
              <a:t>→</a:t>
            </a:r>
            <a:endParaRPr lang="en-US" sz="2200" dirty="0"/>
          </a:p>
          <a:p>
            <a:pPr algn="ctr" indent="0" marL="0">
              <a:buNone/>
            </a:pPr>
            <a:r>
              <a:rPr lang="en-US" sz="950" dirty="0">
                <a:solidFill>
                  <a:srgbClr val="6B7385"/>
                </a:solidFill>
                <a:latin typeface="Arial" pitchFamily="34" charset="0"/>
                <a:ea typeface="Arial" pitchFamily="34" charset="-122"/>
                <a:cs typeface="Arial" pitchFamily="34" charset="-120"/>
              </a:rPr>
              <a:t>Prisma 7</a:t>
            </a:r>
            <a:endParaRPr lang="en-US" sz="2200" dirty="0"/>
          </a:p>
        </p:txBody>
      </p:sp>
      <p:sp>
        <p:nvSpPr>
          <p:cNvPr id="14" name="Shape 12"/>
          <p:cNvSpPr/>
          <p:nvPr/>
        </p:nvSpPr>
        <p:spPr>
          <a:xfrm>
            <a:off x="9383801" y="1554480"/>
            <a:ext cx="2259254" cy="1051560"/>
          </a:xfrm>
          <a:prstGeom prst="roundRect">
            <a:avLst>
              <a:gd name="adj" fmla="val 6957"/>
            </a:avLst>
          </a:prstGeom>
          <a:solidFill>
            <a:srgbClr val="F1F4FA"/>
          </a:solidFill>
          <a:ln w="12700">
            <a:solidFill>
              <a:srgbClr val="F1F4FA"/>
            </a:solidFill>
            <a:prstDash val="solid"/>
          </a:ln>
        </p:spPr>
      </p:sp>
      <p:sp>
        <p:nvSpPr>
          <p:cNvPr id="15" name="Text 13"/>
          <p:cNvSpPr/>
          <p:nvPr/>
        </p:nvSpPr>
        <p:spPr>
          <a:xfrm>
            <a:off x="9383801" y="1554480"/>
            <a:ext cx="2259254" cy="1051560"/>
          </a:xfrm>
          <a:prstGeom prst="rect">
            <a:avLst/>
          </a:prstGeom>
          <a:noFill/>
          <a:ln/>
        </p:spPr>
        <p:txBody>
          <a:bodyPr wrap="square" lIns="76200" tIns="127000" rIns="127000" bIns="76200" rtlCol="0" anchor="ctr"/>
          <a:lstStyle/>
          <a:p>
            <a:pPr indent="0" marL="0">
              <a:spcAft>
                <a:spcPts val="300"/>
              </a:spcAft>
              <a:buNone/>
            </a:pPr>
            <a:r>
              <a:rPr lang="en-US" sz="1500" b="1" dirty="0">
                <a:solidFill>
                  <a:srgbClr val="1B2130"/>
                </a:solidFill>
                <a:latin typeface="Arial" pitchFamily="34" charset="0"/>
                <a:ea typeface="Arial" pitchFamily="34" charset="-122"/>
                <a:cs typeface="Arial" pitchFamily="34" charset="-120"/>
              </a:rPr>
              <a:t>PostgreSQL 17</a:t>
            </a:r>
            <a:endParaRPr lang="en-US" sz="1500" dirty="0"/>
          </a:p>
          <a:p>
            <a:pPr indent="0" marL="0">
              <a:buNone/>
            </a:pPr>
            <a:r>
              <a:rPr lang="en-US" sz="1200" dirty="0">
                <a:solidFill>
                  <a:srgbClr val="4A5263"/>
                </a:solidFill>
                <a:latin typeface="Arial" pitchFamily="34" charset="0"/>
                <a:ea typeface="Arial" pitchFamily="34" charset="-122"/>
                <a:cs typeface="Arial" pitchFamily="34" charset="-120"/>
              </a:rPr>
              <a:t>dữ liệu, rate limit, LISTEN/NOTIFY</a:t>
            </a:r>
            <a:endParaRPr lang="en-US" sz="1500" dirty="0"/>
          </a:p>
        </p:txBody>
      </p:sp>
      <p:sp>
        <p:nvSpPr>
          <p:cNvPr id="16" name="Shape 14"/>
          <p:cNvSpPr/>
          <p:nvPr/>
        </p:nvSpPr>
        <p:spPr>
          <a:xfrm>
            <a:off x="548640" y="2834640"/>
            <a:ext cx="5410048" cy="1691640"/>
          </a:xfrm>
          <a:prstGeom prst="roundRect">
            <a:avLst>
              <a:gd name="adj" fmla="val 4324"/>
            </a:avLst>
          </a:prstGeom>
          <a:solidFill>
            <a:srgbClr val="F1F4FA"/>
          </a:solidFill>
          <a:ln w="12700">
            <a:solidFill>
              <a:srgbClr val="F1F4FA"/>
            </a:solidFill>
            <a:prstDash val="solid"/>
          </a:ln>
        </p:spPr>
      </p:sp>
      <p:sp>
        <p:nvSpPr>
          <p:cNvPr id="17" name="Text 15"/>
          <p:cNvSpPr/>
          <p:nvPr/>
        </p:nvSpPr>
        <p:spPr>
          <a:xfrm>
            <a:off x="548640" y="2834640"/>
            <a:ext cx="5410048" cy="169164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LUỒNG ĐỌC (MỞ TRANG)</a:t>
            </a:r>
            <a:endParaRPr lang="en-US" sz="1000" dirty="0"/>
          </a:p>
          <a:p>
            <a:pPr indent="0" marL="0">
              <a:spcAft>
                <a:spcPts val="400"/>
              </a:spcAft>
              <a:buNone/>
            </a:pPr>
            <a:r>
              <a:rPr lang="en-US" sz="1400" dirty="0">
                <a:solidFill>
                  <a:srgbClr val="4A5263"/>
                </a:solidFill>
                <a:latin typeface="Arial" pitchFamily="34" charset="0"/>
                <a:ea typeface="Arial" pitchFamily="34" charset="-122"/>
                <a:cs typeface="Arial" pitchFamily="34" charset="-120"/>
              </a:rPr>
              <a:t>Middleware kiểm tra phiên và quyền → Server Component truy vấn thẳng PostgreSQL → trả về HTML đã có dữ liệu. Không tốn thêm một lượt gọi API.</a:t>
            </a:r>
            <a:endParaRPr lang="en-US" sz="1000" dirty="0"/>
          </a:p>
        </p:txBody>
      </p:sp>
      <p:sp>
        <p:nvSpPr>
          <p:cNvPr id="18" name="Shape 16"/>
          <p:cNvSpPr/>
          <p:nvPr/>
        </p:nvSpPr>
        <p:spPr>
          <a:xfrm>
            <a:off x="6233008" y="2834640"/>
            <a:ext cx="5410048" cy="1691640"/>
          </a:xfrm>
          <a:prstGeom prst="roundRect">
            <a:avLst>
              <a:gd name="adj" fmla="val 4324"/>
            </a:avLst>
          </a:prstGeom>
          <a:solidFill>
            <a:srgbClr val="F1F4FA"/>
          </a:solidFill>
          <a:ln w="12700">
            <a:solidFill>
              <a:srgbClr val="F1F4FA"/>
            </a:solidFill>
            <a:prstDash val="solid"/>
          </a:ln>
        </p:spPr>
      </p:sp>
      <p:sp>
        <p:nvSpPr>
          <p:cNvPr id="19" name="Text 17"/>
          <p:cNvSpPr/>
          <p:nvPr/>
        </p:nvSpPr>
        <p:spPr>
          <a:xfrm>
            <a:off x="6233008" y="2834640"/>
            <a:ext cx="5410048" cy="169164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LUỒNG GHI (THÊM, DUYỆT, TRẢ)</a:t>
            </a:r>
            <a:endParaRPr lang="en-US" sz="1000" dirty="0"/>
          </a:p>
          <a:p>
            <a:pPr indent="0" marL="0">
              <a:spcAft>
                <a:spcPts val="400"/>
              </a:spcAft>
              <a:buNone/>
            </a:pPr>
            <a:r>
              <a:rPr lang="en-US" sz="1400" dirty="0">
                <a:solidFill>
                  <a:srgbClr val="4A5263"/>
                </a:solidFill>
                <a:latin typeface="Arial" pitchFamily="34" charset="0"/>
                <a:ea typeface="Arial" pitchFamily="34" charset="-122"/>
                <a:cs typeface="Arial" pitchFamily="34" charset="-120"/>
              </a:rPr>
              <a:t>Route Handler kiểm tra quyền trong nhóm → ghi PostgreSQL → phát sự kiện realtime → gửi thông báo trong app và Zalo.</a:t>
            </a:r>
            <a:endParaRPr lang="en-US" sz="1000" dirty="0"/>
          </a:p>
        </p:txBody>
      </p:sp>
      <p:sp>
        <p:nvSpPr>
          <p:cNvPr id="20" name="Shape 18"/>
          <p:cNvSpPr/>
          <p:nvPr/>
        </p:nvSpPr>
        <p:spPr>
          <a:xfrm>
            <a:off x="548640" y="4754880"/>
            <a:ext cx="2567864" cy="1051560"/>
          </a:xfrm>
          <a:prstGeom prst="roundRect">
            <a:avLst>
              <a:gd name="adj" fmla="val 6957"/>
            </a:avLst>
          </a:prstGeom>
          <a:solidFill>
            <a:srgbClr val="F1F4FA"/>
          </a:solidFill>
          <a:ln w="12700">
            <a:solidFill>
              <a:srgbClr val="F1F4FA"/>
            </a:solidFill>
            <a:prstDash val="solid"/>
          </a:ln>
        </p:spPr>
      </p:sp>
      <p:sp>
        <p:nvSpPr>
          <p:cNvPr id="21" name="Text 19"/>
          <p:cNvSpPr/>
          <p:nvPr/>
        </p:nvSpPr>
        <p:spPr>
          <a:xfrm>
            <a:off x="548640" y="4754880"/>
            <a:ext cx="2567864" cy="1051560"/>
          </a:xfrm>
          <a:prstGeom prst="rect">
            <a:avLst/>
          </a:prstGeom>
          <a:noFill/>
          <a:ln/>
        </p:spPr>
        <p:txBody>
          <a:bodyPr wrap="square" lIns="114300" tIns="152400" rIns="152400" bIns="114300" rtlCol="0" anchor="t"/>
          <a:lstStyle/>
          <a:p>
            <a:pPr indent="0" marL="0">
              <a:spcAft>
                <a:spcPts val="400"/>
              </a:spcAft>
              <a:buNone/>
            </a:pPr>
            <a:r>
              <a:rPr lang="en-US" sz="1500" b="1" dirty="0">
                <a:solidFill>
                  <a:srgbClr val="1B2130"/>
                </a:solidFill>
                <a:latin typeface="Arial" pitchFamily="34" charset="0"/>
                <a:ea typeface="Arial" pitchFamily="34" charset="-122"/>
                <a:cs typeface="Arial" pitchFamily="34" charset="-120"/>
              </a:rPr>
              <a:t>SePay</a:t>
            </a:r>
            <a:endParaRPr lang="en-US" sz="1500" dirty="0"/>
          </a:p>
          <a:p>
            <a:pPr indent="0" marL="0">
              <a:spcAft>
                <a:spcPts val="400"/>
              </a:spcAft>
              <a:buNone/>
            </a:pPr>
            <a:r>
              <a:rPr lang="en-US" sz="1300" dirty="0">
                <a:solidFill>
                  <a:srgbClr val="4A5263"/>
                </a:solidFill>
                <a:latin typeface="Arial" pitchFamily="34" charset="0"/>
                <a:ea typeface="Arial" pitchFamily="34" charset="-122"/>
                <a:cs typeface="Arial" pitchFamily="34" charset="-120"/>
              </a:rPr>
              <a:t>Webhook báo tiền về</a:t>
            </a:r>
            <a:endParaRPr lang="en-US" sz="1500" dirty="0"/>
          </a:p>
        </p:txBody>
      </p:sp>
      <p:sp>
        <p:nvSpPr>
          <p:cNvPr id="22" name="Shape 20"/>
          <p:cNvSpPr/>
          <p:nvPr/>
        </p:nvSpPr>
        <p:spPr>
          <a:xfrm>
            <a:off x="3390824" y="4754880"/>
            <a:ext cx="2567864" cy="1051560"/>
          </a:xfrm>
          <a:prstGeom prst="roundRect">
            <a:avLst>
              <a:gd name="adj" fmla="val 6957"/>
            </a:avLst>
          </a:prstGeom>
          <a:solidFill>
            <a:srgbClr val="F1F4FA"/>
          </a:solidFill>
          <a:ln w="12700">
            <a:solidFill>
              <a:srgbClr val="F1F4FA"/>
            </a:solidFill>
            <a:prstDash val="solid"/>
          </a:ln>
        </p:spPr>
      </p:sp>
      <p:sp>
        <p:nvSpPr>
          <p:cNvPr id="23" name="Text 21"/>
          <p:cNvSpPr/>
          <p:nvPr/>
        </p:nvSpPr>
        <p:spPr>
          <a:xfrm>
            <a:off x="3390824" y="4754880"/>
            <a:ext cx="2567864" cy="1051560"/>
          </a:xfrm>
          <a:prstGeom prst="rect">
            <a:avLst/>
          </a:prstGeom>
          <a:noFill/>
          <a:ln/>
        </p:spPr>
        <p:txBody>
          <a:bodyPr wrap="square" lIns="114300" tIns="152400" rIns="152400" bIns="114300" rtlCol="0" anchor="t"/>
          <a:lstStyle/>
          <a:p>
            <a:pPr indent="0" marL="0">
              <a:spcAft>
                <a:spcPts val="400"/>
              </a:spcAft>
              <a:buNone/>
            </a:pPr>
            <a:r>
              <a:rPr lang="en-US" sz="1500" b="1" dirty="0">
                <a:solidFill>
                  <a:srgbClr val="1B2130"/>
                </a:solidFill>
                <a:latin typeface="Arial" pitchFamily="34" charset="0"/>
                <a:ea typeface="Arial" pitchFamily="34" charset="-122"/>
                <a:cs typeface="Arial" pitchFamily="34" charset="-120"/>
              </a:rPr>
              <a:t>Zalo Bot</a:t>
            </a:r>
            <a:endParaRPr lang="en-US" sz="1500" dirty="0"/>
          </a:p>
          <a:p>
            <a:pPr indent="0" marL="0">
              <a:spcAft>
                <a:spcPts val="400"/>
              </a:spcAft>
              <a:buNone/>
            </a:pPr>
            <a:r>
              <a:rPr lang="en-US" sz="1300" dirty="0">
                <a:solidFill>
                  <a:srgbClr val="4A5263"/>
                </a:solidFill>
                <a:latin typeface="Arial" pitchFamily="34" charset="0"/>
                <a:ea typeface="Arial" pitchFamily="34" charset="-122"/>
                <a:cs typeface="Arial" pitchFamily="34" charset="-120"/>
              </a:rPr>
              <a:t>Thông báo, OTP</a:t>
            </a:r>
            <a:endParaRPr lang="en-US" sz="1500" dirty="0"/>
          </a:p>
        </p:txBody>
      </p:sp>
      <p:sp>
        <p:nvSpPr>
          <p:cNvPr id="24" name="Shape 22"/>
          <p:cNvSpPr/>
          <p:nvPr/>
        </p:nvSpPr>
        <p:spPr>
          <a:xfrm>
            <a:off x="6233008" y="4754880"/>
            <a:ext cx="2567864" cy="1051560"/>
          </a:xfrm>
          <a:prstGeom prst="roundRect">
            <a:avLst>
              <a:gd name="adj" fmla="val 6957"/>
            </a:avLst>
          </a:prstGeom>
          <a:solidFill>
            <a:srgbClr val="F1F4FA"/>
          </a:solidFill>
          <a:ln w="12700">
            <a:solidFill>
              <a:srgbClr val="F1F4FA"/>
            </a:solidFill>
            <a:prstDash val="solid"/>
          </a:ln>
        </p:spPr>
      </p:sp>
      <p:sp>
        <p:nvSpPr>
          <p:cNvPr id="25" name="Text 23"/>
          <p:cNvSpPr/>
          <p:nvPr/>
        </p:nvSpPr>
        <p:spPr>
          <a:xfrm>
            <a:off x="6233008" y="4754880"/>
            <a:ext cx="2567864" cy="1051560"/>
          </a:xfrm>
          <a:prstGeom prst="rect">
            <a:avLst/>
          </a:prstGeom>
          <a:noFill/>
          <a:ln/>
        </p:spPr>
        <p:txBody>
          <a:bodyPr wrap="square" lIns="114300" tIns="152400" rIns="152400" bIns="114300" rtlCol="0" anchor="t"/>
          <a:lstStyle/>
          <a:p>
            <a:pPr indent="0" marL="0">
              <a:spcAft>
                <a:spcPts val="400"/>
              </a:spcAft>
              <a:buNone/>
            </a:pPr>
            <a:r>
              <a:rPr lang="en-US" sz="1500" b="1" dirty="0">
                <a:solidFill>
                  <a:srgbClr val="1B2130"/>
                </a:solidFill>
                <a:latin typeface="Arial" pitchFamily="34" charset="0"/>
                <a:ea typeface="Arial" pitchFamily="34" charset="-122"/>
                <a:cs typeface="Arial" pitchFamily="34" charset="-120"/>
              </a:rPr>
              <a:t>Email</a:t>
            </a:r>
            <a:endParaRPr lang="en-US" sz="1500" dirty="0"/>
          </a:p>
          <a:p>
            <a:pPr indent="0" marL="0">
              <a:spcAft>
                <a:spcPts val="400"/>
              </a:spcAft>
              <a:buNone/>
            </a:pPr>
            <a:r>
              <a:rPr lang="en-US" sz="1300" dirty="0">
                <a:solidFill>
                  <a:srgbClr val="4A5263"/>
                </a:solidFill>
                <a:latin typeface="Arial" pitchFamily="34" charset="0"/>
                <a:ea typeface="Arial" pitchFamily="34" charset="-122"/>
                <a:cs typeface="Arial" pitchFamily="34" charset="-120"/>
              </a:rPr>
              <a:t>SMTP hoặc Resend</a:t>
            </a:r>
            <a:endParaRPr lang="en-US" sz="1500" dirty="0"/>
          </a:p>
        </p:txBody>
      </p:sp>
      <p:sp>
        <p:nvSpPr>
          <p:cNvPr id="26" name="Shape 24"/>
          <p:cNvSpPr/>
          <p:nvPr/>
        </p:nvSpPr>
        <p:spPr>
          <a:xfrm>
            <a:off x="9075191" y="4754880"/>
            <a:ext cx="2567864" cy="1051560"/>
          </a:xfrm>
          <a:prstGeom prst="roundRect">
            <a:avLst>
              <a:gd name="adj" fmla="val 6957"/>
            </a:avLst>
          </a:prstGeom>
          <a:solidFill>
            <a:srgbClr val="F1F4FA"/>
          </a:solidFill>
          <a:ln w="12700">
            <a:solidFill>
              <a:srgbClr val="F1F4FA"/>
            </a:solidFill>
            <a:prstDash val="solid"/>
          </a:ln>
        </p:spPr>
      </p:sp>
      <p:sp>
        <p:nvSpPr>
          <p:cNvPr id="27" name="Text 25"/>
          <p:cNvSpPr/>
          <p:nvPr/>
        </p:nvSpPr>
        <p:spPr>
          <a:xfrm>
            <a:off x="9075191" y="4754880"/>
            <a:ext cx="2567864" cy="1051560"/>
          </a:xfrm>
          <a:prstGeom prst="rect">
            <a:avLst/>
          </a:prstGeom>
          <a:noFill/>
          <a:ln/>
        </p:spPr>
        <p:txBody>
          <a:bodyPr wrap="square" lIns="114300" tIns="152400" rIns="152400" bIns="114300" rtlCol="0" anchor="t"/>
          <a:lstStyle/>
          <a:p>
            <a:pPr indent="0" marL="0">
              <a:spcAft>
                <a:spcPts val="400"/>
              </a:spcAft>
              <a:buNone/>
            </a:pPr>
            <a:r>
              <a:rPr lang="en-US" sz="1500" b="1" dirty="0">
                <a:solidFill>
                  <a:srgbClr val="1B2130"/>
                </a:solidFill>
                <a:latin typeface="Arial" pitchFamily="34" charset="0"/>
                <a:ea typeface="Arial" pitchFamily="34" charset="-122"/>
                <a:cs typeface="Arial" pitchFamily="34" charset="-120"/>
              </a:rPr>
              <a:t>VietQR</a:t>
            </a:r>
            <a:endParaRPr lang="en-US" sz="1500" dirty="0"/>
          </a:p>
          <a:p>
            <a:pPr indent="0" marL="0">
              <a:spcAft>
                <a:spcPts val="400"/>
              </a:spcAft>
              <a:buNone/>
            </a:pPr>
            <a:r>
              <a:rPr lang="en-US" sz="1300" dirty="0">
                <a:solidFill>
                  <a:srgbClr val="4A5263"/>
                </a:solidFill>
                <a:latin typeface="Arial" pitchFamily="34" charset="0"/>
                <a:ea typeface="Arial" pitchFamily="34" charset="-122"/>
                <a:cs typeface="Arial" pitchFamily="34" charset="-120"/>
              </a:rPr>
              <a:t>Ảnh QR chuyển khoản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09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BÀI TOÁN 1 · AI NỢ AI</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600" b="1" dirty="0">
                <a:solidFill>
                  <a:srgbClr val="1B2130"/>
                </a:solidFill>
                <a:latin typeface="Arial" pitchFamily="34" charset="0"/>
                <a:ea typeface="Arial" pitchFamily="34" charset="-122"/>
                <a:cs typeface="Arial" pitchFamily="34" charset="-120"/>
              </a:rPr>
              <a:t>Tính số dư rồi gom mọi khoản nợ qua trưởng nhóm</a:t>
            </a:r>
            <a:endParaRPr lang="en-US" sz="2600" dirty="0"/>
          </a:p>
        </p:txBody>
      </p:sp>
      <p:sp>
        <p:nvSpPr>
          <p:cNvPr id="5" name="Shape 3"/>
          <p:cNvSpPr/>
          <p:nvPr/>
        </p:nvSpPr>
        <p:spPr>
          <a:xfrm>
            <a:off x="548640" y="1463040"/>
            <a:ext cx="5410048" cy="3063240"/>
          </a:xfrm>
          <a:prstGeom prst="roundRect">
            <a:avLst>
              <a:gd name="adj" fmla="val 2388"/>
            </a:avLst>
          </a:prstGeom>
          <a:solidFill>
            <a:srgbClr val="F1F4FA"/>
          </a:solidFill>
          <a:ln w="12700">
            <a:solidFill>
              <a:srgbClr val="F1F4FA"/>
            </a:solidFill>
            <a:prstDash val="solid"/>
          </a:ln>
        </p:spPr>
      </p:sp>
      <p:sp>
        <p:nvSpPr>
          <p:cNvPr id="6" name="Text 4"/>
          <p:cNvSpPr/>
          <p:nvPr/>
        </p:nvSpPr>
        <p:spPr>
          <a:xfrm>
            <a:off x="548640" y="1463040"/>
            <a:ext cx="5410048" cy="306324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QUY TẮC TÍNH SỐ DƯ</a:t>
            </a:r>
            <a:endParaRPr lang="en-US" sz="1000" dirty="0"/>
          </a:p>
          <a:p>
            <a:pPr marL="177800" indent="-177800">
              <a:spcAft>
                <a:spcPts val="500"/>
              </a:spcAft>
              <a:buSzPct val="100000"/>
              <a:buChar char="•"/>
            </a:pPr>
            <a:r>
              <a:rPr lang="en-US" sz="1350" dirty="0">
                <a:solidFill>
                  <a:srgbClr val="4A5263"/>
                </a:solidFill>
                <a:latin typeface="Arial" pitchFamily="34" charset="0"/>
                <a:ea typeface="Arial" pitchFamily="34" charset="-122"/>
                <a:cs typeface="Arial" pitchFamily="34" charset="-120"/>
              </a:rPr>
              <a:t>Hóa đơn đã duyệt: người được chia −phần của mình, người trả +phần đó</a:t>
            </a:r>
            <a:endParaRPr lang="en-US" sz="1000" dirty="0"/>
          </a:p>
          <a:p>
            <a:pPr marL="177800" indent="-177800">
              <a:spcAft>
                <a:spcPts val="500"/>
              </a:spcAft>
              <a:buSzPct val="100000"/>
              <a:buChar char="•"/>
            </a:pPr>
            <a:r>
              <a:rPr lang="en-US" sz="1350" dirty="0">
                <a:solidFill>
                  <a:srgbClr val="4A5263"/>
                </a:solidFill>
                <a:latin typeface="Arial" pitchFamily="34" charset="0"/>
                <a:ea typeface="Arial" pitchFamily="34" charset="-122"/>
                <a:cs typeface="Arial" pitchFamily="34" charset="-120"/>
              </a:rPr>
              <a:t>Hóa đơn chi từ quỹ: không ai nợ; ai ứng tiền túi thì trưởng nhóm nợ người đó</a:t>
            </a:r>
            <a:endParaRPr lang="en-US" sz="1000" dirty="0"/>
          </a:p>
          <a:p>
            <a:pPr marL="177800" indent="-177800">
              <a:spcAft>
                <a:spcPts val="500"/>
              </a:spcAft>
              <a:buSzPct val="100000"/>
              <a:buChar char="•"/>
            </a:pPr>
            <a:r>
              <a:rPr lang="en-US" sz="1350" dirty="0">
                <a:solidFill>
                  <a:srgbClr val="4A5263"/>
                </a:solidFill>
                <a:latin typeface="Arial" pitchFamily="34" charset="0"/>
                <a:ea typeface="Arial" pitchFamily="34" charset="-122"/>
                <a:cs typeface="Arial" pitchFamily="34" charset="-120"/>
              </a:rPr>
              <a:t>Khoản trả nợ đã xác nhận: người chuyển +, người nhận −</a:t>
            </a:r>
            <a:endParaRPr lang="en-US" sz="1000" dirty="0"/>
          </a:p>
          <a:p>
            <a:pPr marL="177800" indent="-177800">
              <a:spcAft>
                <a:spcPts val="500"/>
              </a:spcAft>
              <a:buSzPct val="100000"/>
              <a:buChar char="•"/>
            </a:pPr>
            <a:r>
              <a:rPr lang="en-US" sz="1350" dirty="0">
                <a:solidFill>
                  <a:srgbClr val="4A5263"/>
                </a:solidFill>
                <a:latin typeface="Arial" pitchFamily="34" charset="0"/>
                <a:ea typeface="Arial" pitchFamily="34" charset="-122"/>
                <a:cs typeface="Arial" pitchFamily="34" charset="-120"/>
              </a:rPr>
              <a:t>Cấp quỹ: thủ quỹ −, người nhận +</a:t>
            </a:r>
            <a:endParaRPr lang="en-US" sz="1000" dirty="0"/>
          </a:p>
        </p:txBody>
      </p:sp>
      <p:sp>
        <p:nvSpPr>
          <p:cNvPr id="7" name="Shape 5"/>
          <p:cNvSpPr/>
          <p:nvPr/>
        </p:nvSpPr>
        <p:spPr>
          <a:xfrm>
            <a:off x="6233008" y="1463040"/>
            <a:ext cx="5410048" cy="3063240"/>
          </a:xfrm>
          <a:prstGeom prst="roundRect">
            <a:avLst>
              <a:gd name="adj" fmla="val 2388"/>
            </a:avLst>
          </a:prstGeom>
          <a:solidFill>
            <a:srgbClr val="F1F4FA"/>
          </a:solidFill>
          <a:ln w="12700">
            <a:solidFill>
              <a:srgbClr val="F1F4FA"/>
            </a:solidFill>
            <a:prstDash val="solid"/>
          </a:ln>
        </p:spPr>
      </p:sp>
      <p:sp>
        <p:nvSpPr>
          <p:cNvPr id="8" name="Text 6"/>
          <p:cNvSpPr/>
          <p:nvPr/>
        </p:nvSpPr>
        <p:spPr>
          <a:xfrm>
            <a:off x="6233008" y="1463040"/>
            <a:ext cx="5410048" cy="306324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VÍ DỤ: 4 NGƯỜI, A LÀ TRƯỞNG NHÓM</a:t>
            </a:r>
            <a:endParaRPr lang="en-US" sz="1000" dirty="0"/>
          </a:p>
          <a:p>
            <a:pPr indent="0" marL="0">
              <a:spcAft>
                <a:spcPts val="400"/>
              </a:spcAft>
              <a:buNone/>
            </a:pPr>
            <a:r>
              <a:rPr lang="en-US" sz="1350" dirty="0">
                <a:solidFill>
                  <a:srgbClr val="4A5263"/>
                </a:solidFill>
                <a:latin typeface="Arial" pitchFamily="34" charset="0"/>
                <a:ea typeface="Arial" pitchFamily="34" charset="-122"/>
                <a:cs typeface="Arial" pitchFamily="34" charset="-120"/>
              </a:rPr>
              <a:t>Khách sạn 1.200.000 ₫ do A trả, chia 4. Ăn tối 400.000 ₫ do B trả, chia 4.</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370168" y="2514600"/>
          <a:ext cx="5135728" cy="914400"/>
        </p:xfrm>
        <a:graphic>
          <a:graphicData uri="http://schemas.openxmlformats.org/drawingml/2006/table">
            <a:tbl>
              <a:tblPr/>
              <a:tblGrid>
                <a:gridCol w="914400"/>
                <a:gridCol w="1554480"/>
                <a:gridCol w="2666848"/>
              </a:tblGrid>
              <a:tr h="0">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NGƯỜI</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000" spc="100" kern="0" dirty="0">
                          <a:solidFill>
                            <a:srgbClr val="6B7385"/>
                          </a:solidFill>
                          <a:latin typeface="Arial" pitchFamily="34" charset="0"/>
                          <a:ea typeface="Arial" pitchFamily="34" charset="-122"/>
                          <a:cs typeface="Arial" pitchFamily="34" charset="-120"/>
                        </a:rPr>
                        <a:t>SỐ DƯ</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PHẢI LÀM</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A</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1B2130"/>
                          </a:solidFill>
                          <a:latin typeface="Arial" pitchFamily="34" charset="0"/>
                          <a:ea typeface="Arial" pitchFamily="34" charset="-122"/>
                          <a:cs typeface="Arial" pitchFamily="34" charset="-120"/>
                        </a:rPr>
                        <a:t>+800.000</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4A5263"/>
                          </a:solidFill>
                          <a:latin typeface="Arial" pitchFamily="34" charset="0"/>
                          <a:ea typeface="Arial" pitchFamily="34" charset="-122"/>
                          <a:cs typeface="Arial" pitchFamily="34" charset="-120"/>
                        </a:rPr>
                        <a:t>nhận 800.000</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B</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1B2130"/>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4A5263"/>
                          </a:solidFill>
                          <a:latin typeface="Arial" pitchFamily="34" charset="0"/>
                          <a:ea typeface="Arial" pitchFamily="34" charset="-122"/>
                          <a:cs typeface="Arial" pitchFamily="34" charset="-120"/>
                        </a:rPr>
                        <a:t>không cần chuyển</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C</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1B2130"/>
                          </a:solidFill>
                          <a:latin typeface="Arial" pitchFamily="34" charset="0"/>
                          <a:ea typeface="Arial" pitchFamily="34" charset="-122"/>
                          <a:cs typeface="Arial" pitchFamily="34" charset="-120"/>
                        </a:rPr>
                        <a:t>−400.000</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4A5263"/>
                          </a:solidFill>
                          <a:latin typeface="Arial" pitchFamily="34" charset="0"/>
                          <a:ea typeface="Arial" pitchFamily="34" charset="-122"/>
                          <a:cs typeface="Arial" pitchFamily="34" charset="-120"/>
                        </a:rPr>
                        <a:t>chuyển A 400.000</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D</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1B2130"/>
                          </a:solidFill>
                          <a:latin typeface="Arial" pitchFamily="34" charset="0"/>
                          <a:ea typeface="Arial" pitchFamily="34" charset="-122"/>
                          <a:cs typeface="Arial" pitchFamily="34" charset="-120"/>
                        </a:rPr>
                        <a:t>−400.000</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00" dirty="0">
                          <a:solidFill>
                            <a:srgbClr val="4A5263"/>
                          </a:solidFill>
                          <a:latin typeface="Arial" pitchFamily="34" charset="0"/>
                          <a:ea typeface="Arial" pitchFamily="34" charset="-122"/>
                          <a:cs typeface="Arial" pitchFamily="34" charset="-120"/>
                        </a:rPr>
                        <a:t>chuyển A 400.000</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bl>
          </a:graphicData>
        </a:graphic>
      </p:graphicFrame>
      <p:sp>
        <p:nvSpPr>
          <p:cNvPr id="10" name="Shape 7"/>
          <p:cNvSpPr/>
          <p:nvPr/>
        </p:nvSpPr>
        <p:spPr>
          <a:xfrm>
            <a:off x="548640" y="4709160"/>
            <a:ext cx="11094415" cy="1234440"/>
          </a:xfrm>
          <a:prstGeom prst="roundRect">
            <a:avLst>
              <a:gd name="adj" fmla="val 5926"/>
            </a:avLst>
          </a:prstGeom>
          <a:solidFill>
            <a:srgbClr val="F1F4FA"/>
          </a:solidFill>
          <a:ln w="12700">
            <a:solidFill>
              <a:srgbClr val="F1F4FA"/>
            </a:solidFill>
            <a:prstDash val="solid"/>
          </a:ln>
        </p:spPr>
      </p:sp>
      <p:sp>
        <p:nvSpPr>
          <p:cNvPr id="11" name="Text 8"/>
          <p:cNvSpPr/>
          <p:nvPr/>
        </p:nvSpPr>
        <p:spPr>
          <a:xfrm>
            <a:off x="548640" y="4709160"/>
            <a:ext cx="5227168" cy="1234440"/>
          </a:xfrm>
          <a:prstGeom prst="rect">
            <a:avLst/>
          </a:prstGeom>
          <a:noFill/>
          <a:ln/>
        </p:spPr>
        <p:txBody>
          <a:bodyPr wrap="square" lIns="76200" tIns="177800" rIns="152400" bIns="76200" rtlCol="0" anchor="ctr"/>
          <a:lstStyle/>
          <a:p>
            <a:pPr indent="0" marL="0">
              <a:spcAft>
                <a:spcPts val="400"/>
              </a:spcAft>
              <a:buNone/>
            </a:pPr>
            <a:r>
              <a:rPr lang="en-US" sz="1000" spc="100" kern="0" dirty="0">
                <a:solidFill>
                  <a:srgbClr val="6B7385"/>
                </a:solidFill>
                <a:latin typeface="Arial" pitchFamily="34" charset="0"/>
                <a:ea typeface="Arial" pitchFamily="34" charset="-122"/>
                <a:cs typeface="Arial" pitchFamily="34" charset="-120"/>
              </a:rPr>
              <a:t>NỢ THEO TỪNG CẶP</a:t>
            </a:r>
            <a:endParaRPr lang="en-US" sz="1000" dirty="0"/>
          </a:p>
          <a:p>
            <a:pPr indent="0" marL="0">
              <a:buNone/>
            </a:pPr>
            <a:r>
              <a:rPr lang="en-US" sz="3000" b="1" dirty="0">
                <a:solidFill>
                  <a:srgbClr val="B3392F"/>
                </a:solidFill>
                <a:latin typeface="Arial" pitchFamily="34" charset="0"/>
                <a:ea typeface="Arial" pitchFamily="34" charset="-122"/>
                <a:cs typeface="Arial" pitchFamily="34" charset="-120"/>
              </a:rPr>
              <a:t>6 lượt chuyển</a:t>
            </a:r>
            <a:endParaRPr lang="en-US" sz="1000" dirty="0"/>
          </a:p>
        </p:txBody>
      </p:sp>
      <p:sp>
        <p:nvSpPr>
          <p:cNvPr id="12" name="Text 9"/>
          <p:cNvSpPr/>
          <p:nvPr/>
        </p:nvSpPr>
        <p:spPr>
          <a:xfrm>
            <a:off x="5775808" y="4709160"/>
            <a:ext cx="640080" cy="1234440"/>
          </a:xfrm>
          <a:prstGeom prst="rect">
            <a:avLst/>
          </a:prstGeom>
          <a:noFill/>
          <a:ln/>
        </p:spPr>
        <p:txBody>
          <a:bodyPr wrap="square" lIns="0" tIns="0" rIns="0" bIns="0" rtlCol="0" anchor="ctr"/>
          <a:lstStyle/>
          <a:p>
            <a:pPr algn="ctr" indent="0" marL="0">
              <a:buNone/>
            </a:pPr>
            <a:r>
              <a:rPr lang="en-US" sz="2400" dirty="0">
                <a:solidFill>
                  <a:srgbClr val="6B7385"/>
                </a:solidFill>
                <a:latin typeface="Arial" pitchFamily="34" charset="0"/>
                <a:ea typeface="Arial" pitchFamily="34" charset="-122"/>
                <a:cs typeface="Arial" pitchFamily="34" charset="-120"/>
              </a:rPr>
              <a:t>→</a:t>
            </a:r>
            <a:endParaRPr lang="en-US" sz="2400" dirty="0"/>
          </a:p>
        </p:txBody>
      </p:sp>
      <p:sp>
        <p:nvSpPr>
          <p:cNvPr id="13" name="Text 10"/>
          <p:cNvSpPr/>
          <p:nvPr/>
        </p:nvSpPr>
        <p:spPr>
          <a:xfrm>
            <a:off x="6415888" y="4709160"/>
            <a:ext cx="5227168" cy="1234440"/>
          </a:xfrm>
          <a:prstGeom prst="rect">
            <a:avLst/>
          </a:prstGeom>
          <a:noFill/>
          <a:ln/>
        </p:spPr>
        <p:txBody>
          <a:bodyPr wrap="square" lIns="76200" tIns="177800" rIns="152400" bIns="76200" rtlCol="0" anchor="ctr"/>
          <a:lstStyle/>
          <a:p>
            <a:pPr indent="0" marL="0">
              <a:spcAft>
                <a:spcPts val="400"/>
              </a:spcAft>
              <a:buNone/>
            </a:pPr>
            <a:r>
              <a:rPr lang="en-US" sz="1000" spc="100" kern="0" dirty="0">
                <a:solidFill>
                  <a:srgbClr val="6B7385"/>
                </a:solidFill>
                <a:latin typeface="Arial" pitchFamily="34" charset="0"/>
                <a:ea typeface="Arial" pitchFamily="34" charset="-122"/>
                <a:cs typeface="Arial" pitchFamily="34" charset="-120"/>
              </a:rPr>
              <a:t>GOM QUA TRƯỞNG NHÓM</a:t>
            </a:r>
            <a:endParaRPr lang="en-US" sz="1000" dirty="0"/>
          </a:p>
          <a:p>
            <a:pPr indent="0" marL="0">
              <a:buNone/>
            </a:pPr>
            <a:r>
              <a:rPr lang="en-US" sz="3000" b="1" dirty="0">
                <a:solidFill>
                  <a:srgbClr val="2E7D32"/>
                </a:solidFill>
                <a:latin typeface="Arial" pitchFamily="34" charset="0"/>
                <a:ea typeface="Arial" pitchFamily="34" charset="-122"/>
                <a:cs typeface="Arial" pitchFamily="34" charset="-120"/>
              </a:rPr>
              <a:t>2 lượt chuyển</a:t>
            </a:r>
            <a:endParaRPr lang="en-US" sz="1000" dirty="0"/>
          </a:p>
        </p:txBody>
      </p:sp>
      <p:sp>
        <p:nvSpPr>
          <p:cNvPr id="14" name="Text 11"/>
          <p:cNvSpPr/>
          <p:nvPr/>
        </p:nvSpPr>
        <p:spPr>
          <a:xfrm>
            <a:off x="548640" y="6236208"/>
            <a:ext cx="11094415" cy="411480"/>
          </a:xfrm>
          <a:prstGeom prst="rect">
            <a:avLst/>
          </a:prstGeom>
          <a:noFill/>
          <a:ln/>
        </p:spPr>
        <p:txBody>
          <a:bodyPr wrap="square" lIns="0" tIns="0" rIns="0" bIns="0" rtlCol="0" anchor="t"/>
          <a:lstStyle/>
          <a:p>
            <a:pPr indent="0" marL="0">
              <a:buNone/>
            </a:pPr>
            <a:r>
              <a:rPr lang="en-US" sz="1100" dirty="0">
                <a:solidFill>
                  <a:srgbClr val="6B7385"/>
                </a:solidFill>
                <a:latin typeface="Arial" pitchFamily="34" charset="0"/>
                <a:ea typeface="Arial" pitchFamily="34" charset="-122"/>
                <a:cs typeface="Arial" pitchFamily="34" charset="-120"/>
              </a:rPr>
              <a:t>Nhóm n người cần tối đa n − 1 lượt chuyển. Số dư cả nhóm tính bằng một câu SQL tổng hợp, không tải toàn bộ hóa đơn về server.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10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BÀI TOÁN 2 · TRẢ NỢ TỰ ĐỘNG</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600" b="1" dirty="0">
                <a:solidFill>
                  <a:srgbClr val="1B2130"/>
                </a:solidFill>
                <a:latin typeface="Arial" pitchFamily="34" charset="0"/>
                <a:ea typeface="Arial" pitchFamily="34" charset="-122"/>
                <a:cs typeface="Arial" pitchFamily="34" charset="-120"/>
              </a:rPr>
              <a:t>Tiền về tài khoản là khoản nợ tự đóng, không ai phải đối soát</a:t>
            </a:r>
            <a:endParaRPr lang="en-US" sz="2600" dirty="0"/>
          </a:p>
        </p:txBody>
      </p:sp>
      <p:sp>
        <p:nvSpPr>
          <p:cNvPr id="5" name="Shape 3"/>
          <p:cNvSpPr/>
          <p:nvPr/>
        </p:nvSpPr>
        <p:spPr>
          <a:xfrm>
            <a:off x="548640" y="1600200"/>
            <a:ext cx="3527450" cy="36576"/>
          </a:xfrm>
          <a:prstGeom prst="rect">
            <a:avLst/>
          </a:prstGeom>
          <a:solidFill>
            <a:srgbClr val="2D5BE3"/>
          </a:solidFill>
          <a:ln w="12700">
            <a:solidFill>
              <a:srgbClr val="2D5BE3"/>
            </a:solidFill>
            <a:prstDash val="solid"/>
          </a:ln>
        </p:spPr>
      </p:sp>
      <p:sp>
        <p:nvSpPr>
          <p:cNvPr id="6" name="Text 4"/>
          <p:cNvSpPr/>
          <p:nvPr/>
        </p:nvSpPr>
        <p:spPr>
          <a:xfrm>
            <a:off x="548640" y="1691640"/>
            <a:ext cx="3527450" cy="187452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01</a:t>
            </a:r>
            <a:endParaRPr lang="en-US" sz="1100" dirty="0"/>
          </a:p>
          <a:p>
            <a:pPr indent="0" marL="0">
              <a:spcAft>
                <a:spcPts val="400"/>
              </a:spcAft>
              <a:buNone/>
            </a:pPr>
            <a:r>
              <a:rPr lang="en-US" sz="1500" b="1" dirty="0">
                <a:solidFill>
                  <a:srgbClr val="1B2130"/>
                </a:solidFill>
                <a:latin typeface="Arial" pitchFamily="34" charset="0"/>
                <a:ea typeface="Arial" pitchFamily="34" charset="-122"/>
                <a:cs typeface="Arial" pitchFamily="34" charset="-120"/>
              </a:rPr>
              <a:t>Tạo khoản trả</a:t>
            </a:r>
            <a:endParaRPr lang="en-US" sz="1100" dirty="0"/>
          </a:p>
          <a:p>
            <a:pPr indent="0" marL="0">
              <a:buNone/>
            </a:pPr>
            <a:r>
              <a:rPr lang="en-US" sz="1350" dirty="0">
                <a:solidFill>
                  <a:srgbClr val="4A5263"/>
                </a:solidFill>
                <a:latin typeface="Arial" pitchFamily="34" charset="0"/>
                <a:ea typeface="Arial" pitchFamily="34" charset="-122"/>
                <a:cs typeface="Arial" pitchFamily="34" charset="-120"/>
              </a:rPr>
              <a:t>Người nợ bấm "Trả nợ"; hệ thống tạo mã GS&lt;id&gt;.</a:t>
            </a:r>
            <a:endParaRPr lang="en-US" sz="1100" dirty="0"/>
          </a:p>
        </p:txBody>
      </p:sp>
      <p:sp>
        <p:nvSpPr>
          <p:cNvPr id="7" name="Shape 5"/>
          <p:cNvSpPr/>
          <p:nvPr/>
        </p:nvSpPr>
        <p:spPr>
          <a:xfrm>
            <a:off x="4332122" y="1600200"/>
            <a:ext cx="3527450" cy="36576"/>
          </a:xfrm>
          <a:prstGeom prst="rect">
            <a:avLst/>
          </a:prstGeom>
          <a:solidFill>
            <a:srgbClr val="2D5BE3"/>
          </a:solidFill>
          <a:ln w="12700">
            <a:solidFill>
              <a:srgbClr val="2D5BE3"/>
            </a:solidFill>
            <a:prstDash val="solid"/>
          </a:ln>
        </p:spPr>
      </p:sp>
      <p:sp>
        <p:nvSpPr>
          <p:cNvPr id="8" name="Text 6"/>
          <p:cNvSpPr/>
          <p:nvPr/>
        </p:nvSpPr>
        <p:spPr>
          <a:xfrm>
            <a:off x="4332122" y="1691640"/>
            <a:ext cx="3527450" cy="187452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02</a:t>
            </a:r>
            <a:endParaRPr lang="en-US" sz="1100" dirty="0"/>
          </a:p>
          <a:p>
            <a:pPr indent="0" marL="0">
              <a:spcAft>
                <a:spcPts val="400"/>
              </a:spcAft>
              <a:buNone/>
            </a:pPr>
            <a:r>
              <a:rPr lang="en-US" sz="1500" b="1" dirty="0">
                <a:solidFill>
                  <a:srgbClr val="1B2130"/>
                </a:solidFill>
                <a:latin typeface="Arial" pitchFamily="34" charset="0"/>
                <a:ea typeface="Arial" pitchFamily="34" charset="-122"/>
                <a:cs typeface="Arial" pitchFamily="34" charset="-120"/>
              </a:rPr>
              <a:t>Quét VietQR</a:t>
            </a:r>
            <a:endParaRPr lang="en-US" sz="1100" dirty="0"/>
          </a:p>
          <a:p>
            <a:pPr indent="0" marL="0">
              <a:buNone/>
            </a:pPr>
            <a:r>
              <a:rPr lang="en-US" sz="1350" dirty="0">
                <a:solidFill>
                  <a:srgbClr val="4A5263"/>
                </a:solidFill>
                <a:latin typeface="Arial" pitchFamily="34" charset="0"/>
                <a:ea typeface="Arial" pitchFamily="34" charset="-122"/>
                <a:cs typeface="Arial" pitchFamily="34" charset="-120"/>
              </a:rPr>
              <a:t>QR điền sẵn tài khoản người nhận, số tiền và nội dung GS&lt;id&gt;.</a:t>
            </a:r>
            <a:endParaRPr lang="en-US" sz="1100" dirty="0"/>
          </a:p>
        </p:txBody>
      </p:sp>
      <p:sp>
        <p:nvSpPr>
          <p:cNvPr id="9" name="Shape 7"/>
          <p:cNvSpPr/>
          <p:nvPr/>
        </p:nvSpPr>
        <p:spPr>
          <a:xfrm>
            <a:off x="8115605" y="1600200"/>
            <a:ext cx="3527450" cy="36576"/>
          </a:xfrm>
          <a:prstGeom prst="rect">
            <a:avLst/>
          </a:prstGeom>
          <a:solidFill>
            <a:srgbClr val="2D5BE3"/>
          </a:solidFill>
          <a:ln w="12700">
            <a:solidFill>
              <a:srgbClr val="2D5BE3"/>
            </a:solidFill>
            <a:prstDash val="solid"/>
          </a:ln>
        </p:spPr>
      </p:sp>
      <p:sp>
        <p:nvSpPr>
          <p:cNvPr id="10" name="Text 8"/>
          <p:cNvSpPr/>
          <p:nvPr/>
        </p:nvSpPr>
        <p:spPr>
          <a:xfrm>
            <a:off x="8115605" y="1691640"/>
            <a:ext cx="3527450" cy="187452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03</a:t>
            </a:r>
            <a:endParaRPr lang="en-US" sz="1100" dirty="0"/>
          </a:p>
          <a:p>
            <a:pPr indent="0" marL="0">
              <a:spcAft>
                <a:spcPts val="400"/>
              </a:spcAft>
              <a:buNone/>
            </a:pPr>
            <a:r>
              <a:rPr lang="en-US" sz="1500" b="1" dirty="0">
                <a:solidFill>
                  <a:srgbClr val="1B2130"/>
                </a:solidFill>
                <a:latin typeface="Arial" pitchFamily="34" charset="0"/>
                <a:ea typeface="Arial" pitchFamily="34" charset="-122"/>
                <a:cs typeface="Arial" pitchFamily="34" charset="-120"/>
              </a:rPr>
              <a:t>SePay gọi webhook</a:t>
            </a:r>
            <a:endParaRPr lang="en-US" sz="1100" dirty="0"/>
          </a:p>
          <a:p>
            <a:pPr indent="0" marL="0">
              <a:buNone/>
            </a:pPr>
            <a:r>
              <a:rPr lang="en-US" sz="1350" dirty="0">
                <a:solidFill>
                  <a:srgbClr val="4A5263"/>
                </a:solidFill>
                <a:latin typeface="Arial" pitchFamily="34" charset="0"/>
                <a:ea typeface="Arial" pitchFamily="34" charset="-122"/>
                <a:cs typeface="Arial" pitchFamily="34" charset="-120"/>
              </a:rPr>
              <a:t>Tiền vào tài khoản người nhận, SePay gửi giao dịch tới /api/webhook/sepay/&lt;người nhận&gt;.</a:t>
            </a:r>
            <a:endParaRPr lang="en-US" sz="1100" dirty="0"/>
          </a:p>
        </p:txBody>
      </p:sp>
      <p:sp>
        <p:nvSpPr>
          <p:cNvPr id="11" name="Shape 9"/>
          <p:cNvSpPr/>
          <p:nvPr/>
        </p:nvSpPr>
        <p:spPr>
          <a:xfrm>
            <a:off x="548640" y="3794760"/>
            <a:ext cx="3527450" cy="36576"/>
          </a:xfrm>
          <a:prstGeom prst="rect">
            <a:avLst/>
          </a:prstGeom>
          <a:solidFill>
            <a:srgbClr val="2D5BE3"/>
          </a:solidFill>
          <a:ln w="12700">
            <a:solidFill>
              <a:srgbClr val="2D5BE3"/>
            </a:solidFill>
            <a:prstDash val="solid"/>
          </a:ln>
        </p:spPr>
      </p:sp>
      <p:sp>
        <p:nvSpPr>
          <p:cNvPr id="12" name="Text 10"/>
          <p:cNvSpPr/>
          <p:nvPr/>
        </p:nvSpPr>
        <p:spPr>
          <a:xfrm>
            <a:off x="548640" y="3886200"/>
            <a:ext cx="3527450" cy="187452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04</a:t>
            </a:r>
            <a:endParaRPr lang="en-US" sz="1100" dirty="0"/>
          </a:p>
          <a:p>
            <a:pPr indent="0" marL="0">
              <a:spcAft>
                <a:spcPts val="400"/>
              </a:spcAft>
              <a:buNone/>
            </a:pPr>
            <a:r>
              <a:rPr lang="en-US" sz="1500" b="1" dirty="0">
                <a:solidFill>
                  <a:srgbClr val="1B2130"/>
                </a:solidFill>
                <a:latin typeface="Arial" pitchFamily="34" charset="0"/>
                <a:ea typeface="Arial" pitchFamily="34" charset="-122"/>
                <a:cs typeface="Arial" pitchFamily="34" charset="-120"/>
              </a:rPr>
              <a:t>Xác thực</a:t>
            </a:r>
            <a:endParaRPr lang="en-US" sz="1100" dirty="0"/>
          </a:p>
          <a:p>
            <a:pPr indent="0" marL="0">
              <a:buNone/>
            </a:pPr>
            <a:r>
              <a:rPr lang="en-US" sz="1350" dirty="0">
                <a:solidFill>
                  <a:srgbClr val="4A5263"/>
                </a:solidFill>
                <a:latin typeface="Arial" pitchFamily="34" charset="0"/>
                <a:ea typeface="Arial" pitchFamily="34" charset="-122"/>
                <a:cs typeface="Arial" pitchFamily="34" charset="-120"/>
              </a:rPr>
              <a:t>Chữ ký HMAC-SHA256 bằng secret riêng; lệch giờ tối đa 5 phút; mỗi mã giao dịch chỉ xử lý một lần.</a:t>
            </a:r>
            <a:endParaRPr lang="en-US" sz="1100" dirty="0"/>
          </a:p>
        </p:txBody>
      </p:sp>
      <p:sp>
        <p:nvSpPr>
          <p:cNvPr id="13" name="Shape 11"/>
          <p:cNvSpPr/>
          <p:nvPr/>
        </p:nvSpPr>
        <p:spPr>
          <a:xfrm>
            <a:off x="4332122" y="3794760"/>
            <a:ext cx="3527450" cy="36576"/>
          </a:xfrm>
          <a:prstGeom prst="rect">
            <a:avLst/>
          </a:prstGeom>
          <a:solidFill>
            <a:srgbClr val="0CA30C"/>
          </a:solidFill>
          <a:ln w="12700">
            <a:solidFill>
              <a:srgbClr val="0CA30C"/>
            </a:solidFill>
            <a:prstDash val="solid"/>
          </a:ln>
        </p:spPr>
      </p:sp>
      <p:sp>
        <p:nvSpPr>
          <p:cNvPr id="14" name="Text 12"/>
          <p:cNvSpPr/>
          <p:nvPr/>
        </p:nvSpPr>
        <p:spPr>
          <a:xfrm>
            <a:off x="4332122" y="3886200"/>
            <a:ext cx="3527450" cy="1874520"/>
          </a:xfrm>
          <a:prstGeom prst="rect">
            <a:avLst/>
          </a:prstGeom>
          <a:noFill/>
          <a:ln/>
        </p:spPr>
        <p:txBody>
          <a:bodyPr wrap="square" lIns="25400" tIns="0" rIns="25400" bIns="25400" rtlCol="0" anchor="t"/>
          <a:lstStyle/>
          <a:p>
            <a:pPr indent="0" marL="0">
              <a:spcAft>
                <a:spcPts val="400"/>
              </a:spcAft>
              <a:buNone/>
            </a:pPr>
            <a:r>
              <a:rPr lang="en-US" sz="1100" b="1" dirty="0">
                <a:solidFill>
                  <a:srgbClr val="2E7D32"/>
                </a:solidFill>
                <a:latin typeface="Arial" pitchFamily="34" charset="0"/>
                <a:ea typeface="Arial" pitchFamily="34" charset="-122"/>
                <a:cs typeface="Arial" pitchFamily="34" charset="-120"/>
              </a:rPr>
              <a:t>05 · mới</a:t>
            </a:r>
            <a:endParaRPr lang="en-US" sz="1100" dirty="0"/>
          </a:p>
          <a:p>
            <a:pPr indent="0" marL="0">
              <a:spcAft>
                <a:spcPts val="400"/>
              </a:spcAft>
              <a:buNone/>
            </a:pPr>
            <a:r>
              <a:rPr lang="en-US" sz="1500" b="1" dirty="0">
                <a:solidFill>
                  <a:srgbClr val="1B2130"/>
                </a:solidFill>
                <a:latin typeface="Arial" pitchFamily="34" charset="0"/>
                <a:ea typeface="Arial" pitchFamily="34" charset="-122"/>
                <a:cs typeface="Arial" pitchFamily="34" charset="-120"/>
              </a:rPr>
              <a:t>Đối chiếu</a:t>
            </a:r>
            <a:endParaRPr lang="en-US" sz="1100" dirty="0"/>
          </a:p>
          <a:p>
            <a:pPr indent="0" marL="0">
              <a:buNone/>
            </a:pPr>
            <a:r>
              <a:rPr lang="en-US" sz="1350" dirty="0">
                <a:solidFill>
                  <a:srgbClr val="4A5263"/>
                </a:solidFill>
                <a:latin typeface="Arial" pitchFamily="34" charset="0"/>
                <a:ea typeface="Arial" pitchFamily="34" charset="-122"/>
                <a:cs typeface="Arial" pitchFamily="34" charset="-120"/>
              </a:rPr>
              <a:t>Đúng người nhận và đủ số tiền mới gạch nợ; cập nhật có điều kiện để không gạch hai lần.</a:t>
            </a:r>
            <a:endParaRPr lang="en-US" sz="1100" dirty="0"/>
          </a:p>
        </p:txBody>
      </p:sp>
      <p:sp>
        <p:nvSpPr>
          <p:cNvPr id="15" name="Shape 13"/>
          <p:cNvSpPr/>
          <p:nvPr/>
        </p:nvSpPr>
        <p:spPr>
          <a:xfrm>
            <a:off x="8115605" y="3794760"/>
            <a:ext cx="3527450" cy="36576"/>
          </a:xfrm>
          <a:prstGeom prst="rect">
            <a:avLst/>
          </a:prstGeom>
          <a:solidFill>
            <a:srgbClr val="2D5BE3"/>
          </a:solidFill>
          <a:ln w="12700">
            <a:solidFill>
              <a:srgbClr val="2D5BE3"/>
            </a:solidFill>
            <a:prstDash val="solid"/>
          </a:ln>
        </p:spPr>
      </p:sp>
      <p:sp>
        <p:nvSpPr>
          <p:cNvPr id="16" name="Text 14"/>
          <p:cNvSpPr/>
          <p:nvPr/>
        </p:nvSpPr>
        <p:spPr>
          <a:xfrm>
            <a:off x="8115605" y="3886200"/>
            <a:ext cx="3527450" cy="187452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06</a:t>
            </a:r>
            <a:endParaRPr lang="en-US" sz="1100" dirty="0"/>
          </a:p>
          <a:p>
            <a:pPr indent="0" marL="0">
              <a:spcAft>
                <a:spcPts val="400"/>
              </a:spcAft>
              <a:buNone/>
            </a:pPr>
            <a:r>
              <a:rPr lang="en-US" sz="1500" b="1" dirty="0">
                <a:solidFill>
                  <a:srgbClr val="1B2130"/>
                </a:solidFill>
                <a:latin typeface="Arial" pitchFamily="34" charset="0"/>
                <a:ea typeface="Arial" pitchFamily="34" charset="-122"/>
                <a:cs typeface="Arial" pitchFamily="34" charset="-120"/>
              </a:rPr>
              <a:t>Báo cho cả nhóm</a:t>
            </a:r>
            <a:endParaRPr lang="en-US" sz="1100" dirty="0"/>
          </a:p>
          <a:p>
            <a:pPr indent="0" marL="0">
              <a:buNone/>
            </a:pPr>
            <a:r>
              <a:rPr lang="en-US" sz="1350" dirty="0">
                <a:solidFill>
                  <a:srgbClr val="4A5263"/>
                </a:solidFill>
                <a:latin typeface="Arial" pitchFamily="34" charset="0"/>
                <a:ea typeface="Arial" pitchFamily="34" charset="-122"/>
                <a:cs typeface="Arial" pitchFamily="34" charset="-120"/>
              </a:rPr>
              <a:t>Màn hình nhóm tự cập nhật, hai bên nhận tin Zalo.</a:t>
            </a:r>
            <a:endParaRPr lang="en-US" sz="1100" dirty="0"/>
          </a:p>
        </p:txBody>
      </p:sp>
      <p:sp>
        <p:nvSpPr>
          <p:cNvPr id="17" name="Text 15"/>
          <p:cNvSpPr/>
          <p:nvPr/>
        </p:nvSpPr>
        <p:spPr>
          <a:xfrm>
            <a:off x="548640" y="6236208"/>
            <a:ext cx="11094415" cy="411480"/>
          </a:xfrm>
          <a:prstGeom prst="rect">
            <a:avLst/>
          </a:prstGeom>
          <a:noFill/>
          <a:ln/>
        </p:spPr>
        <p:txBody>
          <a:bodyPr wrap="square" lIns="0" tIns="0" rIns="0" bIns="0" rtlCol="0" anchor="t"/>
          <a:lstStyle/>
          <a:p>
            <a:pPr indent="0" marL="0">
              <a:buNone/>
            </a:pPr>
            <a:r>
              <a:rPr lang="en-US" sz="1100" dirty="0">
                <a:solidFill>
                  <a:srgbClr val="6B7385"/>
                </a:solidFill>
                <a:latin typeface="Arial" pitchFamily="34" charset="0"/>
                <a:ea typeface="Arial" pitchFamily="34" charset="-122"/>
                <a:cs typeface="Arial" pitchFamily="34" charset="-120"/>
              </a:rPr>
              <a:t>Bước 5 được bổ sung: trước đó chuyển 1 ₫ kèm đúng mã vẫn gạch được cả khoản nợ.</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11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BÀI TOÁN 3 · NHIỀU NGƯỜI CÙNG XEM</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Realtime chạy được trên nhiều tiến trình</a:t>
            </a:r>
            <a:endParaRPr lang="en-US" sz="2800" dirty="0"/>
          </a:p>
        </p:txBody>
      </p:sp>
      <p:sp>
        <p:nvSpPr>
          <p:cNvPr id="5" name="Shape 3"/>
          <p:cNvSpPr/>
          <p:nvPr/>
        </p:nvSpPr>
        <p:spPr>
          <a:xfrm>
            <a:off x="548640" y="1600200"/>
            <a:ext cx="2014057" cy="36576"/>
          </a:xfrm>
          <a:prstGeom prst="rect">
            <a:avLst/>
          </a:prstGeom>
          <a:solidFill>
            <a:srgbClr val="2D5BE3"/>
          </a:solidFill>
          <a:ln w="12700">
            <a:solidFill>
              <a:srgbClr val="2D5BE3"/>
            </a:solidFill>
            <a:prstDash val="solid"/>
          </a:ln>
        </p:spPr>
      </p:sp>
      <p:sp>
        <p:nvSpPr>
          <p:cNvPr id="6" name="Text 4"/>
          <p:cNvSpPr/>
          <p:nvPr/>
        </p:nvSpPr>
        <p:spPr>
          <a:xfrm>
            <a:off x="548640" y="1691640"/>
            <a:ext cx="2014057" cy="201168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01</a:t>
            </a:r>
            <a:endParaRPr lang="en-US" sz="1100" dirty="0"/>
          </a:p>
          <a:p>
            <a:pPr indent="0" marL="0">
              <a:spcAft>
                <a:spcPts val="400"/>
              </a:spcAft>
              <a:buNone/>
            </a:pPr>
            <a:r>
              <a:rPr lang="en-US" sz="1450" b="1" dirty="0">
                <a:solidFill>
                  <a:srgbClr val="1B2130"/>
                </a:solidFill>
                <a:latin typeface="Arial" pitchFamily="34" charset="0"/>
                <a:ea typeface="Arial" pitchFamily="34" charset="-122"/>
                <a:cs typeface="Arial" pitchFamily="34" charset="-120"/>
              </a:rPr>
              <a:t>A thêm hóa đơn</a:t>
            </a:r>
            <a:endParaRPr lang="en-US" sz="1100" dirty="0"/>
          </a:p>
          <a:p>
            <a:pPr indent="0" marL="0">
              <a:buNone/>
            </a:pPr>
            <a:r>
              <a:rPr lang="en-US" sz="1300" dirty="0">
                <a:solidFill>
                  <a:srgbClr val="4A5263"/>
                </a:solidFill>
                <a:latin typeface="Arial" pitchFamily="34" charset="0"/>
                <a:ea typeface="Arial" pitchFamily="34" charset="-122"/>
                <a:cs typeface="Arial" pitchFamily="34" charset="-120"/>
              </a:rPr>
              <a:t>Request rơi vào worker 2</a:t>
            </a:r>
            <a:endParaRPr lang="en-US" sz="1100" dirty="0"/>
          </a:p>
        </p:txBody>
      </p:sp>
      <p:sp>
        <p:nvSpPr>
          <p:cNvPr id="7" name="Shape 5"/>
          <p:cNvSpPr/>
          <p:nvPr/>
        </p:nvSpPr>
        <p:spPr>
          <a:xfrm>
            <a:off x="2818729" y="1600200"/>
            <a:ext cx="2014057" cy="36576"/>
          </a:xfrm>
          <a:prstGeom prst="rect">
            <a:avLst/>
          </a:prstGeom>
          <a:solidFill>
            <a:srgbClr val="2D5BE3"/>
          </a:solidFill>
          <a:ln w="12700">
            <a:solidFill>
              <a:srgbClr val="2D5BE3"/>
            </a:solidFill>
            <a:prstDash val="solid"/>
          </a:ln>
        </p:spPr>
      </p:sp>
      <p:sp>
        <p:nvSpPr>
          <p:cNvPr id="8" name="Text 6"/>
          <p:cNvSpPr/>
          <p:nvPr/>
        </p:nvSpPr>
        <p:spPr>
          <a:xfrm>
            <a:off x="2818729" y="1691640"/>
            <a:ext cx="2014057" cy="201168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02</a:t>
            </a:r>
            <a:endParaRPr lang="en-US" sz="1100" dirty="0"/>
          </a:p>
          <a:p>
            <a:pPr indent="0" marL="0">
              <a:spcAft>
                <a:spcPts val="400"/>
              </a:spcAft>
              <a:buNone/>
            </a:pPr>
            <a:r>
              <a:rPr lang="en-US" sz="1450" b="1" dirty="0">
                <a:solidFill>
                  <a:srgbClr val="1B2130"/>
                </a:solidFill>
                <a:latin typeface="Arial" pitchFamily="34" charset="0"/>
                <a:ea typeface="Arial" pitchFamily="34" charset="-122"/>
                <a:cs typeface="Arial" pitchFamily="34" charset="-120"/>
              </a:rPr>
              <a:t>Worker 2 phát sự kiện</a:t>
            </a:r>
            <a:endParaRPr lang="en-US" sz="1100" dirty="0"/>
          </a:p>
          <a:p>
            <a:pPr indent="0" marL="0">
              <a:buNone/>
            </a:pPr>
            <a:r>
              <a:rPr lang="en-US" sz="1300" dirty="0">
                <a:solidFill>
                  <a:srgbClr val="4A5263"/>
                </a:solidFill>
                <a:latin typeface="Arial" pitchFamily="34" charset="0"/>
                <a:ea typeface="Arial" pitchFamily="34" charset="-122"/>
                <a:cs typeface="Arial" pitchFamily="34" charset="-120"/>
              </a:rPr>
              <a:t>Cho người đang nối với nó và gửi pg_notify</a:t>
            </a:r>
            <a:endParaRPr lang="en-US" sz="1100" dirty="0"/>
          </a:p>
        </p:txBody>
      </p:sp>
      <p:sp>
        <p:nvSpPr>
          <p:cNvPr id="9" name="Shape 7"/>
          <p:cNvSpPr/>
          <p:nvPr/>
        </p:nvSpPr>
        <p:spPr>
          <a:xfrm>
            <a:off x="5088819" y="1600200"/>
            <a:ext cx="2014057" cy="36576"/>
          </a:xfrm>
          <a:prstGeom prst="rect">
            <a:avLst/>
          </a:prstGeom>
          <a:solidFill>
            <a:srgbClr val="2D5BE3"/>
          </a:solidFill>
          <a:ln w="12700">
            <a:solidFill>
              <a:srgbClr val="2D5BE3"/>
            </a:solidFill>
            <a:prstDash val="solid"/>
          </a:ln>
        </p:spPr>
      </p:sp>
      <p:sp>
        <p:nvSpPr>
          <p:cNvPr id="10" name="Text 8"/>
          <p:cNvSpPr/>
          <p:nvPr/>
        </p:nvSpPr>
        <p:spPr>
          <a:xfrm>
            <a:off x="5088819" y="1691640"/>
            <a:ext cx="2014057" cy="201168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03</a:t>
            </a:r>
            <a:endParaRPr lang="en-US" sz="1100" dirty="0"/>
          </a:p>
          <a:p>
            <a:pPr indent="0" marL="0">
              <a:spcAft>
                <a:spcPts val="400"/>
              </a:spcAft>
              <a:buNone/>
            </a:pPr>
            <a:r>
              <a:rPr lang="en-US" sz="1450" b="1" dirty="0">
                <a:solidFill>
                  <a:srgbClr val="1B2130"/>
                </a:solidFill>
                <a:latin typeface="Arial" pitchFamily="34" charset="0"/>
                <a:ea typeface="Arial" pitchFamily="34" charset="-122"/>
                <a:cs typeface="Arial" pitchFamily="34" charset="-120"/>
              </a:rPr>
              <a:t>Worker khác nhận</a:t>
            </a:r>
            <a:endParaRPr lang="en-US" sz="1100" dirty="0"/>
          </a:p>
          <a:p>
            <a:pPr indent="0" marL="0">
              <a:buNone/>
            </a:pPr>
            <a:r>
              <a:rPr lang="en-US" sz="1300" dirty="0">
                <a:solidFill>
                  <a:srgbClr val="4A5263"/>
                </a:solidFill>
                <a:latin typeface="Arial" pitchFamily="34" charset="0"/>
                <a:ea typeface="Arial" pitchFamily="34" charset="-122"/>
                <a:cs typeface="Arial" pitchFamily="34" charset="-120"/>
              </a:rPr>
              <a:t>Qua kết nối LISTEN tới PostgreSQL</a:t>
            </a:r>
            <a:endParaRPr lang="en-US" sz="1100" dirty="0"/>
          </a:p>
        </p:txBody>
      </p:sp>
      <p:sp>
        <p:nvSpPr>
          <p:cNvPr id="11" name="Shape 9"/>
          <p:cNvSpPr/>
          <p:nvPr/>
        </p:nvSpPr>
        <p:spPr>
          <a:xfrm>
            <a:off x="7358908" y="1600200"/>
            <a:ext cx="2014057" cy="36576"/>
          </a:xfrm>
          <a:prstGeom prst="rect">
            <a:avLst/>
          </a:prstGeom>
          <a:solidFill>
            <a:srgbClr val="2D5BE3"/>
          </a:solidFill>
          <a:ln w="12700">
            <a:solidFill>
              <a:srgbClr val="2D5BE3"/>
            </a:solidFill>
            <a:prstDash val="solid"/>
          </a:ln>
        </p:spPr>
      </p:sp>
      <p:sp>
        <p:nvSpPr>
          <p:cNvPr id="12" name="Text 10"/>
          <p:cNvSpPr/>
          <p:nvPr/>
        </p:nvSpPr>
        <p:spPr>
          <a:xfrm>
            <a:off x="7358908" y="1691640"/>
            <a:ext cx="2014057" cy="2011680"/>
          </a:xfrm>
          <a:prstGeom prst="rect">
            <a:avLst/>
          </a:prstGeom>
          <a:noFill/>
          <a:ln/>
        </p:spPr>
        <p:txBody>
          <a:bodyPr wrap="square" lIns="25400" tIns="0" rIns="25400" bIns="25400" rtlCol="0" anchor="t"/>
          <a:lstStyle/>
          <a:p>
            <a:pPr indent="0" marL="0">
              <a:spcAft>
                <a:spcPts val="400"/>
              </a:spcAft>
              <a:buNone/>
            </a:pPr>
            <a:r>
              <a:rPr lang="en-US" sz="1100" b="1" dirty="0">
                <a:solidFill>
                  <a:srgbClr val="2D5BE3"/>
                </a:solidFill>
                <a:latin typeface="Arial" pitchFamily="34" charset="0"/>
                <a:ea typeface="Arial" pitchFamily="34" charset="-122"/>
                <a:cs typeface="Arial" pitchFamily="34" charset="-120"/>
              </a:rPr>
              <a:t>04</a:t>
            </a:r>
            <a:endParaRPr lang="en-US" sz="1100" dirty="0"/>
          </a:p>
          <a:p>
            <a:pPr indent="0" marL="0">
              <a:spcAft>
                <a:spcPts val="400"/>
              </a:spcAft>
              <a:buNone/>
            </a:pPr>
            <a:r>
              <a:rPr lang="en-US" sz="1450" b="1" dirty="0">
                <a:solidFill>
                  <a:srgbClr val="1B2130"/>
                </a:solidFill>
                <a:latin typeface="Arial" pitchFamily="34" charset="0"/>
                <a:ea typeface="Arial" pitchFamily="34" charset="-122"/>
                <a:cs typeface="Arial" pitchFamily="34" charset="-120"/>
              </a:rPr>
              <a:t>Đẩy tin qua SSE</a:t>
            </a:r>
            <a:endParaRPr lang="en-US" sz="1100" dirty="0"/>
          </a:p>
          <a:p>
            <a:pPr indent="0" marL="0">
              <a:buNone/>
            </a:pPr>
            <a:r>
              <a:rPr lang="en-US" sz="1300" dirty="0">
                <a:solidFill>
                  <a:srgbClr val="4A5263"/>
                </a:solidFill>
                <a:latin typeface="Arial" pitchFamily="34" charset="0"/>
                <a:ea typeface="Arial" pitchFamily="34" charset="-122"/>
                <a:cs typeface="Arial" pitchFamily="34" charset="-120"/>
              </a:rPr>
              <a:t>Tin REFRESH tới mọi trình duyệt đang xem nhóm</a:t>
            </a:r>
            <a:endParaRPr lang="en-US" sz="1100" dirty="0"/>
          </a:p>
        </p:txBody>
      </p:sp>
      <p:sp>
        <p:nvSpPr>
          <p:cNvPr id="13" name="Shape 11"/>
          <p:cNvSpPr/>
          <p:nvPr/>
        </p:nvSpPr>
        <p:spPr>
          <a:xfrm>
            <a:off x="9628998" y="1600200"/>
            <a:ext cx="2014057" cy="36576"/>
          </a:xfrm>
          <a:prstGeom prst="rect">
            <a:avLst/>
          </a:prstGeom>
          <a:solidFill>
            <a:srgbClr val="0CA30C"/>
          </a:solidFill>
          <a:ln w="12700">
            <a:solidFill>
              <a:srgbClr val="0CA30C"/>
            </a:solidFill>
            <a:prstDash val="solid"/>
          </a:ln>
        </p:spPr>
      </p:sp>
      <p:sp>
        <p:nvSpPr>
          <p:cNvPr id="14" name="Text 12"/>
          <p:cNvSpPr/>
          <p:nvPr/>
        </p:nvSpPr>
        <p:spPr>
          <a:xfrm>
            <a:off x="9628998" y="1691640"/>
            <a:ext cx="2014057" cy="2011680"/>
          </a:xfrm>
          <a:prstGeom prst="rect">
            <a:avLst/>
          </a:prstGeom>
          <a:noFill/>
          <a:ln/>
        </p:spPr>
        <p:txBody>
          <a:bodyPr wrap="square" lIns="25400" tIns="0" rIns="25400" bIns="25400" rtlCol="0" anchor="t"/>
          <a:lstStyle/>
          <a:p>
            <a:pPr indent="0" marL="0">
              <a:spcAft>
                <a:spcPts val="400"/>
              </a:spcAft>
              <a:buNone/>
            </a:pPr>
            <a:r>
              <a:rPr lang="en-US" sz="1100" b="1" dirty="0">
                <a:solidFill>
                  <a:srgbClr val="2E7D32"/>
                </a:solidFill>
                <a:latin typeface="Arial" pitchFamily="34" charset="0"/>
                <a:ea typeface="Arial" pitchFamily="34" charset="-122"/>
                <a:cs typeface="Arial" pitchFamily="34" charset="-120"/>
              </a:rPr>
              <a:t>05 · mới</a:t>
            </a:r>
            <a:endParaRPr lang="en-US" sz="1100" dirty="0"/>
          </a:p>
          <a:p>
            <a:pPr indent="0" marL="0">
              <a:spcAft>
                <a:spcPts val="400"/>
              </a:spcAft>
              <a:buNone/>
            </a:pPr>
            <a:r>
              <a:rPr lang="en-US" sz="1450" b="1" dirty="0">
                <a:solidFill>
                  <a:srgbClr val="1B2130"/>
                </a:solidFill>
                <a:latin typeface="Arial" pitchFamily="34" charset="0"/>
                <a:ea typeface="Arial" pitchFamily="34" charset="-122"/>
                <a:cs typeface="Arial" pitchFamily="34" charset="-120"/>
              </a:rPr>
              <a:t>Tải lại có dàn trải</a:t>
            </a:r>
            <a:endParaRPr lang="en-US" sz="1100" dirty="0"/>
          </a:p>
          <a:p>
            <a:pPr indent="0" marL="0">
              <a:buNone/>
            </a:pPr>
            <a:r>
              <a:rPr lang="en-US" sz="1300" dirty="0">
                <a:solidFill>
                  <a:srgbClr val="4A5263"/>
                </a:solidFill>
                <a:latin typeface="Arial" pitchFamily="34" charset="0"/>
                <a:ea typeface="Arial" pitchFamily="34" charset="-122"/>
                <a:cs typeface="Arial" pitchFamily="34" charset="-120"/>
              </a:rPr>
              <a:t>Trễ ngẫu nhiên 10 ms × số thành viên (tối đa 2 s); tab ẩn đợi người dùng quay lại</a:t>
            </a:r>
            <a:endParaRPr lang="en-US" sz="1100" dirty="0"/>
          </a:p>
        </p:txBody>
      </p:sp>
      <p:sp>
        <p:nvSpPr>
          <p:cNvPr id="15" name="Text 13"/>
          <p:cNvSpPr/>
          <p:nvPr/>
        </p:nvSpPr>
        <p:spPr>
          <a:xfrm>
            <a:off x="548640" y="4206240"/>
            <a:ext cx="3515258" cy="1188720"/>
          </a:xfrm>
          <a:prstGeom prst="rect">
            <a:avLst/>
          </a:prstGeom>
          <a:noFill/>
          <a:ln/>
        </p:spPr>
        <p:txBody>
          <a:bodyPr wrap="square" lIns="0" tIns="0" rIns="0" bIns="0" rtlCol="0" anchor="t"/>
          <a:lstStyle/>
          <a:p>
            <a:pPr indent="0" marL="0">
              <a:spcAft>
                <a:spcPts val="300"/>
              </a:spcAft>
              <a:buNone/>
            </a:pPr>
            <a:r>
              <a:rPr lang="en-US" sz="3000" b="1" dirty="0">
                <a:solidFill>
                  <a:srgbClr val="1B2130"/>
                </a:solidFill>
                <a:latin typeface="Arial" pitchFamily="34" charset="0"/>
                <a:ea typeface="Arial" pitchFamily="34" charset="-122"/>
                <a:cs typeface="Arial" pitchFamily="34" charset="-120"/>
              </a:rPr>
              <a:t>1.200 / 1.200</a:t>
            </a:r>
            <a:endParaRPr lang="en-US" sz="3000" dirty="0"/>
          </a:p>
          <a:p>
            <a:pPr indent="0" marL="0">
              <a:buNone/>
            </a:pPr>
            <a:r>
              <a:rPr lang="en-US" sz="1300" dirty="0">
                <a:solidFill>
                  <a:srgbClr val="4A5263"/>
                </a:solidFill>
                <a:latin typeface="Arial" pitchFamily="34" charset="0"/>
                <a:ea typeface="Arial" pitchFamily="34" charset="-122"/>
                <a:cs typeface="Arial" pitchFamily="34" charset="-120"/>
              </a:rPr>
              <a:t>kết nối SSE mở thành công</a:t>
            </a:r>
            <a:endParaRPr lang="en-US" sz="3000" dirty="0"/>
          </a:p>
        </p:txBody>
      </p:sp>
      <p:sp>
        <p:nvSpPr>
          <p:cNvPr id="16" name="Text 14"/>
          <p:cNvSpPr/>
          <p:nvPr/>
        </p:nvSpPr>
        <p:spPr>
          <a:xfrm>
            <a:off x="4338218" y="4206240"/>
            <a:ext cx="3515258" cy="1188720"/>
          </a:xfrm>
          <a:prstGeom prst="rect">
            <a:avLst/>
          </a:prstGeom>
          <a:noFill/>
          <a:ln/>
        </p:spPr>
        <p:txBody>
          <a:bodyPr wrap="square" lIns="0" tIns="0" rIns="0" bIns="0" rtlCol="0" anchor="t"/>
          <a:lstStyle/>
          <a:p>
            <a:pPr indent="0" marL="0">
              <a:spcAft>
                <a:spcPts val="300"/>
              </a:spcAft>
              <a:buNone/>
            </a:pPr>
            <a:r>
              <a:rPr lang="en-US" sz="3000" b="1" dirty="0">
                <a:solidFill>
                  <a:srgbClr val="1B2130"/>
                </a:solidFill>
                <a:latin typeface="Arial" pitchFamily="34" charset="0"/>
                <a:ea typeface="Arial" pitchFamily="34" charset="-122"/>
                <a:cs typeface="Arial" pitchFamily="34" charset="-120"/>
              </a:rPr>
              <a:t>≤ 74 ms</a:t>
            </a:r>
            <a:endParaRPr lang="en-US" sz="3000" dirty="0"/>
          </a:p>
          <a:p>
            <a:pPr indent="0" marL="0">
              <a:buNone/>
            </a:pPr>
            <a:r>
              <a:rPr lang="en-US" sz="1300" dirty="0">
                <a:solidFill>
                  <a:srgbClr val="4A5263"/>
                </a:solidFill>
                <a:latin typeface="Arial" pitchFamily="34" charset="0"/>
                <a:ea typeface="Arial" pitchFamily="34" charset="-122"/>
                <a:cs typeface="Arial" pitchFamily="34" charset="-120"/>
              </a:rPr>
              <a:t>để tin tới đủ 1.200 người, kể cả ở worker khác</a:t>
            </a:r>
            <a:endParaRPr lang="en-US" sz="3000" dirty="0"/>
          </a:p>
        </p:txBody>
      </p:sp>
      <p:sp>
        <p:nvSpPr>
          <p:cNvPr id="17" name="Text 15"/>
          <p:cNvSpPr/>
          <p:nvPr/>
        </p:nvSpPr>
        <p:spPr>
          <a:xfrm>
            <a:off x="8127797" y="4206240"/>
            <a:ext cx="3515258" cy="1188720"/>
          </a:xfrm>
          <a:prstGeom prst="rect">
            <a:avLst/>
          </a:prstGeom>
          <a:noFill/>
          <a:ln/>
        </p:spPr>
        <p:txBody>
          <a:bodyPr wrap="square" lIns="0" tIns="0" rIns="0" bIns="0" rtlCol="0" anchor="t"/>
          <a:lstStyle/>
          <a:p>
            <a:pPr indent="0" marL="0">
              <a:spcAft>
                <a:spcPts val="300"/>
              </a:spcAft>
              <a:buNone/>
            </a:pPr>
            <a:r>
              <a:rPr lang="en-US" sz="3000" b="1" dirty="0">
                <a:solidFill>
                  <a:srgbClr val="1B2130"/>
                </a:solidFill>
                <a:latin typeface="Arial" pitchFamily="34" charset="0"/>
                <a:ea typeface="Arial" pitchFamily="34" charset="-122"/>
                <a:cs typeface="Arial" pitchFamily="34" charset="-120"/>
              </a:rPr>
              <a:t>25 s</a:t>
            </a:r>
            <a:endParaRPr lang="en-US" sz="3000" dirty="0"/>
          </a:p>
          <a:p>
            <a:pPr indent="0" marL="0">
              <a:buNone/>
            </a:pPr>
            <a:r>
              <a:rPr lang="en-US" sz="1300" dirty="0">
                <a:solidFill>
                  <a:srgbClr val="4A5263"/>
                </a:solidFill>
                <a:latin typeface="Arial" pitchFamily="34" charset="0"/>
                <a:ea typeface="Arial" pitchFamily="34" charset="-122"/>
                <a:cs typeface="Arial" pitchFamily="34" charset="-120"/>
              </a:rPr>
              <a:t>một nhịp heartbeat giữ kết nối qua reverse proxy</a:t>
            </a:r>
            <a:endParaRPr lang="en-US" sz="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12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PHÂN NHÁNH API</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52 API chia theo 5 nhánh</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286000"/>
                <a:gridCol w="822960"/>
                <a:gridCol w="7985455"/>
              </a:tblGrid>
              <a:tr h="0">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NHÁNH</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000" spc="100" kern="0" dirty="0">
                          <a:solidFill>
                            <a:srgbClr val="6B7385"/>
                          </a:solidFill>
                          <a:latin typeface="Arial" pitchFamily="34" charset="0"/>
                          <a:ea typeface="Arial" pitchFamily="34" charset="-122"/>
                          <a:cs typeface="Arial" pitchFamily="34" charset="-120"/>
                        </a:rPr>
                        <a:t>ROUTE</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THÀNH PHẦN CHÍNH</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Nghiệp vụ nhóm</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1B2130"/>
                          </a:solidFill>
                          <a:latin typeface="Arial" pitchFamily="34" charset="0"/>
                          <a:ea typeface="Arial" pitchFamily="34" charset="-122"/>
                          <a:cs typeface="Arial" pitchFamily="34" charset="-120"/>
                        </a:rPr>
                        <a:t>23</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200" dirty="0">
                          <a:solidFill>
                            <a:srgbClr val="4A5263"/>
                          </a:solidFill>
                          <a:latin typeface="Arial" pitchFamily="34" charset="0"/>
                          <a:ea typeface="Arial" pitchFamily="34" charset="-122"/>
                          <a:cs typeface="Arial" pitchFamily="34" charset="-120"/>
                        </a:rPr>
                        <a:t>/api/groups/[id]/ expenses · settlements · fund-contributions · fund-allocations · members · categories · join · leave; /api/expenses/[id]/status (duyệt)</a:t>
                      </a:r>
                      <a:endParaRPr lang="en-US" sz="12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Xác thực &amp; tài khoản</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1B2130"/>
                          </a:solidFill>
                          <a:latin typeface="Arial" pitchFamily="34" charset="0"/>
                          <a:ea typeface="Arial" pitchFamily="34" charset="-122"/>
                          <a:cs typeface="Arial" pitchFamily="34" charset="-120"/>
                        </a:rPr>
                        <a:t>18</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200" dirty="0">
                          <a:solidFill>
                            <a:srgbClr val="4A5263"/>
                          </a:solidFill>
                          <a:latin typeface="Arial" pitchFamily="34" charset="0"/>
                          <a:ea typeface="Arial" pitchFamily="34" charset="-122"/>
                          <a:cs typeface="Arial" pitchFamily="34" charset="-120"/>
                        </a:rPr>
                        <a:t>/api/auth/* đăng ký, captcha, kiểm tra đăng nhập, quên mật khẩu; /api/user/* cài đặt, đổi mật khẩu + OTP, email, liên kết Zalo</a:t>
                      </a:r>
                      <a:endParaRPr lang="en-US" sz="12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Tích hợp ngoài</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1B2130"/>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200" dirty="0">
                          <a:solidFill>
                            <a:srgbClr val="4A5263"/>
                          </a:solidFill>
                          <a:latin typeface="Arial" pitchFamily="34" charset="0"/>
                          <a:ea typeface="Arial" pitchFamily="34" charset="-122"/>
                          <a:cs typeface="Arial" pitchFamily="34" charset="-120"/>
                        </a:rPr>
                        <a:t>/api/webhook/sepay/[userId], /api/webhook/zalo, /api/zalo/*</a:t>
                      </a:r>
                      <a:endParaRPr lang="en-US" sz="12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Quản trị</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1B2130"/>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200" dirty="0">
                          <a:solidFill>
                            <a:srgbClr val="4A5263"/>
                          </a:solidFill>
                          <a:latin typeface="Arial" pitchFamily="34" charset="0"/>
                          <a:ea typeface="Arial" pitchFamily="34" charset="-122"/>
                          <a:cs typeface="Arial" pitchFamily="34" charset="-120"/>
                        </a:rPr>
                        <a:t>/api/admin/ users · system · test-email · migrate-db</a:t>
                      </a:r>
                      <a:endParaRPr lang="en-US" sz="12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Thông báo &amp; realtime</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1B2130"/>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200" dirty="0">
                          <a:solidFill>
                            <a:srgbClr val="4A5263"/>
                          </a:solidFill>
                          <a:latin typeface="Arial" pitchFamily="34" charset="0"/>
                          <a:ea typeface="Arial" pitchFamily="34" charset="-122"/>
                          <a:cs typeface="Arial" pitchFamily="34" charset="-120"/>
                        </a:rPr>
                        <a:t>/api/notifications (thêm ?summary=1), /api/groups/[id]/realtime (SSE)</a:t>
                      </a:r>
                      <a:endParaRPr lang="en-US" sz="12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bl>
          </a:graphicData>
        </a:graphic>
      </p:graphicFrame>
      <p:sp>
        <p:nvSpPr>
          <p:cNvPr id="6" name="Shape 3"/>
          <p:cNvSpPr/>
          <p:nvPr/>
        </p:nvSpPr>
        <p:spPr>
          <a:xfrm>
            <a:off x="548640" y="4572000"/>
            <a:ext cx="3515258" cy="1280160"/>
          </a:xfrm>
          <a:prstGeom prst="roundRect">
            <a:avLst>
              <a:gd name="adj" fmla="val 5714"/>
            </a:avLst>
          </a:prstGeom>
          <a:solidFill>
            <a:srgbClr val="F1F4FA"/>
          </a:solidFill>
          <a:ln w="12700">
            <a:solidFill>
              <a:srgbClr val="F1F4FA"/>
            </a:solidFill>
            <a:prstDash val="solid"/>
          </a:ln>
        </p:spPr>
      </p:sp>
      <p:sp>
        <p:nvSpPr>
          <p:cNvPr id="7" name="Text 4"/>
          <p:cNvSpPr/>
          <p:nvPr/>
        </p:nvSpPr>
        <p:spPr>
          <a:xfrm>
            <a:off x="548640" y="4572000"/>
            <a:ext cx="3515258" cy="128016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CÔNG KHAI</a:t>
            </a:r>
            <a:endParaRPr lang="en-US" sz="1000" dirty="0"/>
          </a:p>
          <a:p>
            <a:pPr indent="0" marL="0">
              <a:spcAft>
                <a:spcPts val="400"/>
              </a:spcAft>
              <a:buNone/>
            </a:pPr>
            <a:r>
              <a:rPr lang="en-US" sz="1350" dirty="0">
                <a:solidFill>
                  <a:srgbClr val="4A5263"/>
                </a:solidFill>
                <a:latin typeface="Arial" pitchFamily="34" charset="0"/>
                <a:ea typeface="Arial" pitchFamily="34" charset="-122"/>
                <a:cs typeface="Arial" pitchFamily="34" charset="-120"/>
              </a:rPr>
              <a:t>Trang chủ, đăng nhập, đăng ký, /api/auth, webhook</a:t>
            </a:r>
            <a:endParaRPr lang="en-US" sz="1000" dirty="0"/>
          </a:p>
        </p:txBody>
      </p:sp>
      <p:sp>
        <p:nvSpPr>
          <p:cNvPr id="8" name="Shape 5"/>
          <p:cNvSpPr/>
          <p:nvPr/>
        </p:nvSpPr>
        <p:spPr>
          <a:xfrm>
            <a:off x="4338218" y="4572000"/>
            <a:ext cx="3515258" cy="1280160"/>
          </a:xfrm>
          <a:prstGeom prst="roundRect">
            <a:avLst>
              <a:gd name="adj" fmla="val 5714"/>
            </a:avLst>
          </a:prstGeom>
          <a:solidFill>
            <a:srgbClr val="F1F4FA"/>
          </a:solidFill>
          <a:ln w="12700">
            <a:solidFill>
              <a:srgbClr val="F1F4FA"/>
            </a:solidFill>
            <a:prstDash val="solid"/>
          </a:ln>
        </p:spPr>
      </p:sp>
      <p:sp>
        <p:nvSpPr>
          <p:cNvPr id="9" name="Text 6"/>
          <p:cNvSpPr/>
          <p:nvPr/>
        </p:nvSpPr>
        <p:spPr>
          <a:xfrm>
            <a:off x="4338218" y="4572000"/>
            <a:ext cx="3515258" cy="128016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CẦN ĐĂNG NHẬP</a:t>
            </a:r>
            <a:endParaRPr lang="en-US" sz="1000" dirty="0"/>
          </a:p>
          <a:p>
            <a:pPr indent="0" marL="0">
              <a:spcAft>
                <a:spcPts val="400"/>
              </a:spcAft>
              <a:buNone/>
            </a:pPr>
            <a:r>
              <a:rPr lang="en-US" sz="1350" dirty="0">
                <a:solidFill>
                  <a:srgbClr val="4A5263"/>
                </a:solidFill>
                <a:latin typeface="Arial" pitchFamily="34" charset="0"/>
                <a:ea typeface="Arial" pitchFamily="34" charset="-122"/>
                <a:cs typeface="Arial" pitchFamily="34" charset="-120"/>
              </a:rPr>
              <a:t>Mọi route còn lại; API trả 401 dạng JSON</a:t>
            </a:r>
            <a:endParaRPr lang="en-US" sz="1000" dirty="0"/>
          </a:p>
        </p:txBody>
      </p:sp>
      <p:sp>
        <p:nvSpPr>
          <p:cNvPr id="10" name="Shape 7"/>
          <p:cNvSpPr/>
          <p:nvPr/>
        </p:nvSpPr>
        <p:spPr>
          <a:xfrm>
            <a:off x="8127797" y="4572000"/>
            <a:ext cx="3515258" cy="1280160"/>
          </a:xfrm>
          <a:prstGeom prst="roundRect">
            <a:avLst>
              <a:gd name="adj" fmla="val 5714"/>
            </a:avLst>
          </a:prstGeom>
          <a:solidFill>
            <a:srgbClr val="F1F4FA"/>
          </a:solidFill>
          <a:ln w="12700">
            <a:solidFill>
              <a:srgbClr val="F1F4FA"/>
            </a:solidFill>
            <a:prstDash val="solid"/>
          </a:ln>
        </p:spPr>
      </p:sp>
      <p:sp>
        <p:nvSpPr>
          <p:cNvPr id="11" name="Text 8"/>
          <p:cNvSpPr/>
          <p:nvPr/>
        </p:nvSpPr>
        <p:spPr>
          <a:xfrm>
            <a:off x="8127797" y="4572000"/>
            <a:ext cx="3515258" cy="128016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CHỈ QUẢN TRỊ VIÊN</a:t>
            </a:r>
            <a:endParaRPr lang="en-US" sz="1000" dirty="0"/>
          </a:p>
          <a:p>
            <a:pPr indent="0" marL="0">
              <a:spcAft>
                <a:spcPts val="400"/>
              </a:spcAft>
              <a:buNone/>
            </a:pPr>
            <a:r>
              <a:rPr lang="en-US" sz="1350" dirty="0">
                <a:solidFill>
                  <a:srgbClr val="4A5263"/>
                </a:solidFill>
                <a:latin typeface="Arial" pitchFamily="34" charset="0"/>
                <a:ea typeface="Arial" pitchFamily="34" charset="-122"/>
                <a:cs typeface="Arial" pitchFamily="34" charset="-120"/>
              </a:rPr>
              <a:t>/admin, /api/admin, /api/zalo; trả 403</a:t>
            </a:r>
            <a:endParaRPr lang="en-US" sz="1000" dirty="0"/>
          </a:p>
        </p:txBody>
      </p:sp>
      <p:sp>
        <p:nvSpPr>
          <p:cNvPr id="12" name="Text 9"/>
          <p:cNvSpPr/>
          <p:nvPr/>
        </p:nvSpPr>
        <p:spPr>
          <a:xfrm>
            <a:off x="548640" y="6236208"/>
            <a:ext cx="11094415" cy="411480"/>
          </a:xfrm>
          <a:prstGeom prst="rect">
            <a:avLst/>
          </a:prstGeom>
          <a:noFill/>
          <a:ln/>
        </p:spPr>
        <p:txBody>
          <a:bodyPr wrap="square" lIns="0" tIns="0" rIns="0" bIns="0" rtlCol="0" anchor="t"/>
          <a:lstStyle/>
          <a:p>
            <a:pPr indent="0" marL="0">
              <a:buNone/>
            </a:pPr>
            <a:r>
              <a:rPr lang="en-US" sz="1100" dirty="0">
                <a:solidFill>
                  <a:srgbClr val="6B7385"/>
                </a:solidFill>
                <a:latin typeface="Arial" pitchFamily="34" charset="0"/>
                <a:ea typeface="Arial" pitchFamily="34" charset="-122"/>
                <a:cs typeface="Arial" pitchFamily="34" charset="-120"/>
              </a:rPr>
              <a:t>Ba vùng quyền được chặn tập trung ở middleware (src/proxy.ts); từng route kiểm tra thêm vai trò trong nhóm.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13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TỔNG QUAN TỐI ƯU</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8 tối ưu, mỗi tối ưu một con số trước và sau</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5486400"/>
                <a:gridCol w="1554480"/>
                <a:gridCol w="1554480"/>
                <a:gridCol w="2499055"/>
              </a:tblGrid>
              <a:tr h="0">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TỐI ƯU</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000" spc="100" kern="0" dirty="0">
                          <a:solidFill>
                            <a:srgbClr val="6B7385"/>
                          </a:solidFill>
                          <a:latin typeface="Arial" pitchFamily="34" charset="0"/>
                          <a:ea typeface="Arial" pitchFamily="34" charset="-122"/>
                          <a:cs typeface="Arial" pitchFamily="34" charset="-120"/>
                        </a:rPr>
                        <a:t>TRƯỚC</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000" spc="100" kern="0" dirty="0">
                          <a:solidFill>
                            <a:srgbClr val="6B7385"/>
                          </a:solidFill>
                          <a:latin typeface="Arial" pitchFamily="34" charset="0"/>
                          <a:ea typeface="Arial" pitchFamily="34" charset="-122"/>
                          <a:cs typeface="Arial" pitchFamily="34" charset="-120"/>
                        </a:rPr>
                        <a:t>SAU</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NGUỒN</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Chạy cluster 4 worker thay cho 1 tiến trình</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4A5263"/>
                          </a:solidFill>
                          <a:latin typeface="Arial" pitchFamily="34" charset="0"/>
                          <a:ea typeface="Arial" pitchFamily="34" charset="-122"/>
                          <a:cs typeface="Arial" pitchFamily="34" charset="-120"/>
                        </a:rPr>
                        <a:t>p99 13,6 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b="1" dirty="0">
                          <a:solidFill>
                            <a:srgbClr val="1B2130"/>
                          </a:solidFill>
                          <a:latin typeface="Arial" pitchFamily="34" charset="0"/>
                          <a:ea typeface="Arial" pitchFamily="34" charset="-122"/>
                          <a:cs typeface="Arial" pitchFamily="34" charset="-120"/>
                        </a:rPr>
                        <a:t>0,65–1,2 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150" dirty="0">
                          <a:solidFill>
                            <a:srgbClr val="2E7D32"/>
                          </a:solidFill>
                          <a:latin typeface="Arial" pitchFamily="34" charset="0"/>
                          <a:ea typeface="Arial" pitchFamily="34" charset="-122"/>
                          <a:cs typeface="Arial" pitchFamily="34" charset="-120"/>
                        </a:rPr>
                        <a:t>máy này · 1.000 người</a:t>
                      </a:r>
                      <a:endParaRPr lang="en-US" sz="11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Trang nhóm chỉ render tab đang mở</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4A5263"/>
                          </a:solidFill>
                          <a:latin typeface="Arial" pitchFamily="34" charset="0"/>
                          <a:ea typeface="Arial" pitchFamily="34" charset="-122"/>
                          <a:cs typeface="Arial" pitchFamily="34" charset="-120"/>
                        </a:rPr>
                        <a:t>~21 req/s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b="1" dirty="0">
                          <a:solidFill>
                            <a:srgbClr val="1B2130"/>
                          </a:solidFill>
                          <a:latin typeface="Arial" pitchFamily="34" charset="0"/>
                          <a:ea typeface="Arial" pitchFamily="34" charset="-122"/>
                          <a:cs typeface="Arial" pitchFamily="34" charset="-120"/>
                        </a:rPr>
                        <a:t>~84 req/s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150" dirty="0">
                          <a:solidFill>
                            <a:srgbClr val="6B7385"/>
                          </a:solidFill>
                          <a:latin typeface="Arial" pitchFamily="34" charset="0"/>
                          <a:ea typeface="Arial" pitchFamily="34" charset="-122"/>
                          <a:cs typeface="Arial" pitchFamily="34" charset="-120"/>
                        </a:rPr>
                        <a:t>báo cáo 14/10</a:t>
                      </a:r>
                      <a:endParaRPr lang="en-US" sz="11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Dashboard render 20 giao dịch, truy vấn song song</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4A5263"/>
                          </a:solidFill>
                          <a:latin typeface="Arial" pitchFamily="34" charset="0"/>
                          <a:ea typeface="Arial" pitchFamily="34" charset="-122"/>
                          <a:cs typeface="Arial" pitchFamily="34" charset="-120"/>
                        </a:rPr>
                        <a:t>~26 req/s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b="1" dirty="0">
                          <a:solidFill>
                            <a:srgbClr val="1B2130"/>
                          </a:solidFill>
                          <a:latin typeface="Arial" pitchFamily="34" charset="0"/>
                          <a:ea typeface="Arial" pitchFamily="34" charset="-122"/>
                          <a:cs typeface="Arial" pitchFamily="34" charset="-120"/>
                        </a:rPr>
                        <a:t>~118 req/s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150" dirty="0">
                          <a:solidFill>
                            <a:srgbClr val="6B7385"/>
                          </a:solidFill>
                          <a:latin typeface="Arial" pitchFamily="34" charset="0"/>
                          <a:ea typeface="Arial" pitchFamily="34" charset="-122"/>
                          <a:cs typeface="Arial" pitchFamily="34" charset="-120"/>
                        </a:rPr>
                        <a:t>báo cáo 14/10</a:t>
                      </a:r>
                      <a:endParaRPr lang="en-US" sz="11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dirty="0">
                          <a:solidFill>
                            <a:srgbClr val="1B2130"/>
                          </a:solidFill>
                          <a:latin typeface="Arial" pitchFamily="34" charset="0"/>
                          <a:ea typeface="Arial" pitchFamily="34" charset="-122"/>
                          <a:cs typeface="Arial" pitchFamily="34" charset="-120"/>
                        </a:rPr>
                        <a:t>Nén HTTP giao cho reverse proxy</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4A5263"/>
                          </a:solidFill>
                          <a:latin typeface="Arial" pitchFamily="34" charset="0"/>
                          <a:ea typeface="Arial" pitchFamily="34" charset="-122"/>
                          <a:cs typeface="Arial" pitchFamily="34" charset="-120"/>
                        </a:rPr>
                        <a:t>p99 2,97 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b="1" dirty="0">
                          <a:solidFill>
                            <a:srgbClr val="1B2130"/>
                          </a:solidFill>
                          <a:latin typeface="Arial" pitchFamily="34" charset="0"/>
                          <a:ea typeface="Arial" pitchFamily="34" charset="-122"/>
                          <a:cs typeface="Arial" pitchFamily="34" charset="-120"/>
                        </a:rPr>
                        <a:t>0,62–0,82 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150" dirty="0">
                          <a:solidFill>
                            <a:srgbClr val="6B7385"/>
                          </a:solidFill>
                          <a:latin typeface="Arial" pitchFamily="34" charset="0"/>
                          <a:ea typeface="Arial" pitchFamily="34" charset="-122"/>
                          <a:cs typeface="Arial" pitchFamily="34" charset="-120"/>
                        </a:rPr>
                        <a:t>báo cáo 14/10 · 1.200 người</a:t>
                      </a:r>
                      <a:endParaRPr lang="en-US" sz="11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Chuông thông báo hỏi bản tóm tắt, dừng khi tab ẩn</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4A5263"/>
                          </a:solidFill>
                          <a:latin typeface="Arial" pitchFamily="34" charset="0"/>
                          <a:ea typeface="Arial" pitchFamily="34" charset="-122"/>
                          <a:cs typeface="Arial" pitchFamily="34" charset="-120"/>
                        </a:rPr>
                        <a:t>p99 3,7 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b="1" dirty="0">
                          <a:solidFill>
                            <a:srgbClr val="1B2130"/>
                          </a:solidFill>
                          <a:latin typeface="Arial" pitchFamily="34" charset="0"/>
                          <a:ea typeface="Arial" pitchFamily="34" charset="-122"/>
                          <a:cs typeface="Arial" pitchFamily="34" charset="-120"/>
                        </a:rPr>
                        <a:t>54 ms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150" dirty="0">
                          <a:solidFill>
                            <a:srgbClr val="2E7D32"/>
                          </a:solidFill>
                          <a:latin typeface="Arial" pitchFamily="34" charset="0"/>
                          <a:ea typeface="Arial" pitchFamily="34" charset="-122"/>
                          <a:cs typeface="Arial" pitchFamily="34" charset="-120"/>
                        </a:rPr>
                        <a:t>hôm nay · 600 người</a:t>
                      </a:r>
                      <a:endParaRPr lang="en-US" sz="11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bcrypt native thay cho bcryptjs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4A5263"/>
                          </a:solidFill>
                          <a:latin typeface="Arial" pitchFamily="34" charset="0"/>
                          <a:ea typeface="Arial" pitchFamily="34" charset="-122"/>
                          <a:cs typeface="Arial" pitchFamily="34" charset="-120"/>
                        </a:rPr>
                        <a:t>9,3 lượt/s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b="1" dirty="0">
                          <a:solidFill>
                            <a:srgbClr val="1B2130"/>
                          </a:solidFill>
                          <a:latin typeface="Arial" pitchFamily="34" charset="0"/>
                          <a:ea typeface="Arial" pitchFamily="34" charset="-122"/>
                          <a:cs typeface="Arial" pitchFamily="34" charset="-120"/>
                        </a:rPr>
                        <a:t>76 lượt/s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150" dirty="0">
                          <a:solidFill>
                            <a:srgbClr val="2E7D32"/>
                          </a:solidFill>
                          <a:latin typeface="Arial" pitchFamily="34" charset="0"/>
                          <a:ea typeface="Arial" pitchFamily="34" charset="-122"/>
                          <a:cs typeface="Arial" pitchFamily="34" charset="-120"/>
                        </a:rPr>
                        <a:t>hôm nay · 1 tiến trình</a:t>
                      </a:r>
                      <a:endParaRPr lang="en-US" sz="11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Trang nhóm chỉ truy vấn dữ liệu tab đang mở</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4A5263"/>
                          </a:solidFill>
                          <a:latin typeface="Arial" pitchFamily="34" charset="0"/>
                          <a:ea typeface="Arial" pitchFamily="34" charset="-122"/>
                          <a:cs typeface="Arial" pitchFamily="34" charset="-120"/>
                        </a:rPr>
                        <a:t>63 req/s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b="1" dirty="0">
                          <a:solidFill>
                            <a:srgbClr val="1B2130"/>
                          </a:solidFill>
                          <a:latin typeface="Arial" pitchFamily="34" charset="0"/>
                          <a:ea typeface="Arial" pitchFamily="34" charset="-122"/>
                          <a:cs typeface="Arial" pitchFamily="34" charset="-120"/>
                        </a:rPr>
                        <a:t>84 req/s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150" dirty="0">
                          <a:solidFill>
                            <a:srgbClr val="2E7D32"/>
                          </a:solidFill>
                          <a:latin typeface="Arial" pitchFamily="34" charset="0"/>
                          <a:ea typeface="Arial" pitchFamily="34" charset="-122"/>
                          <a:cs typeface="Arial" pitchFamily="34" charset="-120"/>
                        </a:rPr>
                        <a:t>hôm nay · tab Thành viên</a:t>
                      </a:r>
                      <a:endParaRPr lang="en-US" sz="11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00" b="1" dirty="0">
                          <a:solidFill>
                            <a:srgbClr val="1B2130"/>
                          </a:solidFill>
                          <a:latin typeface="Arial" pitchFamily="34" charset="0"/>
                          <a:ea typeface="Arial" pitchFamily="34" charset="-122"/>
                          <a:cs typeface="Arial" pitchFamily="34" charset="-120"/>
                        </a:rPr>
                        <a:t>Realtime dàn trải lượt tải lại</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dirty="0">
                          <a:solidFill>
                            <a:srgbClr val="4A5263"/>
                          </a:solidFill>
                          <a:latin typeface="Arial" pitchFamily="34" charset="0"/>
                          <a:ea typeface="Arial" pitchFamily="34" charset="-122"/>
                          <a:cs typeface="Arial" pitchFamily="34" charset="-120"/>
                        </a:rPr>
                        <a:t>p99 717 ms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300" b="1" dirty="0">
                          <a:solidFill>
                            <a:srgbClr val="1B2130"/>
                          </a:solidFill>
                          <a:latin typeface="Arial" pitchFamily="34" charset="0"/>
                          <a:ea typeface="Arial" pitchFamily="34" charset="-122"/>
                          <a:cs typeface="Arial" pitchFamily="34" charset="-120"/>
                        </a:rPr>
                        <a:t>328 ms</a:t>
                      </a:r>
                      <a:endParaRPr lang="en-US" sz="13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150" dirty="0">
                          <a:solidFill>
                            <a:srgbClr val="2E7D32"/>
                          </a:solidFill>
                          <a:latin typeface="Arial" pitchFamily="34" charset="0"/>
                          <a:ea typeface="Arial" pitchFamily="34" charset="-122"/>
                          <a:cs typeface="Arial" pitchFamily="34" charset="-120"/>
                        </a:rPr>
                        <a:t>hôm nay · nhóm 50 người</a:t>
                      </a:r>
                      <a:endParaRPr lang="en-US" sz="11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bl>
          </a:graphicData>
        </a:graphic>
      </p:graphicFrame>
      <p:sp>
        <p:nvSpPr>
          <p:cNvPr id="6" name="Text 3"/>
          <p:cNvSpPr/>
          <p:nvPr/>
        </p:nvSpPr>
        <p:spPr>
          <a:xfrm>
            <a:off x="548640" y="6236208"/>
            <a:ext cx="11094415" cy="411480"/>
          </a:xfrm>
          <a:prstGeom prst="rect">
            <a:avLst/>
          </a:prstGeom>
          <a:noFill/>
          <a:ln/>
        </p:spPr>
        <p:txBody>
          <a:bodyPr wrap="square" lIns="0" tIns="0" rIns="0" bIns="0" rtlCol="0" anchor="t"/>
          <a:lstStyle/>
          <a:p>
            <a:pPr indent="0" marL="0">
              <a:buNone/>
            </a:pPr>
            <a:r>
              <a:rPr lang="en-US" sz="1100" dirty="0">
                <a:solidFill>
                  <a:srgbClr val="6B7385"/>
                </a:solidFill>
                <a:latin typeface="Arial" pitchFamily="34" charset="0"/>
                <a:ea typeface="Arial" pitchFamily="34" charset="-122"/>
                <a:cs typeface="Arial" pitchFamily="34" charset="-120"/>
              </a:rPr>
              <a:t>Ngoài ra đã có từ trước: số dư tính bằng SQL, 8 index cho truy vấn nóng, bcrypt cost 12 → 10 và vé đăng nhập để không băm mật khẩu hai lần.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14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TỐI ƯU · CHUÔNG THÔNG BÁO</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Chuông thông báo từng chiếm gần nửa lưu lượng</a:t>
            </a:r>
            <a:endParaRPr lang="en-US" sz="2800" dirty="0"/>
          </a:p>
        </p:txBody>
      </p:sp>
      <p:sp>
        <p:nvSpPr>
          <p:cNvPr id="5" name="Shape 3"/>
          <p:cNvSpPr/>
          <p:nvPr/>
        </p:nvSpPr>
        <p:spPr>
          <a:xfrm>
            <a:off x="548640" y="1463040"/>
            <a:ext cx="5410048" cy="1737360"/>
          </a:xfrm>
          <a:prstGeom prst="roundRect">
            <a:avLst>
              <a:gd name="adj" fmla="val 4211"/>
            </a:avLst>
          </a:prstGeom>
          <a:solidFill>
            <a:srgbClr val="F1F4FA"/>
          </a:solidFill>
          <a:ln w="12700">
            <a:solidFill>
              <a:srgbClr val="F1F4FA"/>
            </a:solidFill>
            <a:prstDash val="solid"/>
          </a:ln>
        </p:spPr>
      </p:sp>
      <p:sp>
        <p:nvSpPr>
          <p:cNvPr id="6" name="Text 4"/>
          <p:cNvSpPr/>
          <p:nvPr/>
        </p:nvSpPr>
        <p:spPr>
          <a:xfrm>
            <a:off x="548640" y="1463040"/>
            <a:ext cx="5410048" cy="173736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TRƯỚC</a:t>
            </a:r>
            <a:endParaRPr lang="en-US" sz="1000" dirty="0"/>
          </a:p>
          <a:p>
            <a:pPr indent="0" marL="0">
              <a:spcAft>
                <a:spcPts val="400"/>
              </a:spcAft>
              <a:buNone/>
            </a:pPr>
            <a:r>
              <a:rPr lang="en-US" sz="1450" dirty="0">
                <a:solidFill>
                  <a:srgbClr val="4A5263"/>
                </a:solidFill>
                <a:latin typeface="Arial" pitchFamily="34" charset="0"/>
                <a:ea typeface="Arial" pitchFamily="34" charset="-122"/>
                <a:cs typeface="Arial" pitchFamily="34" charset="-120"/>
              </a:rPr>
              <a:t>Mỗi tab đang mở tải lại 30 thông báo đầy đủ (~9,5 KB) mỗi 12 giây, kể cả tab bị ẩn. Với 600 người online, đây là 50 trong 108 request/giây.</a:t>
            </a:r>
            <a:endParaRPr lang="en-US" sz="1000" dirty="0"/>
          </a:p>
        </p:txBody>
      </p:sp>
      <p:sp>
        <p:nvSpPr>
          <p:cNvPr id="7" name="Shape 5"/>
          <p:cNvSpPr/>
          <p:nvPr/>
        </p:nvSpPr>
        <p:spPr>
          <a:xfrm>
            <a:off x="6233008" y="1463040"/>
            <a:ext cx="5410048" cy="1737360"/>
          </a:xfrm>
          <a:prstGeom prst="roundRect">
            <a:avLst>
              <a:gd name="adj" fmla="val 4211"/>
            </a:avLst>
          </a:prstGeom>
          <a:solidFill>
            <a:srgbClr val="F1F4FA"/>
          </a:solidFill>
          <a:ln w="12700">
            <a:solidFill>
              <a:srgbClr val="F1F4FA"/>
            </a:solidFill>
            <a:prstDash val="solid"/>
          </a:ln>
        </p:spPr>
      </p:sp>
      <p:sp>
        <p:nvSpPr>
          <p:cNvPr id="8" name="Text 6"/>
          <p:cNvSpPr/>
          <p:nvPr/>
        </p:nvSpPr>
        <p:spPr>
          <a:xfrm>
            <a:off x="6233008" y="1463040"/>
            <a:ext cx="5410048" cy="173736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SAU</a:t>
            </a:r>
            <a:endParaRPr lang="en-US" sz="1000" dirty="0"/>
          </a:p>
          <a:p>
            <a:pPr indent="0" marL="0">
              <a:spcAft>
                <a:spcPts val="400"/>
              </a:spcAft>
              <a:buNone/>
            </a:pPr>
            <a:r>
              <a:rPr lang="en-US" sz="1450" dirty="0">
                <a:solidFill>
                  <a:srgbClr val="4A5263"/>
                </a:solidFill>
                <a:latin typeface="Arial" pitchFamily="34" charset="0"/>
                <a:ea typeface="Arial" pitchFamily="34" charset="-122"/>
                <a:cs typeface="Arial" pitchFamily="34" charset="-120"/>
              </a:rPr>
              <a:t>Mỗi 30 giây chỉ hỏi số chưa đọc và id thông báo mới nhất (57 byte); có thay đổi mới tải danh sách. Tab ẩn không hỏi.</a:t>
            </a:r>
            <a:endParaRPr lang="en-US" sz="1000" dirty="0"/>
          </a:p>
        </p:txBody>
      </p:sp>
      <p:sp>
        <p:nvSpPr>
          <p:cNvPr id="9" name="Shape 7"/>
          <p:cNvSpPr/>
          <p:nvPr/>
        </p:nvSpPr>
        <p:spPr>
          <a:xfrm>
            <a:off x="548640" y="3429000"/>
            <a:ext cx="5410048" cy="1965960"/>
          </a:xfrm>
          <a:prstGeom prst="roundRect">
            <a:avLst>
              <a:gd name="adj" fmla="val 3721"/>
            </a:avLst>
          </a:prstGeom>
          <a:solidFill>
            <a:srgbClr val="F1F4FA"/>
          </a:solidFill>
          <a:ln w="12700">
            <a:solidFill>
              <a:srgbClr val="F1F4FA"/>
            </a:solidFill>
            <a:prstDash val="solid"/>
          </a:ln>
        </p:spPr>
      </p:sp>
      <p:sp>
        <p:nvSpPr>
          <p:cNvPr id="10" name="Text 8"/>
          <p:cNvSpPr/>
          <p:nvPr/>
        </p:nvSpPr>
        <p:spPr>
          <a:xfrm>
            <a:off x="548640" y="3429000"/>
            <a:ext cx="2384984" cy="1965960"/>
          </a:xfrm>
          <a:prstGeom prst="rect">
            <a:avLst/>
          </a:prstGeom>
          <a:noFill/>
          <a:ln/>
        </p:spPr>
        <p:txBody>
          <a:bodyPr wrap="square" lIns="76200" tIns="177800" rIns="152400" bIns="76200" rtlCol="0" anchor="ctr"/>
          <a:lstStyle/>
          <a:p>
            <a:pPr indent="0" marL="0">
              <a:spcAft>
                <a:spcPts val="400"/>
              </a:spcAft>
              <a:buNone/>
            </a:pPr>
            <a:r>
              <a:rPr lang="en-US" sz="1000" spc="100" kern="0" dirty="0">
                <a:solidFill>
                  <a:srgbClr val="6B7385"/>
                </a:solidFill>
                <a:latin typeface="Arial" pitchFamily="34" charset="0"/>
                <a:ea typeface="Arial" pitchFamily="34" charset="-122"/>
                <a:cs typeface="Arial" pitchFamily="34" charset="-120"/>
              </a:rPr>
              <a:t>LƯU LƯỢNG NỀN, 1.200 NGƯỜI</a:t>
            </a:r>
            <a:endParaRPr lang="en-US" sz="1000" dirty="0"/>
          </a:p>
          <a:p>
            <a:pPr indent="0" marL="0">
              <a:buNone/>
            </a:pPr>
            <a:r>
              <a:rPr lang="en-US" sz="3000" b="1" dirty="0">
                <a:solidFill>
                  <a:srgbClr val="B3392F"/>
                </a:solidFill>
                <a:latin typeface="Arial" pitchFamily="34" charset="0"/>
                <a:ea typeface="Arial" pitchFamily="34" charset="-122"/>
                <a:cs typeface="Arial" pitchFamily="34" charset="-120"/>
              </a:rPr>
              <a:t>100 req/s</a:t>
            </a:r>
            <a:endParaRPr lang="en-US" sz="1000" dirty="0"/>
          </a:p>
          <a:p>
            <a:pPr indent="0" marL="0">
              <a:buNone/>
            </a:pPr>
            <a:r>
              <a:rPr lang="en-US" sz="1300" dirty="0">
                <a:solidFill>
                  <a:srgbClr val="4A5263"/>
                </a:solidFill>
                <a:latin typeface="Arial" pitchFamily="34" charset="0"/>
                <a:ea typeface="Arial" pitchFamily="34" charset="-122"/>
                <a:cs typeface="Arial" pitchFamily="34" charset="-120"/>
              </a:rPr>
              <a:t>× 9,5 KB</a:t>
            </a:r>
            <a:endParaRPr lang="en-US" sz="1000" dirty="0"/>
          </a:p>
        </p:txBody>
      </p:sp>
      <p:sp>
        <p:nvSpPr>
          <p:cNvPr id="11" name="Text 9"/>
          <p:cNvSpPr/>
          <p:nvPr/>
        </p:nvSpPr>
        <p:spPr>
          <a:xfrm>
            <a:off x="2933624" y="3429000"/>
            <a:ext cx="640080" cy="1965960"/>
          </a:xfrm>
          <a:prstGeom prst="rect">
            <a:avLst/>
          </a:prstGeom>
          <a:noFill/>
          <a:ln/>
        </p:spPr>
        <p:txBody>
          <a:bodyPr wrap="square" lIns="0" tIns="0" rIns="0" bIns="0" rtlCol="0" anchor="ctr"/>
          <a:lstStyle/>
          <a:p>
            <a:pPr algn="ctr" indent="0" marL="0">
              <a:buNone/>
            </a:pPr>
            <a:r>
              <a:rPr lang="en-US" sz="2400" dirty="0">
                <a:solidFill>
                  <a:srgbClr val="6B7385"/>
                </a:solidFill>
                <a:latin typeface="Arial" pitchFamily="34" charset="0"/>
                <a:ea typeface="Arial" pitchFamily="34" charset="-122"/>
                <a:cs typeface="Arial" pitchFamily="34" charset="-120"/>
              </a:rPr>
              <a:t>→</a:t>
            </a:r>
            <a:endParaRPr lang="en-US" sz="2400" dirty="0"/>
          </a:p>
        </p:txBody>
      </p:sp>
      <p:sp>
        <p:nvSpPr>
          <p:cNvPr id="12" name="Text 10"/>
          <p:cNvSpPr/>
          <p:nvPr/>
        </p:nvSpPr>
        <p:spPr>
          <a:xfrm>
            <a:off x="3573704" y="3429000"/>
            <a:ext cx="2384984" cy="1965960"/>
          </a:xfrm>
          <a:prstGeom prst="rect">
            <a:avLst/>
          </a:prstGeom>
          <a:noFill/>
          <a:ln/>
        </p:spPr>
        <p:txBody>
          <a:bodyPr wrap="square" lIns="76200" tIns="177800" rIns="152400" bIns="76200" rtlCol="0" anchor="ctr"/>
          <a:lstStyle/>
          <a:p>
            <a:pPr indent="0" marL="0">
              <a:spcAft>
                <a:spcPts val="400"/>
              </a:spcAft>
              <a:buNone/>
            </a:pPr>
            <a:r>
              <a:rPr lang="en-US" sz="1000" spc="100" kern="0" dirty="0">
                <a:solidFill>
                  <a:srgbClr val="6B7385"/>
                </a:solidFill>
                <a:latin typeface="Arial" pitchFamily="34" charset="0"/>
                <a:ea typeface="Arial" pitchFamily="34" charset="-122"/>
                <a:cs typeface="Arial" pitchFamily="34" charset="-120"/>
              </a:rPr>
              <a:t> </a:t>
            </a:r>
            <a:endParaRPr lang="en-US" sz="1000" dirty="0"/>
          </a:p>
          <a:p>
            <a:pPr indent="0" marL="0">
              <a:buNone/>
            </a:pPr>
            <a:r>
              <a:rPr lang="en-US" sz="3000" b="1" dirty="0">
                <a:solidFill>
                  <a:srgbClr val="2E7D32"/>
                </a:solidFill>
                <a:latin typeface="Arial" pitchFamily="34" charset="0"/>
                <a:ea typeface="Arial" pitchFamily="34" charset="-122"/>
                <a:cs typeface="Arial" pitchFamily="34" charset="-120"/>
              </a:rPr>
              <a:t>40 req/s</a:t>
            </a:r>
            <a:endParaRPr lang="en-US" sz="1000" dirty="0"/>
          </a:p>
          <a:p>
            <a:pPr indent="0" marL="0">
              <a:buNone/>
            </a:pPr>
            <a:r>
              <a:rPr lang="en-US" sz="1300" dirty="0">
                <a:solidFill>
                  <a:srgbClr val="4A5263"/>
                </a:solidFill>
                <a:latin typeface="Arial" pitchFamily="34" charset="0"/>
                <a:ea typeface="Arial" pitchFamily="34" charset="-122"/>
                <a:cs typeface="Arial" pitchFamily="34" charset="-120"/>
              </a:rPr>
              <a:t>× 57 B, tab ẩn: 0</a:t>
            </a:r>
            <a:endParaRPr lang="en-US" sz="1000" dirty="0"/>
          </a:p>
        </p:txBody>
      </p:sp>
      <p:sp>
        <p:nvSpPr>
          <p:cNvPr id="13" name="Shape 11"/>
          <p:cNvSpPr/>
          <p:nvPr/>
        </p:nvSpPr>
        <p:spPr>
          <a:xfrm>
            <a:off x="6233008" y="3429000"/>
            <a:ext cx="5410048" cy="1965960"/>
          </a:xfrm>
          <a:prstGeom prst="roundRect">
            <a:avLst>
              <a:gd name="adj" fmla="val 3721"/>
            </a:avLst>
          </a:prstGeom>
          <a:solidFill>
            <a:srgbClr val="F1F4FA"/>
          </a:solidFill>
          <a:ln w="12700">
            <a:solidFill>
              <a:srgbClr val="F1F4FA"/>
            </a:solidFill>
            <a:prstDash val="solid"/>
          </a:ln>
        </p:spPr>
      </p:sp>
      <p:sp>
        <p:nvSpPr>
          <p:cNvPr id="14" name="Text 12"/>
          <p:cNvSpPr/>
          <p:nvPr/>
        </p:nvSpPr>
        <p:spPr>
          <a:xfrm>
            <a:off x="6233008" y="3429000"/>
            <a:ext cx="2384984" cy="1965960"/>
          </a:xfrm>
          <a:prstGeom prst="rect">
            <a:avLst/>
          </a:prstGeom>
          <a:noFill/>
          <a:ln/>
        </p:spPr>
        <p:txBody>
          <a:bodyPr wrap="square" lIns="76200" tIns="177800" rIns="152400" bIns="76200" rtlCol="0" anchor="ctr"/>
          <a:lstStyle/>
          <a:p>
            <a:pPr indent="0" marL="0">
              <a:spcAft>
                <a:spcPts val="400"/>
              </a:spcAft>
              <a:buNone/>
            </a:pPr>
            <a:r>
              <a:rPr lang="en-US" sz="1000" spc="100" kern="0" dirty="0">
                <a:solidFill>
                  <a:srgbClr val="6B7385"/>
                </a:solidFill>
                <a:latin typeface="Arial" pitchFamily="34" charset="0"/>
                <a:ea typeface="Arial" pitchFamily="34" charset="-122"/>
                <a:cs typeface="Arial" pitchFamily="34" charset="-120"/>
              </a:rPr>
              <a:t>P99 VỚI 600 NGƯỜI</a:t>
            </a:r>
            <a:endParaRPr lang="en-US" sz="1000" dirty="0"/>
          </a:p>
          <a:p>
            <a:pPr indent="0" marL="0">
              <a:buNone/>
            </a:pPr>
            <a:r>
              <a:rPr lang="en-US" sz="3000" b="1" dirty="0">
                <a:solidFill>
                  <a:srgbClr val="B3392F"/>
                </a:solidFill>
                <a:latin typeface="Arial" pitchFamily="34" charset="0"/>
                <a:ea typeface="Arial" pitchFamily="34" charset="-122"/>
                <a:cs typeface="Arial" pitchFamily="34" charset="-120"/>
              </a:rPr>
              <a:t>3,7 s</a:t>
            </a:r>
            <a:endParaRPr lang="en-US" sz="1000" dirty="0"/>
          </a:p>
          <a:p>
            <a:pPr indent="0" marL="0">
              <a:buNone/>
            </a:pPr>
            <a:r>
              <a:rPr lang="en-US" sz="1300" dirty="0">
                <a:solidFill>
                  <a:srgbClr val="4A5263"/>
                </a:solidFill>
                <a:latin typeface="Arial" pitchFamily="34" charset="0"/>
                <a:ea typeface="Arial" pitchFamily="34" charset="-122"/>
                <a:cs typeface="Arial" pitchFamily="34" charset="-120"/>
              </a:rPr>
              <a:t>không đạt</a:t>
            </a:r>
            <a:endParaRPr lang="en-US" sz="1000" dirty="0"/>
          </a:p>
        </p:txBody>
      </p:sp>
      <p:sp>
        <p:nvSpPr>
          <p:cNvPr id="15" name="Text 13"/>
          <p:cNvSpPr/>
          <p:nvPr/>
        </p:nvSpPr>
        <p:spPr>
          <a:xfrm>
            <a:off x="8617991" y="3429000"/>
            <a:ext cx="640080" cy="1965960"/>
          </a:xfrm>
          <a:prstGeom prst="rect">
            <a:avLst/>
          </a:prstGeom>
          <a:noFill/>
          <a:ln/>
        </p:spPr>
        <p:txBody>
          <a:bodyPr wrap="square" lIns="0" tIns="0" rIns="0" bIns="0" rtlCol="0" anchor="ctr"/>
          <a:lstStyle/>
          <a:p>
            <a:pPr algn="ctr" indent="0" marL="0">
              <a:buNone/>
            </a:pPr>
            <a:r>
              <a:rPr lang="en-US" sz="2400" dirty="0">
                <a:solidFill>
                  <a:srgbClr val="6B7385"/>
                </a:solidFill>
                <a:latin typeface="Arial" pitchFamily="34" charset="0"/>
                <a:ea typeface="Arial" pitchFamily="34" charset="-122"/>
                <a:cs typeface="Arial" pitchFamily="34" charset="-120"/>
              </a:rPr>
              <a:t>→</a:t>
            </a:r>
            <a:endParaRPr lang="en-US" sz="2400" dirty="0"/>
          </a:p>
        </p:txBody>
      </p:sp>
      <p:sp>
        <p:nvSpPr>
          <p:cNvPr id="16" name="Text 14"/>
          <p:cNvSpPr/>
          <p:nvPr/>
        </p:nvSpPr>
        <p:spPr>
          <a:xfrm>
            <a:off x="9258071" y="3429000"/>
            <a:ext cx="2384984" cy="1965960"/>
          </a:xfrm>
          <a:prstGeom prst="rect">
            <a:avLst/>
          </a:prstGeom>
          <a:noFill/>
          <a:ln/>
        </p:spPr>
        <p:txBody>
          <a:bodyPr wrap="square" lIns="76200" tIns="177800" rIns="152400" bIns="76200" rtlCol="0" anchor="ctr"/>
          <a:lstStyle/>
          <a:p>
            <a:pPr indent="0" marL="0">
              <a:spcAft>
                <a:spcPts val="400"/>
              </a:spcAft>
              <a:buNone/>
            </a:pPr>
            <a:r>
              <a:rPr lang="en-US" sz="1000" spc="100" kern="0" dirty="0">
                <a:solidFill>
                  <a:srgbClr val="6B7385"/>
                </a:solidFill>
                <a:latin typeface="Arial" pitchFamily="34" charset="0"/>
                <a:ea typeface="Arial" pitchFamily="34" charset="-122"/>
                <a:cs typeface="Arial" pitchFamily="34" charset="-120"/>
              </a:rPr>
              <a:t> </a:t>
            </a:r>
            <a:endParaRPr lang="en-US" sz="1000" dirty="0"/>
          </a:p>
          <a:p>
            <a:pPr indent="0" marL="0">
              <a:buNone/>
            </a:pPr>
            <a:r>
              <a:rPr lang="en-US" sz="3000" b="1" dirty="0">
                <a:solidFill>
                  <a:srgbClr val="2E7D32"/>
                </a:solidFill>
                <a:latin typeface="Arial" pitchFamily="34" charset="0"/>
                <a:ea typeface="Arial" pitchFamily="34" charset="-122"/>
                <a:cs typeface="Arial" pitchFamily="34" charset="-120"/>
              </a:rPr>
              <a:t>54 ms</a:t>
            </a:r>
            <a:endParaRPr lang="en-US" sz="1000" dirty="0"/>
          </a:p>
          <a:p>
            <a:pPr indent="0" marL="0">
              <a:buNone/>
            </a:pPr>
            <a:r>
              <a:rPr lang="en-US" sz="1300" dirty="0">
                <a:solidFill>
                  <a:srgbClr val="4A5263"/>
                </a:solidFill>
                <a:latin typeface="Arial" pitchFamily="34" charset="0"/>
                <a:ea typeface="Arial" pitchFamily="34" charset="-122"/>
                <a:cs typeface="Arial" pitchFamily="34" charset="-120"/>
              </a:rPr>
              <a:t>đạt</a:t>
            </a:r>
            <a:endParaRPr lang="en-US" sz="1000" dirty="0"/>
          </a:p>
        </p:txBody>
      </p:sp>
      <p:sp>
        <p:nvSpPr>
          <p:cNvPr id="17" name="Text 15"/>
          <p:cNvSpPr/>
          <p:nvPr/>
        </p:nvSpPr>
        <p:spPr>
          <a:xfrm>
            <a:off x="548640" y="6236208"/>
            <a:ext cx="11094415" cy="411480"/>
          </a:xfrm>
          <a:prstGeom prst="rect">
            <a:avLst/>
          </a:prstGeom>
          <a:noFill/>
          <a:ln/>
        </p:spPr>
        <p:txBody>
          <a:bodyPr wrap="square" lIns="0" tIns="0" rIns="0" bIns="0" rtlCol="0" anchor="t"/>
          <a:lstStyle/>
          <a:p>
            <a:pPr indent="0" marL="0">
              <a:buNone/>
            </a:pPr>
            <a:r>
              <a:rPr lang="en-US" sz="1100" dirty="0">
                <a:solidFill>
                  <a:srgbClr val="6B7385"/>
                </a:solidFill>
                <a:latin typeface="Arial" pitchFamily="34" charset="0"/>
                <a:ea typeface="Arial" pitchFamily="34" charset="-122"/>
                <a:cs typeface="Arial" pitchFamily="34" charset="-120"/>
              </a:rPr>
              <a:t>Phát hiện khi bổ sung việc gọi nền của chuông vào bài test: bài test ban đầu chỉ mô phỏng việc mở trang nên đã bỏ sót phần tải này.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15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TỐI ƯU · ĐĂNG NHẬP</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Đăng nhập nhanh gấp 8 lần nhờ bcrypt native</a:t>
            </a:r>
            <a:endParaRPr lang="en-US" sz="2800" dirty="0"/>
          </a:p>
        </p:txBody>
      </p:sp>
      <p:sp>
        <p:nvSpPr>
          <p:cNvPr id="5" name="Shape 3"/>
          <p:cNvSpPr/>
          <p:nvPr/>
        </p:nvSpPr>
        <p:spPr>
          <a:xfrm>
            <a:off x="548640" y="1463040"/>
            <a:ext cx="5410048" cy="1737360"/>
          </a:xfrm>
          <a:prstGeom prst="roundRect">
            <a:avLst>
              <a:gd name="adj" fmla="val 4211"/>
            </a:avLst>
          </a:prstGeom>
          <a:solidFill>
            <a:srgbClr val="F1F4FA"/>
          </a:solidFill>
          <a:ln w="12700">
            <a:solidFill>
              <a:srgbClr val="F1F4FA"/>
            </a:solidFill>
            <a:prstDash val="solid"/>
          </a:ln>
        </p:spPr>
      </p:sp>
      <p:sp>
        <p:nvSpPr>
          <p:cNvPr id="6" name="Text 4"/>
          <p:cNvSpPr/>
          <p:nvPr/>
        </p:nvSpPr>
        <p:spPr>
          <a:xfrm>
            <a:off x="548640" y="1463040"/>
            <a:ext cx="5410048" cy="173736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TRƯỚC</a:t>
            </a:r>
            <a:endParaRPr lang="en-US" sz="1000" dirty="0"/>
          </a:p>
          <a:p>
            <a:pPr indent="0" marL="0">
              <a:spcAft>
                <a:spcPts val="400"/>
              </a:spcAft>
              <a:buNone/>
            </a:pPr>
            <a:r>
              <a:rPr lang="en-US" sz="1450" dirty="0">
                <a:solidFill>
                  <a:srgbClr val="4A5263"/>
                </a:solidFill>
                <a:latin typeface="Arial" pitchFamily="34" charset="0"/>
                <a:ea typeface="Arial" pitchFamily="34" charset="-122"/>
                <a:cs typeface="Arial" pitchFamily="34" charset="-120"/>
              </a:rPr>
              <a:t>bcryptjs băm mật khẩu bằng JavaScript trên luồng chính: mỗi lượt ~0,1 giây CPU và chặn các request khác của worker đó.</a:t>
            </a:r>
            <a:endParaRPr lang="en-US" sz="1000" dirty="0"/>
          </a:p>
        </p:txBody>
      </p:sp>
      <p:sp>
        <p:nvSpPr>
          <p:cNvPr id="7" name="Shape 5"/>
          <p:cNvSpPr/>
          <p:nvPr/>
        </p:nvSpPr>
        <p:spPr>
          <a:xfrm>
            <a:off x="6233008" y="1463040"/>
            <a:ext cx="5410048" cy="1737360"/>
          </a:xfrm>
          <a:prstGeom prst="roundRect">
            <a:avLst>
              <a:gd name="adj" fmla="val 4211"/>
            </a:avLst>
          </a:prstGeom>
          <a:solidFill>
            <a:srgbClr val="F1F4FA"/>
          </a:solidFill>
          <a:ln w="12700">
            <a:solidFill>
              <a:srgbClr val="F1F4FA"/>
            </a:solidFill>
            <a:prstDash val="solid"/>
          </a:ln>
        </p:spPr>
      </p:sp>
      <p:sp>
        <p:nvSpPr>
          <p:cNvPr id="8" name="Text 6"/>
          <p:cNvSpPr/>
          <p:nvPr/>
        </p:nvSpPr>
        <p:spPr>
          <a:xfrm>
            <a:off x="6233008" y="1463040"/>
            <a:ext cx="5410048" cy="173736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SAU</a:t>
            </a:r>
            <a:endParaRPr lang="en-US" sz="1000" dirty="0"/>
          </a:p>
          <a:p>
            <a:pPr indent="0" marL="0">
              <a:spcAft>
                <a:spcPts val="400"/>
              </a:spcAft>
              <a:buNone/>
            </a:pPr>
            <a:r>
              <a:rPr lang="en-US" sz="1450" dirty="0">
                <a:solidFill>
                  <a:srgbClr val="4A5263"/>
                </a:solidFill>
                <a:latin typeface="Arial" pitchFamily="34" charset="0"/>
                <a:ea typeface="Arial" pitchFamily="34" charset="-122"/>
                <a:cs typeface="Arial" pitchFamily="34" charset="-120"/>
              </a:rPr>
              <a:t>Image Docker chạy bằng Bun nên dùng Bun.password: code native chạy trên thread pool. Hash cũ $2a$/$2b$ vẫn đọc được, không phải đổi mật khẩu.</a:t>
            </a:r>
            <a:endParaRPr lang="en-US" sz="1000" dirty="0"/>
          </a:p>
        </p:txBody>
      </p:sp>
      <p:sp>
        <p:nvSpPr>
          <p:cNvPr id="9" name="Shape 7"/>
          <p:cNvSpPr/>
          <p:nvPr/>
        </p:nvSpPr>
        <p:spPr>
          <a:xfrm>
            <a:off x="548640" y="3429000"/>
            <a:ext cx="5410048" cy="1965960"/>
          </a:xfrm>
          <a:prstGeom prst="roundRect">
            <a:avLst>
              <a:gd name="adj" fmla="val 3721"/>
            </a:avLst>
          </a:prstGeom>
          <a:solidFill>
            <a:srgbClr val="F1F4FA"/>
          </a:solidFill>
          <a:ln w="12700">
            <a:solidFill>
              <a:srgbClr val="F1F4FA"/>
            </a:solidFill>
            <a:prstDash val="solid"/>
          </a:ln>
        </p:spPr>
      </p:sp>
      <p:sp>
        <p:nvSpPr>
          <p:cNvPr id="10" name="Text 8"/>
          <p:cNvSpPr/>
          <p:nvPr/>
        </p:nvSpPr>
        <p:spPr>
          <a:xfrm>
            <a:off x="548640" y="3429000"/>
            <a:ext cx="2384984" cy="1965960"/>
          </a:xfrm>
          <a:prstGeom prst="rect">
            <a:avLst/>
          </a:prstGeom>
          <a:noFill/>
          <a:ln/>
        </p:spPr>
        <p:txBody>
          <a:bodyPr wrap="square" lIns="76200" tIns="177800" rIns="152400" bIns="76200" rtlCol="0" anchor="ctr"/>
          <a:lstStyle/>
          <a:p>
            <a:pPr indent="0" marL="0">
              <a:spcAft>
                <a:spcPts val="400"/>
              </a:spcAft>
              <a:buNone/>
            </a:pPr>
            <a:r>
              <a:rPr lang="en-US" sz="1000" spc="100" kern="0" dirty="0">
                <a:solidFill>
                  <a:srgbClr val="6B7385"/>
                </a:solidFill>
                <a:latin typeface="Arial" pitchFamily="34" charset="0"/>
                <a:ea typeface="Arial" pitchFamily="34" charset="-122"/>
                <a:cs typeface="Arial" pitchFamily="34" charset="-120"/>
              </a:rPr>
              <a:t>LƯỢT/GIÂY, 1 TIẾN TRÌNH</a:t>
            </a:r>
            <a:endParaRPr lang="en-US" sz="1000" dirty="0"/>
          </a:p>
          <a:p>
            <a:pPr indent="0" marL="0">
              <a:buNone/>
            </a:pPr>
            <a:r>
              <a:rPr lang="en-US" sz="3000" b="1" dirty="0">
                <a:solidFill>
                  <a:srgbClr val="B3392F"/>
                </a:solidFill>
                <a:latin typeface="Arial" pitchFamily="34" charset="0"/>
                <a:ea typeface="Arial" pitchFamily="34" charset="-122"/>
                <a:cs typeface="Arial" pitchFamily="34" charset="-120"/>
              </a:rPr>
              <a:t>9,3</a:t>
            </a:r>
            <a:endParaRPr lang="en-US" sz="1000" dirty="0"/>
          </a:p>
        </p:txBody>
      </p:sp>
      <p:sp>
        <p:nvSpPr>
          <p:cNvPr id="11" name="Text 9"/>
          <p:cNvSpPr/>
          <p:nvPr/>
        </p:nvSpPr>
        <p:spPr>
          <a:xfrm>
            <a:off x="2933624" y="3429000"/>
            <a:ext cx="640080" cy="1965960"/>
          </a:xfrm>
          <a:prstGeom prst="rect">
            <a:avLst/>
          </a:prstGeom>
          <a:noFill/>
          <a:ln/>
        </p:spPr>
        <p:txBody>
          <a:bodyPr wrap="square" lIns="0" tIns="0" rIns="0" bIns="0" rtlCol="0" anchor="ctr"/>
          <a:lstStyle/>
          <a:p>
            <a:pPr algn="ctr" indent="0" marL="0">
              <a:buNone/>
            </a:pPr>
            <a:r>
              <a:rPr lang="en-US" sz="2400" dirty="0">
                <a:solidFill>
                  <a:srgbClr val="6B7385"/>
                </a:solidFill>
                <a:latin typeface="Arial" pitchFamily="34" charset="0"/>
                <a:ea typeface="Arial" pitchFamily="34" charset="-122"/>
                <a:cs typeface="Arial" pitchFamily="34" charset="-120"/>
              </a:rPr>
              <a:t>→</a:t>
            </a:r>
            <a:endParaRPr lang="en-US" sz="2400" dirty="0"/>
          </a:p>
        </p:txBody>
      </p:sp>
      <p:sp>
        <p:nvSpPr>
          <p:cNvPr id="12" name="Text 10"/>
          <p:cNvSpPr/>
          <p:nvPr/>
        </p:nvSpPr>
        <p:spPr>
          <a:xfrm>
            <a:off x="3573704" y="3429000"/>
            <a:ext cx="2384984" cy="1965960"/>
          </a:xfrm>
          <a:prstGeom prst="rect">
            <a:avLst/>
          </a:prstGeom>
          <a:noFill/>
          <a:ln/>
        </p:spPr>
        <p:txBody>
          <a:bodyPr wrap="square" lIns="76200" tIns="177800" rIns="152400" bIns="76200" rtlCol="0" anchor="ctr"/>
          <a:lstStyle/>
          <a:p>
            <a:pPr indent="0" marL="0">
              <a:spcAft>
                <a:spcPts val="400"/>
              </a:spcAft>
              <a:buNone/>
            </a:pPr>
            <a:r>
              <a:rPr lang="en-US" sz="1000" spc="100" kern="0" dirty="0">
                <a:solidFill>
                  <a:srgbClr val="6B7385"/>
                </a:solidFill>
                <a:latin typeface="Arial" pitchFamily="34" charset="0"/>
                <a:ea typeface="Arial" pitchFamily="34" charset="-122"/>
                <a:cs typeface="Arial" pitchFamily="34" charset="-120"/>
              </a:rPr>
              <a:t> </a:t>
            </a:r>
            <a:endParaRPr lang="en-US" sz="1000" dirty="0"/>
          </a:p>
          <a:p>
            <a:pPr indent="0" marL="0">
              <a:buNone/>
            </a:pPr>
            <a:r>
              <a:rPr lang="en-US" sz="3000" b="1" dirty="0">
                <a:solidFill>
                  <a:srgbClr val="2E7D32"/>
                </a:solidFill>
                <a:latin typeface="Arial" pitchFamily="34" charset="0"/>
                <a:ea typeface="Arial" pitchFamily="34" charset="-122"/>
                <a:cs typeface="Arial" pitchFamily="34" charset="-120"/>
              </a:rPr>
              <a:t>76</a:t>
            </a:r>
            <a:endParaRPr lang="en-US" sz="1000" dirty="0"/>
          </a:p>
        </p:txBody>
      </p:sp>
      <p:sp>
        <p:nvSpPr>
          <p:cNvPr id="13" name="Shape 11"/>
          <p:cNvSpPr/>
          <p:nvPr/>
        </p:nvSpPr>
        <p:spPr>
          <a:xfrm>
            <a:off x="6233008" y="3429000"/>
            <a:ext cx="5410048" cy="1965960"/>
          </a:xfrm>
          <a:prstGeom prst="roundRect">
            <a:avLst>
              <a:gd name="adj" fmla="val 3721"/>
            </a:avLst>
          </a:prstGeom>
          <a:solidFill>
            <a:srgbClr val="F1F4FA"/>
          </a:solidFill>
          <a:ln w="12700">
            <a:solidFill>
              <a:srgbClr val="F1F4FA"/>
            </a:solidFill>
            <a:prstDash val="solid"/>
          </a:ln>
        </p:spPr>
      </p:sp>
      <p:sp>
        <p:nvSpPr>
          <p:cNvPr id="14" name="Text 12"/>
          <p:cNvSpPr/>
          <p:nvPr/>
        </p:nvSpPr>
        <p:spPr>
          <a:xfrm>
            <a:off x="6233008" y="3429000"/>
            <a:ext cx="2384984" cy="1965960"/>
          </a:xfrm>
          <a:prstGeom prst="rect">
            <a:avLst/>
          </a:prstGeom>
          <a:noFill/>
          <a:ln/>
        </p:spPr>
        <p:txBody>
          <a:bodyPr wrap="square" lIns="76200" tIns="177800" rIns="152400" bIns="76200" rtlCol="0" anchor="ctr"/>
          <a:lstStyle/>
          <a:p>
            <a:pPr indent="0" marL="0">
              <a:spcAft>
                <a:spcPts val="400"/>
              </a:spcAft>
              <a:buNone/>
            </a:pPr>
            <a:r>
              <a:rPr lang="en-US" sz="1000" spc="100" kern="0" dirty="0">
                <a:solidFill>
                  <a:srgbClr val="6B7385"/>
                </a:solidFill>
                <a:latin typeface="Arial" pitchFamily="34" charset="0"/>
                <a:ea typeface="Arial" pitchFamily="34" charset="-122"/>
                <a:cs typeface="Arial" pitchFamily="34" charset="-120"/>
              </a:rPr>
              <a:t>200 LƯỢT CÙNG LÚC · P99</a:t>
            </a:r>
            <a:endParaRPr lang="en-US" sz="1000" dirty="0"/>
          </a:p>
          <a:p>
            <a:pPr indent="0" marL="0">
              <a:buNone/>
            </a:pPr>
            <a:r>
              <a:rPr lang="en-US" sz="3000" b="1" dirty="0">
                <a:solidFill>
                  <a:srgbClr val="B3392F"/>
                </a:solidFill>
                <a:latin typeface="Arial" pitchFamily="34" charset="0"/>
                <a:ea typeface="Arial" pitchFamily="34" charset="-122"/>
                <a:cs typeface="Arial" pitchFamily="34" charset="-120"/>
              </a:rPr>
              <a:t>21,5 s</a:t>
            </a:r>
            <a:endParaRPr lang="en-US" sz="1000" dirty="0"/>
          </a:p>
        </p:txBody>
      </p:sp>
      <p:sp>
        <p:nvSpPr>
          <p:cNvPr id="15" name="Text 13"/>
          <p:cNvSpPr/>
          <p:nvPr/>
        </p:nvSpPr>
        <p:spPr>
          <a:xfrm>
            <a:off x="8617991" y="3429000"/>
            <a:ext cx="640080" cy="1965960"/>
          </a:xfrm>
          <a:prstGeom prst="rect">
            <a:avLst/>
          </a:prstGeom>
          <a:noFill/>
          <a:ln/>
        </p:spPr>
        <p:txBody>
          <a:bodyPr wrap="square" lIns="0" tIns="0" rIns="0" bIns="0" rtlCol="0" anchor="ctr"/>
          <a:lstStyle/>
          <a:p>
            <a:pPr algn="ctr" indent="0" marL="0">
              <a:buNone/>
            </a:pPr>
            <a:r>
              <a:rPr lang="en-US" sz="2400" dirty="0">
                <a:solidFill>
                  <a:srgbClr val="6B7385"/>
                </a:solidFill>
                <a:latin typeface="Arial" pitchFamily="34" charset="0"/>
                <a:ea typeface="Arial" pitchFamily="34" charset="-122"/>
                <a:cs typeface="Arial" pitchFamily="34" charset="-120"/>
              </a:rPr>
              <a:t>→</a:t>
            </a:r>
            <a:endParaRPr lang="en-US" sz="2400" dirty="0"/>
          </a:p>
        </p:txBody>
      </p:sp>
      <p:sp>
        <p:nvSpPr>
          <p:cNvPr id="16" name="Text 14"/>
          <p:cNvSpPr/>
          <p:nvPr/>
        </p:nvSpPr>
        <p:spPr>
          <a:xfrm>
            <a:off x="9258071" y="3429000"/>
            <a:ext cx="2384984" cy="1965960"/>
          </a:xfrm>
          <a:prstGeom prst="rect">
            <a:avLst/>
          </a:prstGeom>
          <a:noFill/>
          <a:ln/>
        </p:spPr>
        <p:txBody>
          <a:bodyPr wrap="square" lIns="76200" tIns="177800" rIns="152400" bIns="76200" rtlCol="0" anchor="ctr"/>
          <a:lstStyle/>
          <a:p>
            <a:pPr indent="0" marL="0">
              <a:spcAft>
                <a:spcPts val="400"/>
              </a:spcAft>
              <a:buNone/>
            </a:pPr>
            <a:r>
              <a:rPr lang="en-US" sz="1000" spc="100" kern="0" dirty="0">
                <a:solidFill>
                  <a:srgbClr val="6B7385"/>
                </a:solidFill>
                <a:latin typeface="Arial" pitchFamily="34" charset="0"/>
                <a:ea typeface="Arial" pitchFamily="34" charset="-122"/>
                <a:cs typeface="Arial" pitchFamily="34" charset="-120"/>
              </a:rPr>
              <a:t> </a:t>
            </a:r>
            <a:endParaRPr lang="en-US" sz="1000" dirty="0"/>
          </a:p>
          <a:p>
            <a:pPr indent="0" marL="0">
              <a:buNone/>
            </a:pPr>
            <a:r>
              <a:rPr lang="en-US" sz="3000" b="1" dirty="0">
                <a:solidFill>
                  <a:srgbClr val="2E7D32"/>
                </a:solidFill>
                <a:latin typeface="Arial" pitchFamily="34" charset="0"/>
                <a:ea typeface="Arial" pitchFamily="34" charset="-122"/>
                <a:cs typeface="Arial" pitchFamily="34" charset="-120"/>
              </a:rPr>
              <a:t>2,6 s</a:t>
            </a:r>
            <a:endParaRPr lang="en-US" sz="1000" dirty="0"/>
          </a:p>
        </p:txBody>
      </p:sp>
      <p:sp>
        <p:nvSpPr>
          <p:cNvPr id="17" name="Text 15"/>
          <p:cNvSpPr/>
          <p:nvPr/>
        </p:nvSpPr>
        <p:spPr>
          <a:xfrm>
            <a:off x="548640" y="6236208"/>
            <a:ext cx="11094415" cy="411480"/>
          </a:xfrm>
          <a:prstGeom prst="rect">
            <a:avLst/>
          </a:prstGeom>
          <a:noFill/>
          <a:ln/>
        </p:spPr>
        <p:txBody>
          <a:bodyPr wrap="square" lIns="0" tIns="0" rIns="0" bIns="0" rtlCol="0" anchor="t"/>
          <a:lstStyle/>
          <a:p>
            <a:pPr indent="0" marL="0">
              <a:buNone/>
            </a:pPr>
            <a:r>
              <a:rPr lang="en-US" sz="1100" dirty="0">
                <a:solidFill>
                  <a:srgbClr val="6B7385"/>
                </a:solidFill>
                <a:latin typeface="Arial" pitchFamily="34" charset="0"/>
                <a:ea typeface="Arial" pitchFamily="34" charset="-122"/>
                <a:cs typeface="Arial" pitchFamily="34" charset="-120"/>
              </a:rPr>
              <a:t>Chạy bằng Node (lúc phát triển) hoặc mật khẩu dài hơn 72 byte vẫn dùng bcryptjs như cũ.</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16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TỐI ƯU · TRANG NHÓM &amp; REALTIME</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Trang nhóm bớt việc, realtime bớt dồn</a:t>
            </a:r>
            <a:endParaRPr lang="en-US" sz="2800" dirty="0"/>
          </a:p>
        </p:txBody>
      </p:sp>
      <p:sp>
        <p:nvSpPr>
          <p:cNvPr id="5" name="Shape 3"/>
          <p:cNvSpPr/>
          <p:nvPr/>
        </p:nvSpPr>
        <p:spPr>
          <a:xfrm>
            <a:off x="548640" y="1463040"/>
            <a:ext cx="5410048" cy="4526280"/>
          </a:xfrm>
          <a:prstGeom prst="roundRect">
            <a:avLst>
              <a:gd name="adj" fmla="val 1616"/>
            </a:avLst>
          </a:prstGeom>
          <a:solidFill>
            <a:srgbClr val="F1F4FA"/>
          </a:solidFill>
          <a:ln w="12700">
            <a:solidFill>
              <a:srgbClr val="F1F4FA"/>
            </a:solidFill>
            <a:prstDash val="solid"/>
          </a:ln>
        </p:spPr>
      </p:sp>
      <p:sp>
        <p:nvSpPr>
          <p:cNvPr id="6" name="Text 4"/>
          <p:cNvSpPr/>
          <p:nvPr/>
        </p:nvSpPr>
        <p:spPr>
          <a:xfrm>
            <a:off x="548640" y="1463040"/>
            <a:ext cx="5410048" cy="452628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TRUY VẤN THEO TAB · REQ/S, 8 KẾT NỐI</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5135728" cy="914400"/>
        </p:xfrm>
        <a:graphic>
          <a:graphicData uri="http://schemas.openxmlformats.org/drawingml/2006/table">
            <a:tbl>
              <a:tblPr/>
              <a:tblGrid>
                <a:gridCol w="2941168"/>
                <a:gridCol w="1097280"/>
                <a:gridCol w="1097280"/>
              </a:tblGrid>
              <a:tr h="0">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TAB</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000" spc="100" kern="0" dirty="0">
                          <a:solidFill>
                            <a:srgbClr val="6B7385"/>
                          </a:solidFill>
                          <a:latin typeface="Arial" pitchFamily="34" charset="0"/>
                          <a:ea typeface="Arial" pitchFamily="34" charset="-122"/>
                          <a:cs typeface="Arial" pitchFamily="34" charset="-120"/>
                        </a:rPr>
                        <a:t>TRƯỚC</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000" spc="100" kern="0" dirty="0">
                          <a:solidFill>
                            <a:srgbClr val="6B7385"/>
                          </a:solidFill>
                          <a:latin typeface="Arial" pitchFamily="34" charset="0"/>
                          <a:ea typeface="Arial" pitchFamily="34" charset="-122"/>
                          <a:cs typeface="Arial" pitchFamily="34" charset="-120"/>
                        </a:rPr>
                        <a:t>SAU</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400" dirty="0">
                          <a:solidFill>
                            <a:srgbClr val="1B2130"/>
                          </a:solidFill>
                          <a:latin typeface="Arial" pitchFamily="34" charset="0"/>
                          <a:ea typeface="Arial" pitchFamily="34" charset="-122"/>
                          <a:cs typeface="Arial" pitchFamily="34" charset="-120"/>
                        </a:rPr>
                        <a:t>Thành viên</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dirty="0">
                          <a:solidFill>
                            <a:srgbClr val="4A5263"/>
                          </a:solidFill>
                          <a:latin typeface="Arial" pitchFamily="34" charset="0"/>
                          <a:ea typeface="Arial" pitchFamily="34" charset="-122"/>
                          <a:cs typeface="Arial" pitchFamily="34" charset="-120"/>
                        </a:rPr>
                        <a:t>63</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b="1" dirty="0">
                          <a:solidFill>
                            <a:srgbClr val="1B2130"/>
                          </a:solidFill>
                          <a:latin typeface="Arial" pitchFamily="34" charset="0"/>
                          <a:ea typeface="Arial" pitchFamily="34" charset="-122"/>
                          <a:cs typeface="Arial" pitchFamily="34" charset="-120"/>
                        </a:rPr>
                        <a:t>84</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400" dirty="0">
                          <a:solidFill>
                            <a:srgbClr val="1B2130"/>
                          </a:solidFill>
                          <a:latin typeface="Arial" pitchFamily="34" charset="0"/>
                          <a:ea typeface="Arial" pitchFamily="34" charset="-122"/>
                          <a:cs typeface="Arial" pitchFamily="34" charset="-120"/>
                        </a:rPr>
                        <a:t>Quỹ nhóm</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dirty="0">
                          <a:solidFill>
                            <a:srgbClr val="4A5263"/>
                          </a:solidFill>
                          <a:latin typeface="Arial" pitchFamily="34" charset="0"/>
                          <a:ea typeface="Arial" pitchFamily="34" charset="-122"/>
                          <a:cs typeface="Arial" pitchFamily="34" charset="-120"/>
                        </a:rPr>
                        <a:t>75</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b="1" dirty="0">
                          <a:solidFill>
                            <a:srgbClr val="1B2130"/>
                          </a:solidFill>
                          <a:latin typeface="Arial" pitchFamily="34" charset="0"/>
                          <a:ea typeface="Arial" pitchFamily="34" charset="-122"/>
                          <a:cs typeface="Arial" pitchFamily="34" charset="-120"/>
                        </a:rPr>
                        <a:t>89</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400" dirty="0">
                          <a:solidFill>
                            <a:srgbClr val="1B2130"/>
                          </a:solidFill>
                          <a:latin typeface="Arial" pitchFamily="34" charset="0"/>
                          <a:ea typeface="Arial" pitchFamily="34" charset="-122"/>
                          <a:cs typeface="Arial" pitchFamily="34" charset="-120"/>
                        </a:rPr>
                        <a:t>Trả nợ</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dirty="0">
                          <a:solidFill>
                            <a:srgbClr val="4A5263"/>
                          </a:solidFill>
                          <a:latin typeface="Arial" pitchFamily="34" charset="0"/>
                          <a:ea typeface="Arial" pitchFamily="34" charset="-122"/>
                          <a:cs typeface="Arial" pitchFamily="34" charset="-120"/>
                        </a:rPr>
                        <a:t>77</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b="1" dirty="0">
                          <a:solidFill>
                            <a:srgbClr val="1B2130"/>
                          </a:solidFill>
                          <a:latin typeface="Arial" pitchFamily="34" charset="0"/>
                          <a:ea typeface="Arial" pitchFamily="34" charset="-122"/>
                          <a:cs typeface="Arial" pitchFamily="34" charset="-120"/>
                        </a:rPr>
                        <a:t>87</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400" dirty="0">
                          <a:solidFill>
                            <a:srgbClr val="1B2130"/>
                          </a:solidFill>
                          <a:latin typeface="Arial" pitchFamily="34" charset="0"/>
                          <a:ea typeface="Arial" pitchFamily="34" charset="-122"/>
                          <a:cs typeface="Arial" pitchFamily="34" charset="-120"/>
                        </a:rPr>
                        <a:t>Hóa đơn</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dirty="0">
                          <a:solidFill>
                            <a:srgbClr val="4A5263"/>
                          </a:solidFill>
                          <a:latin typeface="Arial" pitchFamily="34" charset="0"/>
                          <a:ea typeface="Arial" pitchFamily="34" charset="-122"/>
                          <a:cs typeface="Arial" pitchFamily="34" charset="-120"/>
                        </a:rPr>
                        <a:t>59</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b="1" dirty="0">
                          <a:solidFill>
                            <a:srgbClr val="1B2130"/>
                          </a:solidFill>
                          <a:latin typeface="Arial" pitchFamily="34" charset="0"/>
                          <a:ea typeface="Arial" pitchFamily="34" charset="-122"/>
                          <a:cs typeface="Arial" pitchFamily="34" charset="-120"/>
                        </a:rPr>
                        <a:t>58</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bl>
          </a:graphicData>
        </a:graphic>
      </p:graphicFrame>
      <p:sp>
        <p:nvSpPr>
          <p:cNvPr id="8" name="Text 5"/>
          <p:cNvSpPr/>
          <p:nvPr/>
        </p:nvSpPr>
        <p:spPr>
          <a:xfrm>
            <a:off x="685800" y="4343400"/>
            <a:ext cx="5135728" cy="914400"/>
          </a:xfrm>
          <a:prstGeom prst="rect">
            <a:avLst/>
          </a:prstGeom>
          <a:noFill/>
          <a:ln/>
        </p:spPr>
        <p:txBody>
          <a:bodyPr wrap="square" lIns="0" tIns="50800" rIns="50800" bIns="0" rtlCol="0" anchor="t"/>
          <a:lstStyle/>
          <a:p>
            <a:pPr indent="0" marL="0">
              <a:buNone/>
            </a:pPr>
            <a:r>
              <a:rPr lang="en-US" sz="1350" dirty="0">
                <a:solidFill>
                  <a:srgbClr val="4A5263"/>
                </a:solidFill>
                <a:latin typeface="Arial" pitchFamily="34" charset="0"/>
                <a:ea typeface="Arial" pitchFamily="34" charset="-122"/>
                <a:cs typeface="Arial" pitchFamily="34" charset="-120"/>
              </a:rPr>
              <a:t>Trước đây mọi tab đều tải danh sách hóa đơn, lịch sử góp quỹ và hóa đơn chi từ quỹ.</a:t>
            </a:r>
            <a:endParaRPr lang="en-US" sz="1350" dirty="0"/>
          </a:p>
        </p:txBody>
      </p:sp>
      <p:sp>
        <p:nvSpPr>
          <p:cNvPr id="9" name="Shape 6"/>
          <p:cNvSpPr/>
          <p:nvPr/>
        </p:nvSpPr>
        <p:spPr>
          <a:xfrm>
            <a:off x="6233008" y="1463040"/>
            <a:ext cx="5410048" cy="4526280"/>
          </a:xfrm>
          <a:prstGeom prst="roundRect">
            <a:avLst>
              <a:gd name="adj" fmla="val 1616"/>
            </a:avLst>
          </a:prstGeom>
          <a:solidFill>
            <a:srgbClr val="F1F4FA"/>
          </a:solidFill>
          <a:ln w="12700">
            <a:solidFill>
              <a:srgbClr val="F1F4FA"/>
            </a:solidFill>
            <a:prstDash val="solid"/>
          </a:ln>
        </p:spPr>
      </p:sp>
      <p:sp>
        <p:nvSpPr>
          <p:cNvPr id="10" name="Text 7"/>
          <p:cNvSpPr/>
          <p:nvPr/>
        </p:nvSpPr>
        <p:spPr>
          <a:xfrm>
            <a:off x="6233008" y="1463040"/>
            <a:ext cx="5410048" cy="452628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REALTIME · 1 THAO TÁC, CẢ NHÓM TẢI LẠI</a:t>
            </a:r>
            <a:endParaRPr lang="en-US" sz="10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370168" y="1874520"/>
          <a:ext cx="5135728" cy="914400"/>
        </p:xfrm>
        <a:graphic>
          <a:graphicData uri="http://schemas.openxmlformats.org/drawingml/2006/table">
            <a:tbl>
              <a:tblPr/>
              <a:tblGrid>
                <a:gridCol w="1280160"/>
                <a:gridCol w="1554480"/>
                <a:gridCol w="1143000"/>
                <a:gridCol w="1158088"/>
              </a:tblGrid>
              <a:tr h="0">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NHÓM</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CHỈ SỐ</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000" spc="100" kern="0" dirty="0">
                          <a:solidFill>
                            <a:srgbClr val="6B7385"/>
                          </a:solidFill>
                          <a:latin typeface="Arial" pitchFamily="34" charset="0"/>
                          <a:ea typeface="Arial" pitchFamily="34" charset="-122"/>
                          <a:cs typeface="Arial" pitchFamily="34" charset="-120"/>
                        </a:rPr>
                        <a:t>TRƯỚC</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000" spc="100" kern="0" dirty="0">
                          <a:solidFill>
                            <a:srgbClr val="6B7385"/>
                          </a:solidFill>
                          <a:latin typeface="Arial" pitchFamily="34" charset="0"/>
                          <a:ea typeface="Arial" pitchFamily="34" charset="-122"/>
                          <a:cs typeface="Arial" pitchFamily="34" charset="-120"/>
                        </a:rPr>
                        <a:t>SAU</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400" dirty="0">
                          <a:solidFill>
                            <a:srgbClr val="1B2130"/>
                          </a:solidFill>
                          <a:latin typeface="Arial" pitchFamily="34" charset="0"/>
                          <a:ea typeface="Arial" pitchFamily="34" charset="-122"/>
                          <a:cs typeface="Arial" pitchFamily="34" charset="-120"/>
                        </a:rPr>
                        <a:t>50 người</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400" dirty="0">
                          <a:solidFill>
                            <a:srgbClr val="4A5263"/>
                          </a:solidFill>
                          <a:latin typeface="Arial" pitchFamily="34" charset="0"/>
                          <a:ea typeface="Arial" pitchFamily="34" charset="-122"/>
                          <a:cs typeface="Arial" pitchFamily="34" charset="-120"/>
                        </a:rPr>
                        <a:t>server p99</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dirty="0">
                          <a:solidFill>
                            <a:srgbClr val="4A5263"/>
                          </a:solidFill>
                          <a:latin typeface="Arial" pitchFamily="34" charset="0"/>
                          <a:ea typeface="Arial" pitchFamily="34" charset="-122"/>
                          <a:cs typeface="Arial" pitchFamily="34" charset="-120"/>
                        </a:rPr>
                        <a:t>717 ms</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b="1" dirty="0">
                          <a:solidFill>
                            <a:srgbClr val="1B2130"/>
                          </a:solidFill>
                          <a:latin typeface="Arial" pitchFamily="34" charset="0"/>
                          <a:ea typeface="Arial" pitchFamily="34" charset="-122"/>
                          <a:cs typeface="Arial" pitchFamily="34" charset="-120"/>
                        </a:rPr>
                        <a:t>328 ms</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400" dirty="0">
                          <a:solidFill>
                            <a:srgbClr val="1B2130"/>
                          </a:solidFill>
                          <a:latin typeface="Arial" pitchFamily="34" charset="0"/>
                          <a:ea typeface="Arial" pitchFamily="34" charset="-122"/>
                          <a:cs typeface="Arial" pitchFamily="34" charset="-120"/>
                        </a:rPr>
                        <a:t>50 người</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400" dirty="0">
                          <a:solidFill>
                            <a:srgbClr val="4A5263"/>
                          </a:solidFill>
                          <a:latin typeface="Arial" pitchFamily="34" charset="0"/>
                          <a:ea typeface="Arial" pitchFamily="34" charset="-122"/>
                          <a:cs typeface="Arial" pitchFamily="34" charset="-120"/>
                        </a:rPr>
                        <a:t>màn hình p50</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dirty="0">
                          <a:solidFill>
                            <a:srgbClr val="4A5263"/>
                          </a:solidFill>
                          <a:latin typeface="Arial" pitchFamily="34" charset="0"/>
                          <a:ea typeface="Arial" pitchFamily="34" charset="-122"/>
                          <a:cs typeface="Arial" pitchFamily="34" charset="-120"/>
                        </a:rPr>
                        <a:t>701 ms</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b="1" dirty="0">
                          <a:solidFill>
                            <a:srgbClr val="1B2130"/>
                          </a:solidFill>
                          <a:latin typeface="Arial" pitchFamily="34" charset="0"/>
                          <a:ea typeface="Arial" pitchFamily="34" charset="-122"/>
                          <a:cs typeface="Arial" pitchFamily="34" charset="-120"/>
                        </a:rPr>
                        <a:t>376 ms</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400" dirty="0">
                          <a:solidFill>
                            <a:srgbClr val="1B2130"/>
                          </a:solidFill>
                          <a:latin typeface="Arial" pitchFamily="34" charset="0"/>
                          <a:ea typeface="Arial" pitchFamily="34" charset="-122"/>
                          <a:cs typeface="Arial" pitchFamily="34" charset="-120"/>
                        </a:rPr>
                        <a:t>1.200 người</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400" dirty="0">
                          <a:solidFill>
                            <a:srgbClr val="4A5263"/>
                          </a:solidFill>
                          <a:latin typeface="Arial" pitchFamily="34" charset="0"/>
                          <a:ea typeface="Arial" pitchFamily="34" charset="-122"/>
                          <a:cs typeface="Arial" pitchFamily="34" charset="-120"/>
                        </a:rPr>
                        <a:t>màn hình p99</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dirty="0">
                          <a:solidFill>
                            <a:srgbClr val="4A5263"/>
                          </a:solidFill>
                          <a:latin typeface="Arial" pitchFamily="34" charset="0"/>
                          <a:ea typeface="Arial" pitchFamily="34" charset="-122"/>
                          <a:cs typeface="Arial" pitchFamily="34" charset="-120"/>
                        </a:rPr>
                        <a:t>13,0 s</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r" indent="0" marL="0">
                        <a:buNone/>
                      </a:pPr>
                      <a:r>
                        <a:rPr lang="en-US" sz="1400" b="1" dirty="0">
                          <a:solidFill>
                            <a:srgbClr val="1B2130"/>
                          </a:solidFill>
                          <a:latin typeface="Arial" pitchFamily="34" charset="0"/>
                          <a:ea typeface="Arial" pitchFamily="34" charset="-122"/>
                          <a:cs typeface="Arial" pitchFamily="34" charset="-120"/>
                        </a:rPr>
                        <a:t>9,9 s</a:t>
                      </a:r>
                      <a:endParaRPr lang="en-US" sz="14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bl>
          </a:graphicData>
        </a:graphic>
      </p:graphicFrame>
      <p:sp>
        <p:nvSpPr>
          <p:cNvPr id="12" name="Text 8"/>
          <p:cNvSpPr/>
          <p:nvPr/>
        </p:nvSpPr>
        <p:spPr>
          <a:xfrm>
            <a:off x="6370168" y="4343400"/>
            <a:ext cx="5135728" cy="914400"/>
          </a:xfrm>
          <a:prstGeom prst="rect">
            <a:avLst/>
          </a:prstGeom>
          <a:noFill/>
          <a:ln/>
        </p:spPr>
        <p:txBody>
          <a:bodyPr wrap="square" lIns="0" tIns="50800" rIns="50800" bIns="0" rtlCol="0" anchor="t"/>
          <a:lstStyle/>
          <a:p>
            <a:pPr indent="0" marL="0">
              <a:buNone/>
            </a:pPr>
            <a:r>
              <a:rPr lang="en-US" sz="1350" dirty="0">
                <a:solidFill>
                  <a:srgbClr val="4A5263"/>
                </a:solidFill>
                <a:latin typeface="Arial" pitchFamily="34" charset="0"/>
                <a:ea typeface="Arial" pitchFamily="34" charset="-122"/>
                <a:cs typeface="Arial" pitchFamily="34" charset="-120"/>
              </a:rPr>
              <a:t>Trễ ngẫu nhiên 10 ms × số thành viên (tối đa 2 s) trước khi tải lại.</a:t>
            </a:r>
            <a:endParaRPr lang="en-US" sz="1350" dirty="0"/>
          </a:p>
        </p:txBody>
      </p:sp>
      <p:sp>
        <p:nvSpPr>
          <p:cNvPr id="13" name="Text 9"/>
          <p:cNvSpPr/>
          <p:nvPr/>
        </p:nvSpPr>
        <p:spPr>
          <a:xfrm>
            <a:off x="548640" y="6236208"/>
            <a:ext cx="11094415" cy="411480"/>
          </a:xfrm>
          <a:prstGeom prst="rect">
            <a:avLst/>
          </a:prstGeom>
          <a:noFill/>
          <a:ln/>
        </p:spPr>
        <p:txBody>
          <a:bodyPr wrap="square" lIns="0" tIns="0" rIns="0" bIns="0" rtlCol="0" anchor="t"/>
          <a:lstStyle/>
          <a:p>
            <a:pPr indent="0" marL="0">
              <a:buNone/>
            </a:pPr>
            <a:r>
              <a:rPr lang="en-US" sz="1100" dirty="0">
                <a:solidFill>
                  <a:srgbClr val="6B7385"/>
                </a:solidFill>
                <a:latin typeface="Arial" pitchFamily="34" charset="0"/>
                <a:ea typeface="Arial" pitchFamily="34" charset="-122"/>
                <a:cs typeface="Arial" pitchFamily="34" charset="-120"/>
              </a:rPr>
              <a:t>Tab Hóa đơn không đổi vì vẫn cần đủ dữ liệu như trước; tab này là phần việc còn lại ở slide 22.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17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LỖI ĐÃ SỬA</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600" b="1" dirty="0">
                <a:solidFill>
                  <a:srgbClr val="1B2130"/>
                </a:solidFill>
                <a:latin typeface="Arial" pitchFamily="34" charset="0"/>
                <a:ea typeface="Arial" pitchFamily="34" charset="-122"/>
                <a:cs typeface="Arial" pitchFamily="34" charset="-120"/>
              </a:rPr>
              <a:t>5 lỗi tìm ra khi kiểm thử tải, đã sửa và kiểm chứng</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4206240"/>
                <a:gridCol w="4023360"/>
                <a:gridCol w="2864815"/>
              </a:tblGrid>
              <a:tr h="0">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LỖI</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TRƯỚC</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000" spc="100" kern="0" dirty="0">
                          <a:solidFill>
                            <a:srgbClr val="6B7385"/>
                          </a:solidFill>
                          <a:latin typeface="Arial" pitchFamily="34" charset="0"/>
                          <a:ea typeface="Arial" pitchFamily="34" charset="-122"/>
                          <a:cs typeface="Arial" pitchFamily="34" charset="-120"/>
                        </a:rPr>
                        <a:t>SAU</a:t>
                      </a:r>
                      <a:endParaRPr lang="en-US" sz="100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50" b="1" dirty="0">
                          <a:solidFill>
                            <a:srgbClr val="1B2130"/>
                          </a:solidFill>
                          <a:latin typeface="Arial" pitchFamily="34" charset="0"/>
                          <a:ea typeface="Arial" pitchFamily="34" charset="-122"/>
                          <a:cs typeface="Arial" pitchFamily="34" charset="-120"/>
                        </a:rPr>
                        <a:t>Duyệt hóa đơn trùng (bấm đúp cũng gây lỗi)</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50" dirty="0">
                          <a:solidFill>
                            <a:srgbClr val="4A5263"/>
                          </a:solidFill>
                          <a:latin typeface="Arial" pitchFamily="34" charset="0"/>
                          <a:ea typeface="Arial" pitchFamily="34" charset="-122"/>
                          <a:cs typeface="Arial" pitchFamily="34" charset="-120"/>
                        </a:rPr>
                        <a:t>1.200 lần duyệt → ≥ 30 thông báo và tin Zalo trùng</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50" b="1" dirty="0">
                          <a:solidFill>
                            <a:srgbClr val="2E7D32"/>
                          </a:solidFill>
                          <a:latin typeface="Arial" pitchFamily="34" charset="0"/>
                          <a:ea typeface="Arial" pitchFamily="34" charset="-122"/>
                          <a:cs typeface="Arial" pitchFamily="34" charset="-120"/>
                        </a:rPr>
                        <a:t>✓ đúng 1 thông báo</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50" b="1" dirty="0">
                          <a:solidFill>
                            <a:srgbClr val="1B2130"/>
                          </a:solidFill>
                          <a:latin typeface="Arial" pitchFamily="34" charset="0"/>
                          <a:ea typeface="Arial" pitchFamily="34" charset="-122"/>
                          <a:cs typeface="Arial" pitchFamily="34" charset="-120"/>
                        </a:rPr>
                        <a:t>Xác nhận nhận tiền trùng</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50" dirty="0">
                          <a:solidFill>
                            <a:srgbClr val="4A5263"/>
                          </a:solidFill>
                          <a:latin typeface="Arial" pitchFamily="34" charset="0"/>
                          <a:ea typeface="Arial" pitchFamily="34" charset="-122"/>
                          <a:cs typeface="Arial" pitchFamily="34" charset="-120"/>
                        </a:rPr>
                        <a:t>1.200 lần xác nhận → ≥ 30 thông báo trùng</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50" b="1" dirty="0">
                          <a:solidFill>
                            <a:srgbClr val="2E7D32"/>
                          </a:solidFill>
                          <a:latin typeface="Arial" pitchFamily="34" charset="0"/>
                          <a:ea typeface="Arial" pitchFamily="34" charset="-122"/>
                          <a:cs typeface="Arial" pitchFamily="34" charset="-120"/>
                        </a:rPr>
                        <a:t>✓ đúng 1 thông báo</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50" b="1" dirty="0">
                          <a:solidFill>
                            <a:srgbClr val="1B2130"/>
                          </a:solidFill>
                          <a:latin typeface="Arial" pitchFamily="34" charset="0"/>
                          <a:ea typeface="Arial" pitchFamily="34" charset="-122"/>
                          <a:cs typeface="Arial" pitchFamily="34" charset="-120"/>
                        </a:rPr>
                        <a:t>Cùng mẫu lỗi ở góp quỹ, yêu cầu vào nhóm, lời mời, chuyển trạng thái chờ QR</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50" dirty="0">
                          <a:solidFill>
                            <a:srgbClr val="4A5263"/>
                          </a:solidFill>
                          <a:latin typeface="Arial" pitchFamily="34" charset="0"/>
                          <a:ea typeface="Arial" pitchFamily="34" charset="-122"/>
                          <a:cs typeface="Arial" pitchFamily="34" charset="-120"/>
                        </a:rPr>
                        <a:t>Xử lý hai lần; duyệt trùng yêu cầu vào nhóm có thể lỗi 500</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50" b="1" dirty="0">
                          <a:solidFill>
                            <a:srgbClr val="2E7D32"/>
                          </a:solidFill>
                          <a:latin typeface="Arial" pitchFamily="34" charset="0"/>
                          <a:ea typeface="Arial" pitchFamily="34" charset="-122"/>
                          <a:cs typeface="Arial" pitchFamily="34" charset="-120"/>
                        </a:rPr>
                        <a:t>✓ chỉ 1 request được xử lý</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50" b="1" dirty="0">
                          <a:solidFill>
                            <a:srgbClr val="1B2130"/>
                          </a:solidFill>
                          <a:latin typeface="Arial" pitchFamily="34" charset="0"/>
                          <a:ea typeface="Arial" pitchFamily="34" charset="-122"/>
                          <a:cs typeface="Arial" pitchFamily="34" charset="-120"/>
                        </a:rPr>
                        <a:t>Webhook SePay không kiểm tra số tiền và người nhận</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50" dirty="0">
                          <a:solidFill>
                            <a:srgbClr val="4A5263"/>
                          </a:solidFill>
                          <a:latin typeface="Arial" pitchFamily="34" charset="0"/>
                          <a:ea typeface="Arial" pitchFamily="34" charset="-122"/>
                          <a:cs typeface="Arial" pitchFamily="34" charset="-120"/>
                        </a:rPr>
                        <a:t>Chuyển 1 ₫ kèm mã GS… gạch được cả khoản nợ</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50" b="1" dirty="0">
                          <a:solidFill>
                            <a:srgbClr val="2E7D32"/>
                          </a:solidFill>
                          <a:latin typeface="Arial" pitchFamily="34" charset="0"/>
                          <a:ea typeface="Arial" pitchFamily="34" charset="-122"/>
                          <a:cs typeface="Arial" pitchFamily="34" charset="-120"/>
                        </a:rPr>
                        <a:t>✓ 1 ₫ không gạch, đủ tiền mới gạch</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r h="0">
                <a:tc>
                  <a:txBody>
                    <a:bodyPr/>
                    <a:lstStyle/>
                    <a:p>
                      <a:pPr algn="l" indent="0" marL="0">
                        <a:buNone/>
                      </a:pPr>
                      <a:r>
                        <a:rPr lang="en-US" sz="1350" b="1" dirty="0">
                          <a:solidFill>
                            <a:srgbClr val="1B2130"/>
                          </a:solidFill>
                          <a:latin typeface="Arial" pitchFamily="34" charset="0"/>
                          <a:ea typeface="Arial" pitchFamily="34" charset="-122"/>
                          <a:cs typeface="Arial" pitchFamily="34" charset="-120"/>
                        </a:rPr>
                        <a:t>Đăng nhập bằng mật khẩu không giới hạn</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50" dirty="0">
                          <a:solidFill>
                            <a:srgbClr val="4A5263"/>
                          </a:solidFill>
                          <a:latin typeface="Arial" pitchFamily="34" charset="0"/>
                          <a:ea typeface="Arial" pitchFamily="34" charset="-122"/>
                          <a:cs typeface="Arial" pitchFamily="34" charset="-120"/>
                        </a:rPr>
                        <a:t>100/100 lượt từ một IP được thử mật khẩu</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c>
                  <a:txBody>
                    <a:bodyPr/>
                    <a:lstStyle/>
                    <a:p>
                      <a:pPr algn="l" indent="0" marL="0">
                        <a:buNone/>
                      </a:pPr>
                      <a:r>
                        <a:rPr lang="en-US" sz="1350" b="1" dirty="0">
                          <a:solidFill>
                            <a:srgbClr val="2E7D32"/>
                          </a:solidFill>
                          <a:latin typeface="Arial" pitchFamily="34" charset="0"/>
                          <a:ea typeface="Arial" pitchFamily="34" charset="-122"/>
                          <a:cs typeface="Arial" pitchFamily="34" charset="-120"/>
                        </a:rPr>
                        <a:t>✓ 15 lượt, lượt 16 bị chặn</a:t>
                      </a:r>
                      <a:endParaRPr lang="en-US" sz="1350" dirty="0">
                        <a:latin typeface="Arial" charset="0"/>
                        <a:ea typeface="Arial" charset="0"/>
                        <a:cs typeface="Arial" charset="0"/>
                      </a:endParaRPr>
                    </a:p>
                  </a:txBody>
                  <a:tcPr marL="73152" marR="73152" marT="54864" marB="54864" anchor="t">
                    <a:lnL w="0" cap="flat" cmpd="sng" algn="ctr">
                      <a:noFill/>
                    </a:lnL>
                    <a:lnR w="0" cap="flat" cmpd="sng" algn="ctr">
                      <a:noFill/>
                    </a:lnR>
                    <a:lnT w="0" cap="flat" cmpd="sng" algn="ctr">
                      <a:noFill/>
                    </a:lnT>
                    <a:lnB w="12700" cap="flat" cmpd="sng" algn="ctr">
                      <a:solidFill>
                        <a:srgbClr val="E1E5EE"/>
                      </a:solidFill>
                      <a:prstDash val="solid"/>
                      <a:round/>
                      <a:headEnd type="none" w="med" len="med"/>
                      <a:tailEnd type="none" w="med" len="med"/>
                    </a:lnB>
                  </a:tcPr>
                </a:tc>
              </a:tr>
            </a:tbl>
          </a:graphicData>
        </a:graphic>
      </p:graphicFrame>
      <p:sp>
        <p:nvSpPr>
          <p:cNvPr id="6" name="Text 3"/>
          <p:cNvSpPr/>
          <p:nvPr/>
        </p:nvSpPr>
        <p:spPr>
          <a:xfrm>
            <a:off x="548640" y="6236208"/>
            <a:ext cx="11094415" cy="411480"/>
          </a:xfrm>
          <a:prstGeom prst="rect">
            <a:avLst/>
          </a:prstGeom>
          <a:noFill/>
          <a:ln/>
        </p:spPr>
        <p:txBody>
          <a:bodyPr wrap="square" lIns="0" tIns="0" rIns="0" bIns="0" rtlCol="0" anchor="t"/>
          <a:lstStyle/>
          <a:p>
            <a:pPr indent="0" marL="0">
              <a:buNone/>
            </a:pPr>
            <a:r>
              <a:rPr lang="en-US" sz="1100" dirty="0">
                <a:solidFill>
                  <a:srgbClr val="6B7385"/>
                </a:solidFill>
                <a:latin typeface="Arial" pitchFamily="34" charset="0"/>
                <a:ea typeface="Arial" pitchFamily="34" charset="-122"/>
                <a:cs typeface="Arial" pitchFamily="34" charset="-120"/>
              </a:rPr>
              <a:t>Không thay đổi schema nên không cần migration. Hai lỗi đầu đo bằng bài burst 1.200 request; ba lỗi sau kiểm tra bằng request thật tới server đã build.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18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CÁCH SỬA</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600" b="1" dirty="0">
                <a:solidFill>
                  <a:srgbClr val="1B2130"/>
                </a:solidFill>
                <a:latin typeface="Arial" pitchFamily="34" charset="0"/>
                <a:ea typeface="Arial" pitchFamily="34" charset="-122"/>
                <a:cs typeface="Arial" pitchFamily="34" charset="-120"/>
              </a:rPr>
              <a:t>Đổi "kiểm tra rồi cập nhật" thành một câu cập nhật có điều kiện</a:t>
            </a:r>
            <a:endParaRPr lang="en-US" sz="2600" dirty="0"/>
          </a:p>
        </p:txBody>
      </p:sp>
      <p:sp>
        <p:nvSpPr>
          <p:cNvPr id="5" name="Shape 3"/>
          <p:cNvSpPr/>
          <p:nvPr/>
        </p:nvSpPr>
        <p:spPr>
          <a:xfrm>
            <a:off x="548640" y="1508760"/>
            <a:ext cx="5410048" cy="3931920"/>
          </a:xfrm>
          <a:prstGeom prst="roundRect">
            <a:avLst>
              <a:gd name="adj" fmla="val 1860"/>
            </a:avLst>
          </a:prstGeom>
          <a:solidFill>
            <a:srgbClr val="F1F4FA"/>
          </a:solidFill>
          <a:ln w="12700">
            <a:solidFill>
              <a:srgbClr val="F1F4FA"/>
            </a:solidFill>
            <a:prstDash val="solid"/>
          </a:ln>
        </p:spPr>
      </p:sp>
      <p:sp>
        <p:nvSpPr>
          <p:cNvPr id="6" name="Text 4"/>
          <p:cNvSpPr/>
          <p:nvPr/>
        </p:nvSpPr>
        <p:spPr>
          <a:xfrm>
            <a:off x="685800" y="1618488"/>
            <a:ext cx="5135728"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TRƯỚC · HAI BƯỚC TÁCH RỜI</a:t>
            </a:r>
            <a:endParaRPr lang="en-US" sz="1000" dirty="0"/>
          </a:p>
        </p:txBody>
      </p:sp>
      <p:sp>
        <p:nvSpPr>
          <p:cNvPr id="7" name="Shape 5"/>
          <p:cNvSpPr/>
          <p:nvPr/>
        </p:nvSpPr>
        <p:spPr>
          <a:xfrm>
            <a:off x="685800" y="1965960"/>
            <a:ext cx="5135728" cy="3337560"/>
          </a:xfrm>
          <a:prstGeom prst="roundRect">
            <a:avLst>
              <a:gd name="adj" fmla="val 1370"/>
            </a:avLst>
          </a:prstGeom>
          <a:solidFill>
            <a:srgbClr val="FFFFFF"/>
          </a:solidFill>
          <a:ln w="12700">
            <a:solidFill>
              <a:srgbClr val="E1E5EE"/>
            </a:solidFill>
            <a:prstDash val="solid"/>
          </a:ln>
        </p:spPr>
      </p:sp>
      <p:sp>
        <p:nvSpPr>
          <p:cNvPr id="8" name="Text 6"/>
          <p:cNvSpPr/>
          <p:nvPr/>
        </p:nvSpPr>
        <p:spPr>
          <a:xfrm>
            <a:off x="777240" y="2039112"/>
            <a:ext cx="4952848" cy="3200400"/>
          </a:xfrm>
          <a:prstGeom prst="rect">
            <a:avLst/>
          </a:prstGeom>
          <a:noFill/>
          <a:ln/>
        </p:spPr>
        <p:txBody>
          <a:bodyPr wrap="square" lIns="0" tIns="0" rIns="0" bIns="0" rtlCol="0" anchor="t"/>
          <a:lstStyle/>
          <a:p>
            <a:pPr indent="0" marL="0">
              <a:buNone/>
            </a:pPr>
            <a:r>
              <a:rPr lang="en-US" sz="1250" dirty="0">
                <a:solidFill>
                  <a:srgbClr val="6B7385"/>
                </a:solidFill>
                <a:latin typeface="Consolas" pitchFamily="34" charset="0"/>
                <a:ea typeface="Consolas" pitchFamily="34" charset="-122"/>
                <a:cs typeface="Consolas" pitchFamily="34" charset="-120"/>
              </a:rPr>
              <a:t>// 1.200 request cùng đọc thấy PENDING</a:t>
            </a:r>
            <a:endParaRPr lang="en-US" sz="1250" dirty="0"/>
          </a:p>
          <a:p>
            <a:pPr indent="0" marL="0">
              <a:buNone/>
            </a:pPr>
            <a:r>
              <a:rPr lang="en-US" sz="1250" dirty="0">
                <a:solidFill>
                  <a:srgbClr val="1B2130"/>
                </a:solidFill>
                <a:latin typeface="Consolas" pitchFamily="34" charset="0"/>
                <a:ea typeface="Consolas" pitchFamily="34" charset="-122"/>
                <a:cs typeface="Consolas" pitchFamily="34" charset="-120"/>
              </a:rPr>
              <a:t>const e = await prisma.expense.findUnique(...)</a:t>
            </a:r>
            <a:endParaRPr lang="en-US" sz="1250" dirty="0"/>
          </a:p>
          <a:p>
            <a:pPr indent="0" marL="0">
              <a:buNone/>
            </a:pPr>
            <a:r>
              <a:rPr lang="en-US" sz="1250" dirty="0">
                <a:solidFill>
                  <a:srgbClr val="1B2130"/>
                </a:solidFill>
                <a:latin typeface="Consolas" pitchFamily="34" charset="0"/>
                <a:ea typeface="Consolas" pitchFamily="34" charset="-122"/>
                <a:cs typeface="Consolas" pitchFamily="34" charset="-120"/>
              </a:rPr>
              <a:t>await prisma.expense.update({</a:t>
            </a:r>
            <a:endParaRPr lang="en-US" sz="1250" dirty="0"/>
          </a:p>
          <a:p>
            <a:pPr indent="0" marL="0">
              <a:buNone/>
            </a:pPr>
            <a:r>
              <a:rPr lang="en-US" sz="1250" dirty="0">
                <a:solidFill>
                  <a:srgbClr val="1B2130"/>
                </a:solidFill>
                <a:latin typeface="Consolas" pitchFamily="34" charset="0"/>
                <a:ea typeface="Consolas" pitchFamily="34" charset="-122"/>
                <a:cs typeface="Consolas" pitchFamily="34" charset="-120"/>
              </a:rPr>
              <a:t>  where: { id },</a:t>
            </a:r>
            <a:endParaRPr lang="en-US" sz="1250" dirty="0"/>
          </a:p>
          <a:p>
            <a:pPr indent="0" marL="0">
              <a:buNone/>
            </a:pPr>
            <a:r>
              <a:rPr lang="en-US" sz="1250" dirty="0">
                <a:solidFill>
                  <a:srgbClr val="1B2130"/>
                </a:solidFill>
                <a:latin typeface="Consolas" pitchFamily="34" charset="0"/>
                <a:ea typeface="Consolas" pitchFamily="34" charset="-122"/>
                <a:cs typeface="Consolas" pitchFamily="34" charset="-120"/>
              </a:rPr>
              <a:t>  data: { status },</a:t>
            </a:r>
            <a:endParaRPr lang="en-US" sz="1250" dirty="0"/>
          </a:p>
          <a:p>
            <a:pPr indent="0" marL="0">
              <a:buNone/>
            </a:pPr>
            <a:r>
              <a:rPr lang="en-US" sz="1250" dirty="0">
                <a:solidFill>
                  <a:srgbClr val="1B2130"/>
                </a:solidFill>
                <a:latin typeface="Consolas" pitchFamily="34" charset="0"/>
                <a:ea typeface="Consolas" pitchFamily="34" charset="-122"/>
                <a:cs typeface="Consolas" pitchFamily="34" charset="-120"/>
              </a:rPr>
              <a:t>})</a:t>
            </a:r>
            <a:endParaRPr lang="en-US" sz="1250" dirty="0"/>
          </a:p>
          <a:p>
            <a:pPr indent="0" marL="0">
              <a:buNone/>
            </a:pPr>
            <a:r>
              <a:rPr lang="en-US" sz="1250" b="1" dirty="0">
                <a:solidFill>
                  <a:srgbClr val="B3392F"/>
                </a:solidFill>
                <a:latin typeface="Consolas" pitchFamily="34" charset="0"/>
                <a:ea typeface="Consolas" pitchFamily="34" charset="-122"/>
                <a:cs typeface="Consolas" pitchFamily="34" charset="-120"/>
              </a:rPr>
              <a:t>await createNotification(...)</a:t>
            </a:r>
            <a:endParaRPr lang="en-US" sz="1250" dirty="0"/>
          </a:p>
          <a:p>
            <a:pPr indent="0" marL="0">
              <a:buNone/>
            </a:pPr>
            <a:r>
              <a:rPr lang="en-US" sz="1250" dirty="0">
                <a:solidFill>
                  <a:srgbClr val="6B7385"/>
                </a:solidFill>
                <a:latin typeface="Consolas" pitchFamily="34" charset="0"/>
                <a:ea typeface="Consolas" pitchFamily="34" charset="-122"/>
                <a:cs typeface="Consolas" pitchFamily="34" charset="-120"/>
              </a:rPr>
              <a:t>// → request nào cũng gửi thông báo</a:t>
            </a:r>
            <a:endParaRPr lang="en-US" sz="1250" dirty="0"/>
          </a:p>
        </p:txBody>
      </p:sp>
      <p:sp>
        <p:nvSpPr>
          <p:cNvPr id="9" name="Shape 7"/>
          <p:cNvSpPr/>
          <p:nvPr/>
        </p:nvSpPr>
        <p:spPr>
          <a:xfrm>
            <a:off x="6233008" y="1508760"/>
            <a:ext cx="5410048" cy="3931920"/>
          </a:xfrm>
          <a:prstGeom prst="roundRect">
            <a:avLst>
              <a:gd name="adj" fmla="val 1860"/>
            </a:avLst>
          </a:prstGeom>
          <a:solidFill>
            <a:srgbClr val="F1F4FA"/>
          </a:solidFill>
          <a:ln w="12700">
            <a:solidFill>
              <a:srgbClr val="F1F4FA"/>
            </a:solidFill>
            <a:prstDash val="solid"/>
          </a:ln>
        </p:spPr>
      </p:sp>
      <p:sp>
        <p:nvSpPr>
          <p:cNvPr id="10" name="Text 8"/>
          <p:cNvSpPr/>
          <p:nvPr/>
        </p:nvSpPr>
        <p:spPr>
          <a:xfrm>
            <a:off x="6370168" y="1618488"/>
            <a:ext cx="5135728"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SAU · POSTGRESQL CHỌN NGƯỜI THẮNG</a:t>
            </a:r>
            <a:endParaRPr lang="en-US" sz="1000" dirty="0"/>
          </a:p>
        </p:txBody>
      </p:sp>
      <p:sp>
        <p:nvSpPr>
          <p:cNvPr id="11" name="Shape 9"/>
          <p:cNvSpPr/>
          <p:nvPr/>
        </p:nvSpPr>
        <p:spPr>
          <a:xfrm>
            <a:off x="6370168" y="1965960"/>
            <a:ext cx="5135728" cy="3337560"/>
          </a:xfrm>
          <a:prstGeom prst="roundRect">
            <a:avLst>
              <a:gd name="adj" fmla="val 1370"/>
            </a:avLst>
          </a:prstGeom>
          <a:solidFill>
            <a:srgbClr val="FFFFFF"/>
          </a:solidFill>
          <a:ln w="12700">
            <a:solidFill>
              <a:srgbClr val="E1E5EE"/>
            </a:solidFill>
            <a:prstDash val="solid"/>
          </a:ln>
        </p:spPr>
      </p:sp>
      <p:sp>
        <p:nvSpPr>
          <p:cNvPr id="12" name="Text 10"/>
          <p:cNvSpPr/>
          <p:nvPr/>
        </p:nvSpPr>
        <p:spPr>
          <a:xfrm>
            <a:off x="6461608" y="2039112"/>
            <a:ext cx="4952848" cy="3200400"/>
          </a:xfrm>
          <a:prstGeom prst="rect">
            <a:avLst/>
          </a:prstGeom>
          <a:noFill/>
          <a:ln/>
        </p:spPr>
        <p:txBody>
          <a:bodyPr wrap="square" lIns="0" tIns="0" rIns="0" bIns="0" rtlCol="0" anchor="t"/>
          <a:lstStyle/>
          <a:p>
            <a:pPr indent="0" marL="0">
              <a:buNone/>
            </a:pPr>
            <a:r>
              <a:rPr lang="en-US" sz="1250" dirty="0">
                <a:solidFill>
                  <a:srgbClr val="6B7385"/>
                </a:solidFill>
                <a:latin typeface="Consolas" pitchFamily="34" charset="0"/>
                <a:ea typeface="Consolas" pitchFamily="34" charset="-122"/>
                <a:cs typeface="Consolas" pitchFamily="34" charset="-120"/>
              </a:rPr>
              <a:t>// UPDATE ... WHERE status = 'PENDING'</a:t>
            </a:r>
            <a:endParaRPr lang="en-US" sz="1250" dirty="0"/>
          </a:p>
          <a:p>
            <a:pPr indent="0" marL="0">
              <a:buNone/>
            </a:pPr>
            <a:r>
              <a:rPr lang="en-US" sz="1250" dirty="0">
                <a:solidFill>
                  <a:srgbClr val="1B2130"/>
                </a:solidFill>
                <a:latin typeface="Consolas" pitchFamily="34" charset="0"/>
                <a:ea typeface="Consolas" pitchFamily="34" charset="-122"/>
                <a:cs typeface="Consolas" pitchFamily="34" charset="-120"/>
              </a:rPr>
              <a:t>const { count } = await prisma.expense.updateMany({</a:t>
            </a:r>
            <a:endParaRPr lang="en-US" sz="1250" dirty="0"/>
          </a:p>
          <a:p>
            <a:pPr indent="0" marL="0">
              <a:buNone/>
            </a:pPr>
            <a:r>
              <a:rPr lang="en-US" sz="1250" b="1" dirty="0">
                <a:solidFill>
                  <a:srgbClr val="2E7D32"/>
                </a:solidFill>
                <a:latin typeface="Consolas" pitchFamily="34" charset="0"/>
                <a:ea typeface="Consolas" pitchFamily="34" charset="-122"/>
                <a:cs typeface="Consolas" pitchFamily="34" charset="-120"/>
              </a:rPr>
              <a:t>  where: { id, status: "PENDING" },</a:t>
            </a:r>
            <a:endParaRPr lang="en-US" sz="1250" dirty="0"/>
          </a:p>
          <a:p>
            <a:pPr indent="0" marL="0">
              <a:buNone/>
            </a:pPr>
            <a:r>
              <a:rPr lang="en-US" sz="1250" dirty="0">
                <a:solidFill>
                  <a:srgbClr val="1B2130"/>
                </a:solidFill>
                <a:latin typeface="Consolas" pitchFamily="34" charset="0"/>
                <a:ea typeface="Consolas" pitchFamily="34" charset="-122"/>
                <a:cs typeface="Consolas" pitchFamily="34" charset="-120"/>
              </a:rPr>
              <a:t>  data: { status },</a:t>
            </a:r>
            <a:endParaRPr lang="en-US" sz="1250" dirty="0"/>
          </a:p>
          <a:p>
            <a:pPr indent="0" marL="0">
              <a:buNone/>
            </a:pPr>
            <a:r>
              <a:rPr lang="en-US" sz="1250" dirty="0">
                <a:solidFill>
                  <a:srgbClr val="1B2130"/>
                </a:solidFill>
                <a:latin typeface="Consolas" pitchFamily="34" charset="0"/>
                <a:ea typeface="Consolas" pitchFamily="34" charset="-122"/>
                <a:cs typeface="Consolas" pitchFamily="34" charset="-120"/>
              </a:rPr>
              <a:t>})</a:t>
            </a:r>
            <a:endParaRPr lang="en-US" sz="1250" dirty="0"/>
          </a:p>
          <a:p>
            <a:pPr indent="0" marL="0">
              <a:buNone/>
            </a:pPr>
            <a:r>
              <a:rPr lang="en-US" sz="1250" b="1" dirty="0">
                <a:solidFill>
                  <a:srgbClr val="2E7D32"/>
                </a:solidFill>
                <a:latin typeface="Consolas" pitchFamily="34" charset="0"/>
                <a:ea typeface="Consolas" pitchFamily="34" charset="-122"/>
                <a:cs typeface="Consolas" pitchFamily="34" charset="-120"/>
              </a:rPr>
              <a:t>if (count === 1) await createNotification(...)</a:t>
            </a:r>
            <a:endParaRPr lang="en-US" sz="1250" dirty="0"/>
          </a:p>
          <a:p>
            <a:pPr indent="0" marL="0">
              <a:buNone/>
            </a:pPr>
            <a:r>
              <a:rPr lang="en-US" sz="1250" dirty="0">
                <a:solidFill>
                  <a:srgbClr val="6B7385"/>
                </a:solidFill>
                <a:latin typeface="Consolas" pitchFamily="34" charset="0"/>
                <a:ea typeface="Consolas" pitchFamily="34" charset="-122"/>
                <a:cs typeface="Consolas" pitchFamily="34" charset="-120"/>
              </a:rPr>
              <a:t>// → 1 request đổi được trạng thái,</a:t>
            </a:r>
            <a:endParaRPr lang="en-US" sz="1250" dirty="0"/>
          </a:p>
          <a:p>
            <a:pPr indent="0" marL="0">
              <a:buNone/>
            </a:pPr>
            <a:r>
              <a:rPr lang="en-US" sz="1250" dirty="0">
                <a:solidFill>
                  <a:srgbClr val="6B7385"/>
                </a:solidFill>
                <a:latin typeface="Consolas" pitchFamily="34" charset="0"/>
                <a:ea typeface="Consolas" pitchFamily="34" charset="-122"/>
                <a:cs typeface="Consolas" pitchFamily="34" charset="-120"/>
              </a:rPr>
              <a:t>//   1.199 request còn lại cập nhật 0 dòng</a:t>
            </a:r>
            <a:endParaRPr lang="en-US" sz="1250" dirty="0"/>
          </a:p>
        </p:txBody>
      </p:sp>
      <p:sp>
        <p:nvSpPr>
          <p:cNvPr id="13" name="Text 11"/>
          <p:cNvSpPr/>
          <p:nvPr/>
        </p:nvSpPr>
        <p:spPr>
          <a:xfrm>
            <a:off x="548640" y="5623560"/>
            <a:ext cx="11094415" cy="411480"/>
          </a:xfrm>
          <a:prstGeom prst="rect">
            <a:avLst/>
          </a:prstGeom>
          <a:noFill/>
          <a:ln/>
        </p:spPr>
        <p:txBody>
          <a:bodyPr wrap="square" lIns="0" tIns="0" rIns="0" bIns="0" rtlCol="0" anchor="ctr"/>
          <a:lstStyle/>
          <a:p>
            <a:pPr indent="0" marL="0">
              <a:buNone/>
            </a:pPr>
            <a:r>
              <a:rPr lang="en-US" sz="1400" dirty="0">
                <a:solidFill>
                  <a:srgbClr val="4A5263"/>
                </a:solidFill>
                <a:latin typeface="Arial" pitchFamily="34" charset="0"/>
                <a:ea typeface="Arial" pitchFamily="34" charset="-122"/>
                <a:cs typeface="Arial" pitchFamily="34" charset="-120"/>
              </a:rPr>
              <a:t>Request lặp lại cùng quyết định nhận 200 như cũ; quyết định ngược lại (đã duyệt rồi bấm từ chối) nhận 409.</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19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PHƯƠNG PHÁP</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Đo gì và đo thế nào</a:t>
            </a:r>
            <a:endParaRPr lang="en-US" sz="2800" dirty="0"/>
          </a:p>
        </p:txBody>
      </p:sp>
      <p:sp>
        <p:nvSpPr>
          <p:cNvPr id="5" name="Shape 3"/>
          <p:cNvSpPr/>
          <p:nvPr/>
        </p:nvSpPr>
        <p:spPr>
          <a:xfrm>
            <a:off x="548640" y="1463040"/>
            <a:ext cx="5410048" cy="3429000"/>
          </a:xfrm>
          <a:prstGeom prst="roundRect">
            <a:avLst>
              <a:gd name="adj" fmla="val 2133"/>
            </a:avLst>
          </a:prstGeom>
          <a:solidFill>
            <a:srgbClr val="F1F4FA"/>
          </a:solidFill>
          <a:ln w="12700">
            <a:solidFill>
              <a:srgbClr val="F1F4FA"/>
            </a:solidFill>
            <a:prstDash val="solid"/>
          </a:ln>
        </p:spPr>
      </p:sp>
      <p:sp>
        <p:nvSpPr>
          <p:cNvPr id="6" name="Text 4"/>
          <p:cNvSpPr/>
          <p:nvPr/>
        </p:nvSpPr>
        <p:spPr>
          <a:xfrm>
            <a:off x="548640" y="1463040"/>
            <a:ext cx="5410048" cy="342900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MÔI TRƯỜNG</a:t>
            </a:r>
            <a:endParaRPr lang="en-US" sz="1000" dirty="0"/>
          </a:p>
          <a:p>
            <a:pPr marL="177800" indent="-177800">
              <a:spcAft>
                <a:spcPts val="500"/>
              </a:spcAft>
              <a:buSzPct val="100000"/>
              <a:buChar char="•"/>
            </a:pPr>
            <a:r>
              <a:rPr lang="en-US" sz="1400" dirty="0">
                <a:solidFill>
                  <a:srgbClr val="4A5263"/>
                </a:solidFill>
                <a:latin typeface="Arial" pitchFamily="34" charset="0"/>
                <a:ea typeface="Arial" pitchFamily="34" charset="-122"/>
                <a:cs typeface="Arial" pitchFamily="34" charset="-120"/>
              </a:rPr>
              <a:t>Apple M2, 8 nhân (4 hiệu năng + 4 tiết kiệm), RAM 24 GB</a:t>
            </a:r>
            <a:endParaRPr lang="en-US" sz="1000" dirty="0"/>
          </a:p>
          <a:p>
            <a:pPr marL="177800" indent="-177800">
              <a:spcAft>
                <a:spcPts val="500"/>
              </a:spcAft>
              <a:buSzPct val="100000"/>
              <a:buChar char="•"/>
            </a:pPr>
            <a:r>
              <a:rPr lang="en-US" sz="1400" dirty="0">
                <a:solidFill>
                  <a:srgbClr val="4A5263"/>
                </a:solidFill>
                <a:latin typeface="Arial" pitchFamily="34" charset="0"/>
                <a:ea typeface="Arial" pitchFamily="34" charset="-122"/>
                <a:cs typeface="Arial" pitchFamily="34" charset="-120"/>
              </a:rPr>
              <a:t>Build production, Node 24, cluster 4 worker</a:t>
            </a:r>
            <a:endParaRPr lang="en-US" sz="1000" dirty="0"/>
          </a:p>
          <a:p>
            <a:pPr marL="177800" indent="-177800">
              <a:spcAft>
                <a:spcPts val="500"/>
              </a:spcAft>
              <a:buSzPct val="100000"/>
              <a:buChar char="•"/>
            </a:pPr>
            <a:r>
              <a:rPr lang="en-US" sz="1400" dirty="0">
                <a:solidFill>
                  <a:srgbClr val="4A5263"/>
                </a:solidFill>
                <a:latin typeface="Arial" pitchFamily="34" charset="0"/>
                <a:ea typeface="Arial" pitchFamily="34" charset="-122"/>
                <a:cs typeface="Arial" pitchFamily="34" charset="-120"/>
              </a:rPr>
              <a:t>PostgreSQL 17.11 trong Docker Desktop</a:t>
            </a:r>
            <a:endParaRPr lang="en-US" sz="1000" dirty="0"/>
          </a:p>
          <a:p>
            <a:pPr marL="177800" indent="-177800">
              <a:spcAft>
                <a:spcPts val="500"/>
              </a:spcAft>
              <a:buSzPct val="100000"/>
              <a:buChar char="•"/>
            </a:pPr>
            <a:r>
              <a:rPr lang="en-US" sz="1400" dirty="0">
                <a:solidFill>
                  <a:srgbClr val="4A5263"/>
                </a:solidFill>
                <a:latin typeface="Arial" pitchFamily="34" charset="0"/>
                <a:ea typeface="Arial" pitchFamily="34" charset="-122"/>
                <a:cs typeface="Arial" pitchFamily="34" charset="-120"/>
              </a:rPr>
              <a:t>10 tài khoản, nhóm 10 người, 300 hóa đơn trong 90 ngày</a:t>
            </a:r>
            <a:endParaRPr lang="en-US" sz="1000" dirty="0"/>
          </a:p>
          <a:p>
            <a:pPr marL="177800" indent="-177800">
              <a:spcAft>
                <a:spcPts val="500"/>
              </a:spcAft>
              <a:buSzPct val="100000"/>
              <a:buChar char="•"/>
            </a:pPr>
            <a:r>
              <a:rPr lang="en-US" sz="1400" dirty="0">
                <a:solidFill>
                  <a:srgbClr val="4A5263"/>
                </a:solidFill>
                <a:latin typeface="Arial" pitchFamily="34" charset="0"/>
                <a:ea typeface="Arial" pitchFamily="34" charset="-122"/>
                <a:cs typeface="Arial" pitchFamily="34" charset="-120"/>
              </a:rPr>
              <a:t>Máy phát tải chạy chung máy với app và database</a:t>
            </a:r>
            <a:endParaRPr lang="en-US" sz="1000" dirty="0"/>
          </a:p>
        </p:txBody>
      </p:sp>
      <p:sp>
        <p:nvSpPr>
          <p:cNvPr id="7" name="Shape 5"/>
          <p:cNvSpPr/>
          <p:nvPr/>
        </p:nvSpPr>
        <p:spPr>
          <a:xfrm>
            <a:off x="6233008" y="1463040"/>
            <a:ext cx="5410048" cy="3429000"/>
          </a:xfrm>
          <a:prstGeom prst="roundRect">
            <a:avLst>
              <a:gd name="adj" fmla="val 2133"/>
            </a:avLst>
          </a:prstGeom>
          <a:solidFill>
            <a:srgbClr val="F1F4FA"/>
          </a:solidFill>
          <a:ln w="12700">
            <a:solidFill>
              <a:srgbClr val="F1F4FA"/>
            </a:solidFill>
            <a:prstDash val="solid"/>
          </a:ln>
        </p:spPr>
      </p:sp>
      <p:sp>
        <p:nvSpPr>
          <p:cNvPr id="8" name="Text 6"/>
          <p:cNvSpPr/>
          <p:nvPr/>
        </p:nvSpPr>
        <p:spPr>
          <a:xfrm>
            <a:off x="6233008" y="1463040"/>
            <a:ext cx="5410048" cy="342900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KỊCH BẢN</a:t>
            </a:r>
            <a:endParaRPr lang="en-US" sz="1000" dirty="0"/>
          </a:p>
          <a:p>
            <a:pPr marL="177800" indent="-177800">
              <a:spcAft>
                <a:spcPts val="500"/>
              </a:spcAft>
              <a:buSzPct val="100000"/>
              <a:buChar char="•"/>
            </a:pPr>
            <a:r>
              <a:rPr lang="en-US" sz="1400" b="1" dirty="0">
                <a:solidFill>
                  <a:srgbClr val="1B2130"/>
                </a:solidFill>
                <a:latin typeface="Arial" pitchFamily="34" charset="0"/>
                <a:ea typeface="Arial" pitchFamily="34" charset="-122"/>
                <a:cs typeface="Arial" pitchFamily="34" charset="-120"/>
              </a:rPr>
              <a:t>Người dùng thật: </a:t>
            </a:r>
            <a:pPr indent="0" marL="0">
              <a:spcAft>
                <a:spcPts val="500"/>
              </a:spcAft>
              <a:buNone/>
            </a:pPr>
            <a:r>
              <a:rPr lang="en-US" sz="1400" dirty="0">
                <a:solidFill>
                  <a:srgbClr val="4A5263"/>
                </a:solidFill>
                <a:latin typeface="Arial" pitchFamily="34" charset="0"/>
                <a:ea typeface="Arial" pitchFamily="34" charset="-122"/>
                <a:cs typeface="Arial" pitchFamily="34" charset="-120"/>
              </a:rPr>
              <a:t>mở 1 trang rồi đọc 5–15 giây (40% trang nhóm, 30% dashboard, 20% thông báo, 10% danh sách nhóm), cộng chuông thông báo chạy nền theo đúng phiên bản code</a:t>
            </a:r>
            <a:endParaRPr lang="en-US" sz="1000" dirty="0"/>
          </a:p>
          <a:p>
            <a:pPr marL="177800" indent="-177800">
              <a:spcAft>
                <a:spcPts val="500"/>
              </a:spcAft>
              <a:buSzPct val="100000"/>
              <a:buChar char="•"/>
            </a:pPr>
            <a:r>
              <a:rPr lang="en-US" sz="1400" b="1" dirty="0">
                <a:solidFill>
                  <a:srgbClr val="1B2130"/>
                </a:solidFill>
                <a:latin typeface="Arial" pitchFamily="34" charset="0"/>
                <a:ea typeface="Arial" pitchFamily="34" charset="-122"/>
                <a:cs typeface="Arial" pitchFamily="34" charset="-120"/>
              </a:rPr>
              <a:t>Burst: </a:t>
            </a:r>
            <a:pPr indent="0" marL="0">
              <a:spcAft>
                <a:spcPts val="500"/>
              </a:spcAft>
              <a:buNone/>
            </a:pPr>
            <a:r>
              <a:rPr lang="en-US" sz="1400" dirty="0">
                <a:solidFill>
                  <a:srgbClr val="4A5263"/>
                </a:solidFill>
                <a:latin typeface="Arial" pitchFamily="34" charset="0"/>
                <a:ea typeface="Arial" pitchFamily="34" charset="-122"/>
                <a:cs typeface="Arial" pitchFamily="34" charset="-120"/>
              </a:rPr>
              <a:t>1.200 request phát ra cùng một thời điểm</a:t>
            </a:r>
            <a:endParaRPr lang="en-US" sz="1000" dirty="0"/>
          </a:p>
          <a:p>
            <a:pPr marL="177800" indent="-177800">
              <a:spcAft>
                <a:spcPts val="500"/>
              </a:spcAft>
              <a:buSzPct val="100000"/>
              <a:buChar char="•"/>
            </a:pPr>
            <a:r>
              <a:rPr lang="en-US" sz="1400" b="1" dirty="0">
                <a:solidFill>
                  <a:srgbClr val="1B2130"/>
                </a:solidFill>
                <a:latin typeface="Arial" pitchFamily="34" charset="0"/>
                <a:ea typeface="Arial" pitchFamily="34" charset="-122"/>
                <a:cs typeface="Arial" pitchFamily="34" charset="-120"/>
              </a:rPr>
              <a:t>Thêm: </a:t>
            </a:r>
            <a:pPr indent="0" marL="0">
              <a:spcAft>
                <a:spcPts val="500"/>
              </a:spcAft>
              <a:buNone/>
            </a:pPr>
            <a:r>
              <a:rPr lang="en-US" sz="1400" dirty="0">
                <a:solidFill>
                  <a:srgbClr val="4A5263"/>
                </a:solidFill>
                <a:latin typeface="Arial" pitchFamily="34" charset="0"/>
                <a:ea typeface="Arial" pitchFamily="34" charset="-122"/>
                <a:cs typeface="Arial" pitchFamily="34" charset="-120"/>
              </a:rPr>
              <a:t>từng endpoint, realtime, đăng nhập đồng loạt</a:t>
            </a:r>
            <a:endParaRPr lang="en-US" sz="1000" dirty="0"/>
          </a:p>
        </p:txBody>
      </p:sp>
      <p:sp>
        <p:nvSpPr>
          <p:cNvPr id="9" name="Shape 7"/>
          <p:cNvSpPr/>
          <p:nvPr/>
        </p:nvSpPr>
        <p:spPr>
          <a:xfrm>
            <a:off x="548640" y="5120640"/>
            <a:ext cx="3441802" cy="384048"/>
          </a:xfrm>
          <a:prstGeom prst="roundRect">
            <a:avLst>
              <a:gd name="adj" fmla="val 50000"/>
            </a:avLst>
          </a:prstGeom>
          <a:solidFill>
            <a:srgbClr val="E3F4E3"/>
          </a:solidFill>
          <a:ln w="12700">
            <a:solidFill>
              <a:srgbClr val="E3F4E3"/>
            </a:solidFill>
            <a:prstDash val="solid"/>
          </a:ln>
        </p:spPr>
      </p:sp>
      <p:sp>
        <p:nvSpPr>
          <p:cNvPr id="10" name="Shape 8"/>
          <p:cNvSpPr/>
          <p:nvPr/>
        </p:nvSpPr>
        <p:spPr>
          <a:xfrm>
            <a:off x="658368" y="5202936"/>
            <a:ext cx="219456" cy="219456"/>
          </a:xfrm>
          <a:prstGeom prst="ellipse">
            <a:avLst/>
          </a:prstGeom>
          <a:solidFill>
            <a:srgbClr val="0CA30C"/>
          </a:solidFill>
          <a:ln w="12700">
            <a:solidFill>
              <a:srgbClr val="0CA30C"/>
            </a:solidFill>
            <a:prstDash val="solid"/>
          </a:ln>
        </p:spPr>
      </p:sp>
      <p:sp>
        <p:nvSpPr>
          <p:cNvPr id="11" name="Text 9"/>
          <p:cNvSpPr/>
          <p:nvPr/>
        </p:nvSpPr>
        <p:spPr>
          <a:xfrm>
            <a:off x="658368" y="520293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12" name="Text 10"/>
          <p:cNvSpPr/>
          <p:nvPr/>
        </p:nvSpPr>
        <p:spPr>
          <a:xfrm>
            <a:off x="950976" y="5120640"/>
            <a:ext cx="2984602" cy="384048"/>
          </a:xfrm>
          <a:prstGeom prst="rect">
            <a:avLst/>
          </a:prstGeom>
          <a:noFill/>
          <a:ln/>
        </p:spPr>
        <p:txBody>
          <a:bodyPr wrap="square" lIns="0" tIns="0" rIns="0" bIns="0" rtlCol="0" anchor="ctr"/>
          <a:lstStyle/>
          <a:p>
            <a:pPr indent="0" marL="0">
              <a:buNone/>
            </a:pPr>
            <a:r>
              <a:rPr lang="en-US" sz="1200" b="1" dirty="0">
                <a:solidFill>
                  <a:srgbClr val="1B2130"/>
                </a:solidFill>
                <a:latin typeface="Arial" pitchFamily="34" charset="0"/>
                <a:ea typeface="Arial" pitchFamily="34" charset="-122"/>
                <a:cs typeface="Arial" pitchFamily="34" charset="-120"/>
              </a:rPr>
              <a:t>Đạt khi p99 ≤ 1 giây và lỗi ≤ 1%</a:t>
            </a:r>
            <a:endParaRPr lang="en-US" sz="1200" dirty="0"/>
          </a:p>
        </p:txBody>
      </p:sp>
      <p:sp>
        <p:nvSpPr>
          <p:cNvPr id="13" name="Shape 11"/>
          <p:cNvSpPr/>
          <p:nvPr/>
        </p:nvSpPr>
        <p:spPr>
          <a:xfrm>
            <a:off x="4118458" y="5120640"/>
            <a:ext cx="5127041" cy="384048"/>
          </a:xfrm>
          <a:prstGeom prst="roundRect">
            <a:avLst>
              <a:gd name="adj" fmla="val 50000"/>
            </a:avLst>
          </a:prstGeom>
          <a:solidFill>
            <a:srgbClr val="F1F4FA"/>
          </a:solidFill>
          <a:ln w="12700">
            <a:solidFill>
              <a:srgbClr val="F1F4FA"/>
            </a:solidFill>
            <a:prstDash val="solid"/>
          </a:ln>
        </p:spPr>
      </p:sp>
      <p:sp>
        <p:nvSpPr>
          <p:cNvPr id="14" name="Shape 12"/>
          <p:cNvSpPr/>
          <p:nvPr/>
        </p:nvSpPr>
        <p:spPr>
          <a:xfrm>
            <a:off x="4228186" y="5202936"/>
            <a:ext cx="219456" cy="219456"/>
          </a:xfrm>
          <a:prstGeom prst="ellipse">
            <a:avLst/>
          </a:prstGeom>
          <a:solidFill>
            <a:srgbClr val="6B7385"/>
          </a:solidFill>
          <a:ln w="12700">
            <a:solidFill>
              <a:srgbClr val="6B7385"/>
            </a:solidFill>
            <a:prstDash val="solid"/>
          </a:ln>
        </p:spPr>
      </p:sp>
      <p:sp>
        <p:nvSpPr>
          <p:cNvPr id="15" name="Text 13"/>
          <p:cNvSpPr/>
          <p:nvPr/>
        </p:nvSpPr>
        <p:spPr>
          <a:xfrm>
            <a:off x="4228186" y="520293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16" name="Text 14"/>
          <p:cNvSpPr/>
          <p:nvPr/>
        </p:nvSpPr>
        <p:spPr>
          <a:xfrm>
            <a:off x="4520794" y="5120640"/>
            <a:ext cx="4669841" cy="384048"/>
          </a:xfrm>
          <a:prstGeom prst="rect">
            <a:avLst/>
          </a:prstGeom>
          <a:noFill/>
          <a:ln/>
        </p:spPr>
        <p:txBody>
          <a:bodyPr wrap="square" lIns="0" tIns="0" rIns="0" bIns="0" rtlCol="0" anchor="ctr"/>
          <a:lstStyle/>
          <a:p>
            <a:pPr indent="0" marL="0">
              <a:buNone/>
            </a:pPr>
            <a:r>
              <a:rPr lang="en-US" sz="1200" b="1" dirty="0">
                <a:solidFill>
                  <a:srgbClr val="1B2130"/>
                </a:solidFill>
                <a:latin typeface="Arial" pitchFamily="34" charset="0"/>
                <a:ea typeface="Arial" pitchFamily="34" charset="-122"/>
                <a:cs typeface="Arial" pitchFamily="34" charset="-120"/>
              </a:rPr>
              <a:t>Trước và sau: cùng máy, cùng dữ liệu, cùng kịch bản</a:t>
            </a:r>
            <a:endParaRPr lang="en-US" sz="1200" dirty="0"/>
          </a:p>
        </p:txBody>
      </p:sp>
      <p:sp>
        <p:nvSpPr>
          <p:cNvPr id="17" name="Text 15"/>
          <p:cNvSpPr/>
          <p:nvPr/>
        </p:nvSpPr>
        <p:spPr>
          <a:xfrm>
            <a:off x="548640" y="6236208"/>
            <a:ext cx="11094415" cy="411480"/>
          </a:xfrm>
          <a:prstGeom prst="rect">
            <a:avLst/>
          </a:prstGeom>
          <a:noFill/>
          <a:ln/>
        </p:spPr>
        <p:txBody>
          <a:bodyPr wrap="square" lIns="0" tIns="0" rIns="0" bIns="0" rtlCol="0" anchor="t"/>
          <a:lstStyle/>
          <a:p>
            <a:pPr indent="0" marL="0">
              <a:buNone/>
            </a:pPr>
            <a:r>
              <a:rPr lang="en-US" sz="1100" dirty="0">
                <a:solidFill>
                  <a:srgbClr val="6B7385"/>
                </a:solidFill>
                <a:latin typeface="Arial" pitchFamily="34" charset="0"/>
                <a:ea typeface="Arial" pitchFamily="34" charset="-122"/>
                <a:cs typeface="Arial" pitchFamily="34" charset="-120"/>
              </a:rPr>
              <a:t>p99 = 99% lượt truy cập nhanh hơn con số này. Người dùng ảo tải HTML/API, không chạy JavaScript trình duyệt, không qua TLS.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20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KẾT QUẢ CHÍNH</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Có chịu được 1.200 người cùng lúc?</a:t>
            </a:r>
            <a:endParaRPr lang="en-US" sz="2800" dirty="0"/>
          </a:p>
        </p:txBody>
      </p:sp>
      <p:sp>
        <p:nvSpPr>
          <p:cNvPr id="5" name="Shape 3"/>
          <p:cNvSpPr/>
          <p:nvPr/>
        </p:nvSpPr>
        <p:spPr>
          <a:xfrm>
            <a:off x="548640" y="1371600"/>
            <a:ext cx="3530498" cy="384048"/>
          </a:xfrm>
          <a:prstGeom prst="roundRect">
            <a:avLst>
              <a:gd name="adj" fmla="val 50000"/>
            </a:avLst>
          </a:prstGeom>
          <a:solidFill>
            <a:srgbClr val="E3F4E3"/>
          </a:solidFill>
          <a:ln w="12700">
            <a:solidFill>
              <a:srgbClr val="E3F4E3"/>
            </a:solidFill>
            <a:prstDash val="solid"/>
          </a:ln>
        </p:spPr>
      </p:sp>
      <p:sp>
        <p:nvSpPr>
          <p:cNvPr id="6" name="Shape 4"/>
          <p:cNvSpPr/>
          <p:nvPr/>
        </p:nvSpPr>
        <p:spPr>
          <a:xfrm>
            <a:off x="658368" y="1453896"/>
            <a:ext cx="219456" cy="219456"/>
          </a:xfrm>
          <a:prstGeom prst="ellipse">
            <a:avLst/>
          </a:prstGeom>
          <a:solidFill>
            <a:srgbClr val="0CA30C"/>
          </a:solidFill>
          <a:ln w="12700">
            <a:solidFill>
              <a:srgbClr val="0CA30C"/>
            </a:solidFill>
            <a:prstDash val="solid"/>
          </a:ln>
        </p:spPr>
      </p:sp>
      <p:sp>
        <p:nvSpPr>
          <p:cNvPr id="7" name="Text 5"/>
          <p:cNvSpPr/>
          <p:nvPr/>
        </p:nvSpPr>
        <p:spPr>
          <a:xfrm>
            <a:off x="658368" y="145389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 name="Text 6"/>
          <p:cNvSpPr/>
          <p:nvPr/>
        </p:nvSpPr>
        <p:spPr>
          <a:xfrm>
            <a:off x="950976" y="1371600"/>
            <a:ext cx="3073298" cy="384048"/>
          </a:xfrm>
          <a:prstGeom prst="rect">
            <a:avLst/>
          </a:prstGeom>
          <a:noFill/>
          <a:ln/>
        </p:spPr>
        <p:txBody>
          <a:bodyPr wrap="square" lIns="0" tIns="0" rIns="0" bIns="0" rtlCol="0" anchor="ctr"/>
          <a:lstStyle/>
          <a:p>
            <a:pPr indent="0" marL="0">
              <a:buNone/>
            </a:pPr>
            <a:r>
              <a:rPr lang="en-US" sz="1200" b="1" dirty="0">
                <a:solidFill>
                  <a:srgbClr val="1B2130"/>
                </a:solidFill>
                <a:latin typeface="Arial" pitchFamily="34" charset="0"/>
                <a:ea typeface="Arial" pitchFamily="34" charset="-122"/>
                <a:cs typeface="Arial" pitchFamily="34" charset="-120"/>
              </a:rPr>
              <a:t>600 người: từ không đạt thành đạt</a:t>
            </a:r>
            <a:endParaRPr lang="en-US" sz="1200" dirty="0"/>
          </a:p>
        </p:txBody>
      </p:sp>
      <p:sp>
        <p:nvSpPr>
          <p:cNvPr id="9" name="Shape 7"/>
          <p:cNvSpPr/>
          <p:nvPr/>
        </p:nvSpPr>
        <p:spPr>
          <a:xfrm>
            <a:off x="4207154" y="1371600"/>
            <a:ext cx="2820924" cy="384048"/>
          </a:xfrm>
          <a:prstGeom prst="roundRect">
            <a:avLst>
              <a:gd name="adj" fmla="val 50000"/>
            </a:avLst>
          </a:prstGeom>
          <a:solidFill>
            <a:srgbClr val="FDF1D6"/>
          </a:solidFill>
          <a:ln w="12700">
            <a:solidFill>
              <a:srgbClr val="FDF1D6"/>
            </a:solidFill>
            <a:prstDash val="solid"/>
          </a:ln>
        </p:spPr>
      </p:sp>
      <p:sp>
        <p:nvSpPr>
          <p:cNvPr id="10" name="Shape 8"/>
          <p:cNvSpPr/>
          <p:nvPr/>
        </p:nvSpPr>
        <p:spPr>
          <a:xfrm>
            <a:off x="4316882" y="1453896"/>
            <a:ext cx="219456" cy="219456"/>
          </a:xfrm>
          <a:prstGeom prst="ellipse">
            <a:avLst/>
          </a:prstGeom>
          <a:solidFill>
            <a:srgbClr val="FAB219"/>
          </a:solidFill>
          <a:ln w="12700">
            <a:solidFill>
              <a:srgbClr val="FAB219"/>
            </a:solidFill>
            <a:prstDash val="solid"/>
          </a:ln>
        </p:spPr>
      </p:sp>
      <p:sp>
        <p:nvSpPr>
          <p:cNvPr id="11" name="Text 9"/>
          <p:cNvSpPr/>
          <p:nvPr/>
        </p:nvSpPr>
        <p:spPr>
          <a:xfrm>
            <a:off x="4316882" y="1453896"/>
            <a:ext cx="219456" cy="219456"/>
          </a:xfrm>
          <a:prstGeom prst="rect">
            <a:avLst/>
          </a:prstGeom>
          <a:noFill/>
          <a:ln/>
        </p:spPr>
        <p:txBody>
          <a:bodyPr wrap="square" lIns="0" tIns="0" rIns="0" bIns="0" rtlCol="0" anchor="ctr"/>
          <a:lstStyle/>
          <a:p>
            <a:pPr algn="ctr" indent="0" marL="0">
              <a:buNone/>
            </a:pPr>
            <a:r>
              <a:rPr lang="en-US" sz="900" b="1" dirty="0">
                <a:solidFill>
                  <a:srgbClr val="4A3300"/>
                </a:solidFill>
                <a:latin typeface="Arial" pitchFamily="34" charset="0"/>
                <a:ea typeface="Arial" pitchFamily="34" charset="-122"/>
                <a:cs typeface="Arial" pitchFamily="34" charset="-120"/>
              </a:rPr>
              <a:t>!</a:t>
            </a:r>
            <a:endParaRPr lang="en-US" sz="900" dirty="0"/>
          </a:p>
        </p:txBody>
      </p:sp>
      <p:sp>
        <p:nvSpPr>
          <p:cNvPr id="12" name="Text 10"/>
          <p:cNvSpPr/>
          <p:nvPr/>
        </p:nvSpPr>
        <p:spPr>
          <a:xfrm>
            <a:off x="4609490" y="1371600"/>
            <a:ext cx="2363724" cy="384048"/>
          </a:xfrm>
          <a:prstGeom prst="rect">
            <a:avLst/>
          </a:prstGeom>
          <a:noFill/>
          <a:ln/>
        </p:spPr>
        <p:txBody>
          <a:bodyPr wrap="square" lIns="0" tIns="0" rIns="0" bIns="0" rtlCol="0" anchor="ctr"/>
          <a:lstStyle/>
          <a:p>
            <a:pPr indent="0" marL="0">
              <a:buNone/>
            </a:pPr>
            <a:r>
              <a:rPr lang="en-US" sz="1200" b="1" dirty="0">
                <a:solidFill>
                  <a:srgbClr val="1B2130"/>
                </a:solidFill>
                <a:latin typeface="Arial" pitchFamily="34" charset="0"/>
                <a:ea typeface="Arial" pitchFamily="34" charset="-122"/>
                <a:cs typeface="Arial" pitchFamily="34" charset="-120"/>
              </a:rPr>
              <a:t>800 người: 5,3 s → 1,19 s</a:t>
            </a:r>
            <a:endParaRPr lang="en-US" sz="1200" dirty="0"/>
          </a:p>
        </p:txBody>
      </p:sp>
      <p:sp>
        <p:nvSpPr>
          <p:cNvPr id="13" name="Shape 11"/>
          <p:cNvSpPr/>
          <p:nvPr/>
        </p:nvSpPr>
        <p:spPr>
          <a:xfrm>
            <a:off x="7156094" y="1371600"/>
            <a:ext cx="2909621" cy="384048"/>
          </a:xfrm>
          <a:prstGeom prst="roundRect">
            <a:avLst>
              <a:gd name="adj" fmla="val 50000"/>
            </a:avLst>
          </a:prstGeom>
          <a:solidFill>
            <a:srgbClr val="FBE6E5"/>
          </a:solidFill>
          <a:ln w="12700">
            <a:solidFill>
              <a:srgbClr val="FBE6E5"/>
            </a:solidFill>
            <a:prstDash val="solid"/>
          </a:ln>
        </p:spPr>
      </p:sp>
      <p:sp>
        <p:nvSpPr>
          <p:cNvPr id="14" name="Shape 12"/>
          <p:cNvSpPr/>
          <p:nvPr/>
        </p:nvSpPr>
        <p:spPr>
          <a:xfrm>
            <a:off x="7265822" y="1453896"/>
            <a:ext cx="219456" cy="219456"/>
          </a:xfrm>
          <a:prstGeom prst="ellipse">
            <a:avLst/>
          </a:prstGeom>
          <a:solidFill>
            <a:srgbClr val="D03B3B"/>
          </a:solidFill>
          <a:ln w="12700">
            <a:solidFill>
              <a:srgbClr val="D03B3B"/>
            </a:solidFill>
            <a:prstDash val="solid"/>
          </a:ln>
        </p:spPr>
      </p:sp>
      <p:sp>
        <p:nvSpPr>
          <p:cNvPr id="15" name="Text 13"/>
          <p:cNvSpPr/>
          <p:nvPr/>
        </p:nvSpPr>
        <p:spPr>
          <a:xfrm>
            <a:off x="7265822" y="145389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16" name="Text 14"/>
          <p:cNvSpPr/>
          <p:nvPr/>
        </p:nvSpPr>
        <p:spPr>
          <a:xfrm>
            <a:off x="7558430" y="1371600"/>
            <a:ext cx="2452421" cy="384048"/>
          </a:xfrm>
          <a:prstGeom prst="rect">
            <a:avLst/>
          </a:prstGeom>
          <a:noFill/>
          <a:ln/>
        </p:spPr>
        <p:txBody>
          <a:bodyPr wrap="square" lIns="0" tIns="0" rIns="0" bIns="0" rtlCol="0" anchor="ctr"/>
          <a:lstStyle/>
          <a:p>
            <a:pPr indent="0" marL="0">
              <a:buNone/>
            </a:pPr>
            <a:r>
              <a:rPr lang="en-US" sz="1200" b="1" dirty="0">
                <a:solidFill>
                  <a:srgbClr val="1B2130"/>
                </a:solidFill>
                <a:latin typeface="Arial" pitchFamily="34" charset="0"/>
                <a:ea typeface="Arial" pitchFamily="34" charset="-122"/>
                <a:cs typeface="Arial" pitchFamily="34" charset="-120"/>
              </a:rPr>
              <a:t>1.200 người: 7,6 s → 4,3 s</a:t>
            </a:r>
            <a:endParaRPr lang="en-US" sz="1200" dirty="0"/>
          </a:p>
        </p:txBody>
      </p:sp>
      <p:sp>
        <p:nvSpPr>
          <p:cNvPr id="17" name="Shape 15"/>
          <p:cNvSpPr/>
          <p:nvPr/>
        </p:nvSpPr>
        <p:spPr>
          <a:xfrm>
            <a:off x="10193731" y="1371600"/>
            <a:ext cx="1135685" cy="384048"/>
          </a:xfrm>
          <a:prstGeom prst="roundRect">
            <a:avLst>
              <a:gd name="adj" fmla="val 50000"/>
            </a:avLst>
          </a:prstGeom>
          <a:solidFill>
            <a:srgbClr val="F1F4FA"/>
          </a:solidFill>
          <a:ln w="12700">
            <a:solidFill>
              <a:srgbClr val="F1F4FA"/>
            </a:solidFill>
            <a:prstDash val="solid"/>
          </a:ln>
        </p:spPr>
      </p:sp>
      <p:sp>
        <p:nvSpPr>
          <p:cNvPr id="18" name="Shape 16"/>
          <p:cNvSpPr/>
          <p:nvPr/>
        </p:nvSpPr>
        <p:spPr>
          <a:xfrm>
            <a:off x="10303459" y="1453896"/>
            <a:ext cx="219456" cy="219456"/>
          </a:xfrm>
          <a:prstGeom prst="ellipse">
            <a:avLst/>
          </a:prstGeom>
          <a:solidFill>
            <a:srgbClr val="6B7385"/>
          </a:solidFill>
          <a:ln w="12700">
            <a:solidFill>
              <a:srgbClr val="6B7385"/>
            </a:solidFill>
            <a:prstDash val="solid"/>
          </a:ln>
        </p:spPr>
      </p:sp>
      <p:sp>
        <p:nvSpPr>
          <p:cNvPr id="19" name="Text 17"/>
          <p:cNvSpPr/>
          <p:nvPr/>
        </p:nvSpPr>
        <p:spPr>
          <a:xfrm>
            <a:off x="10303459" y="145389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a:t>
            </a:r>
            <a:endParaRPr lang="en-US" sz="900" dirty="0"/>
          </a:p>
        </p:txBody>
      </p:sp>
      <p:sp>
        <p:nvSpPr>
          <p:cNvPr id="20" name="Text 18"/>
          <p:cNvSpPr/>
          <p:nvPr/>
        </p:nvSpPr>
        <p:spPr>
          <a:xfrm>
            <a:off x="10596067" y="1371600"/>
            <a:ext cx="678485" cy="384048"/>
          </a:xfrm>
          <a:prstGeom prst="rect">
            <a:avLst/>
          </a:prstGeom>
          <a:noFill/>
          <a:ln/>
        </p:spPr>
        <p:txBody>
          <a:bodyPr wrap="square" lIns="0" tIns="0" rIns="0" bIns="0" rtlCol="0" anchor="ctr"/>
          <a:lstStyle/>
          <a:p>
            <a:pPr indent="0" marL="0">
              <a:buNone/>
            </a:pPr>
            <a:r>
              <a:rPr lang="en-US" sz="1200" b="1" dirty="0">
                <a:solidFill>
                  <a:srgbClr val="1B2130"/>
                </a:solidFill>
                <a:latin typeface="Arial" pitchFamily="34" charset="0"/>
                <a:ea typeface="Arial" pitchFamily="34" charset="-122"/>
                <a:cs typeface="Arial" pitchFamily="34" charset="-120"/>
              </a:rPr>
              <a:t>Lỗi 0%</a:t>
            </a:r>
            <a:endParaRPr lang="en-US" sz="1200" dirty="0"/>
          </a:p>
        </p:txBody>
      </p:sp>
      <p:graphicFrame>
        <p:nvGraphicFramePr>
          <p:cNvPr id="21" name="Chart 0" descr=""/>
          <p:cNvGraphicFramePr/>
          <p:nvPr/>
        </p:nvGraphicFramePr>
        <p:xfrm>
          <a:off x="548640" y="1874520"/>
          <a:ext cx="11094415" cy="4251960"/>
        </p:xfrm>
        <a:graphic xmlns:a="http://schemas.openxmlformats.org/drawingml/2006/main">
          <a:graphicData uri="http://schemas.openxmlformats.org/drawingml/2006/chart">
            <c:chart xmlns:c="http://schemas.openxmlformats.org/drawingml/2006/chart" r:id="rId1"/>
          </a:graphicData>
        </a:graphic>
      </p:graphicFrame>
      <p:sp>
        <p:nvSpPr>
          <p:cNvPr id="22" name="Text 19"/>
          <p:cNvSpPr/>
          <p:nvPr/>
        </p:nvSpPr>
        <p:spPr>
          <a:xfrm>
            <a:off x="548640" y="6236208"/>
            <a:ext cx="11094415" cy="411480"/>
          </a:xfrm>
          <a:prstGeom prst="rect">
            <a:avLst/>
          </a:prstGeom>
          <a:noFill/>
          <a:ln/>
        </p:spPr>
        <p:txBody>
          <a:bodyPr wrap="square" lIns="0" tIns="0" rIns="0" bIns="0" rtlCol="0" anchor="t"/>
          <a:lstStyle/>
          <a:p>
            <a:pPr indent="0" marL="0">
              <a:buNone/>
            </a:pPr>
            <a:r>
              <a:rPr lang="en-US" sz="1100" dirty="0">
                <a:solidFill>
                  <a:srgbClr val="6B7385"/>
                </a:solidFill>
                <a:latin typeface="Arial" pitchFamily="34" charset="0"/>
                <a:ea typeface="Arial" pitchFamily="34" charset="-122"/>
                <a:cs typeface="Arial" pitchFamily="34" charset="-120"/>
              </a:rPr>
              <a:t>Sau khi sửa, laptop này chịu được ước tính 600–750 người online (600 đạt, 800 sát ngưỡng). Mọi mức tải đều 0% lỗi: chậm đi khi quá tải chứ không sập.</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21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TỪNG ENDPOINT</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API nhẹ chạy nhanh, trang nhóm vẫn là nút thắt</a:t>
            </a:r>
            <a:endParaRPr lang="en-US" sz="2800" dirty="0"/>
          </a:p>
        </p:txBody>
      </p:sp>
      <p:sp>
        <p:nvSpPr>
          <p:cNvPr id="5" name="Text 3"/>
          <p:cNvSpPr/>
          <p:nvPr/>
        </p:nvSpPr>
        <p:spPr>
          <a:xfrm>
            <a:off x="548640" y="1417320"/>
            <a:ext cx="11094415" cy="365760"/>
          </a:xfrm>
          <a:prstGeom prst="rect">
            <a:avLst/>
          </a:prstGeom>
          <a:noFill/>
          <a:ln/>
        </p:spPr>
        <p:txBody>
          <a:bodyPr wrap="square" lIns="0" tIns="0" rIns="0" bIns="0" rtlCol="0" anchor="ctr"/>
          <a:lstStyle/>
          <a:p>
            <a:pPr indent="0" marL="0">
              <a:buNone/>
            </a:pPr>
            <a:r>
              <a:rPr lang="en-US" sz="1400" dirty="0">
                <a:solidFill>
                  <a:srgbClr val="4A5263"/>
                </a:solidFill>
                <a:latin typeface="Arial" pitchFamily="34" charset="0"/>
                <a:ea typeface="Arial" pitchFamily="34" charset="-122"/>
                <a:cs typeface="Arial" pitchFamily="34" charset="-120"/>
              </a:rPr>
              <a:t>Thông lượng cao nhất (lượt/giây) mà p99 vẫn ≤ 1 giây, 4 worker, kết nối liên tục không nghỉ.</a:t>
            </a:r>
            <a:endParaRPr lang="en-US" sz="1400" dirty="0"/>
          </a:p>
        </p:txBody>
      </p:sp>
      <p:graphicFrame>
        <p:nvGraphicFramePr>
          <p:cNvPr id="6" name="Chart 0" descr=""/>
          <p:cNvGraphicFramePr/>
          <p:nvPr/>
        </p:nvGraphicFramePr>
        <p:xfrm>
          <a:off x="548640" y="1828800"/>
          <a:ext cx="11094415" cy="4297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48640" y="6236208"/>
            <a:ext cx="11094415" cy="411480"/>
          </a:xfrm>
          <a:prstGeom prst="rect">
            <a:avLst/>
          </a:prstGeom>
          <a:noFill/>
          <a:ln/>
        </p:spPr>
        <p:txBody>
          <a:bodyPr wrap="square" lIns="0" tIns="0" rIns="0" bIns="0" rtlCol="0" anchor="t"/>
          <a:lstStyle/>
          <a:p>
            <a:pPr indent="0" marL="0">
              <a:buNone/>
            </a:pPr>
            <a:r>
              <a:rPr lang="en-US" sz="1100" dirty="0">
                <a:solidFill>
                  <a:srgbClr val="6B7385"/>
                </a:solidFill>
                <a:latin typeface="Arial" pitchFamily="34" charset="0"/>
                <a:ea typeface="Arial" pitchFamily="34" charset="-122"/>
                <a:cs typeface="Arial" pitchFamily="34" charset="-120"/>
              </a:rPr>
              <a:t>Profile CPU khi dồn tải trang nhóm: ~57% thời gian là render React và ghi stream, Prisma chỉ ~7%. Trang nặng ~230 KB, trong đó 92 KB là class CSS.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22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VIỆC CÒN LẠI</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Còn lại gì để đạt 1.200 người</a:t>
            </a:r>
            <a:endParaRPr lang="en-US" sz="2800" dirty="0"/>
          </a:p>
        </p:txBody>
      </p:sp>
      <p:sp>
        <p:nvSpPr>
          <p:cNvPr id="5" name="Shape 3"/>
          <p:cNvSpPr/>
          <p:nvPr/>
        </p:nvSpPr>
        <p:spPr>
          <a:xfrm>
            <a:off x="548640" y="1463040"/>
            <a:ext cx="3515258" cy="4480560"/>
          </a:xfrm>
          <a:prstGeom prst="roundRect">
            <a:avLst>
              <a:gd name="adj" fmla="val 2081"/>
            </a:avLst>
          </a:prstGeom>
          <a:solidFill>
            <a:srgbClr val="F1F4FA"/>
          </a:solidFill>
          <a:ln w="12700">
            <a:solidFill>
              <a:srgbClr val="F1F4FA"/>
            </a:solidFill>
            <a:prstDash val="solid"/>
          </a:ln>
        </p:spPr>
      </p:sp>
      <p:sp>
        <p:nvSpPr>
          <p:cNvPr id="6" name="Text 4"/>
          <p:cNvSpPr/>
          <p:nvPr/>
        </p:nvSpPr>
        <p:spPr>
          <a:xfrm>
            <a:off x="548640" y="1463040"/>
            <a:ext cx="3515258" cy="448056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CÒN TỒN TẠI</a:t>
            </a:r>
            <a:endParaRPr lang="en-US" sz="1000" dirty="0"/>
          </a:p>
          <a:p>
            <a:pPr marL="177800" indent="-177800">
              <a:spcAft>
                <a:spcPts val="500"/>
              </a:spcAft>
              <a:buSzPct val="100000"/>
              <a:buChar char="•"/>
            </a:pPr>
            <a:r>
              <a:rPr lang="en-US" sz="1450" dirty="0">
                <a:solidFill>
                  <a:srgbClr val="4A5263"/>
                </a:solidFill>
                <a:latin typeface="Arial" pitchFamily="34" charset="0"/>
                <a:ea typeface="Arial" pitchFamily="34" charset="-122"/>
                <a:cs typeface="Arial" pitchFamily="34" charset="-120"/>
              </a:rPr>
              <a:t>Tab Hóa đơn render ~230 KB mỗi lượt, 58–69 req/s</a:t>
            </a:r>
            <a:endParaRPr lang="en-US" sz="1000" dirty="0"/>
          </a:p>
          <a:p>
            <a:pPr marL="177800" indent="-177800">
              <a:spcAft>
                <a:spcPts val="500"/>
              </a:spcAft>
              <a:buSzPct val="100000"/>
              <a:buChar char="•"/>
            </a:pPr>
            <a:r>
              <a:rPr lang="en-US" sz="1450" dirty="0">
                <a:solidFill>
                  <a:srgbClr val="4A5263"/>
                </a:solidFill>
                <a:latin typeface="Arial" pitchFamily="34" charset="0"/>
                <a:ea typeface="Arial" pitchFamily="34" charset="-122"/>
                <a:cs typeface="Arial" pitchFamily="34" charset="-120"/>
              </a:rPr>
              <a:t>1.200 người cùng mở một tab trong 1 giây: p99 17 s</a:t>
            </a:r>
            <a:endParaRPr lang="en-US" sz="1000" dirty="0"/>
          </a:p>
          <a:p>
            <a:pPr marL="177800" indent="-177800">
              <a:spcAft>
                <a:spcPts val="500"/>
              </a:spcAft>
              <a:buSzPct val="100000"/>
              <a:buChar char="•"/>
            </a:pPr>
            <a:r>
              <a:rPr lang="en-US" sz="1450" dirty="0">
                <a:solidFill>
                  <a:srgbClr val="4A5263"/>
                </a:solidFill>
                <a:latin typeface="Arial" pitchFamily="34" charset="0"/>
                <a:ea typeface="Arial" pitchFamily="34" charset="-122"/>
                <a:cs typeface="Arial" pitchFamily="34" charset="-120"/>
              </a:rPr>
              <a:t>Laptop chỉ chịu ~600–750 người online</a:t>
            </a:r>
            <a:endParaRPr lang="en-US" sz="1000" dirty="0"/>
          </a:p>
        </p:txBody>
      </p:sp>
      <p:sp>
        <p:nvSpPr>
          <p:cNvPr id="7" name="Shape 5"/>
          <p:cNvSpPr/>
          <p:nvPr/>
        </p:nvSpPr>
        <p:spPr>
          <a:xfrm>
            <a:off x="4338218" y="1463040"/>
            <a:ext cx="3515258" cy="4480560"/>
          </a:xfrm>
          <a:prstGeom prst="roundRect">
            <a:avLst>
              <a:gd name="adj" fmla="val 2081"/>
            </a:avLst>
          </a:prstGeom>
          <a:solidFill>
            <a:srgbClr val="F1F4FA"/>
          </a:solidFill>
          <a:ln w="12700">
            <a:solidFill>
              <a:srgbClr val="F1F4FA"/>
            </a:solidFill>
            <a:prstDash val="solid"/>
          </a:ln>
        </p:spPr>
      </p:sp>
      <p:sp>
        <p:nvSpPr>
          <p:cNvPr id="8" name="Text 6"/>
          <p:cNvSpPr/>
          <p:nvPr/>
        </p:nvSpPr>
        <p:spPr>
          <a:xfrm>
            <a:off x="4338218" y="1463040"/>
            <a:ext cx="3515258" cy="448056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CODE</a:t>
            </a:r>
            <a:endParaRPr lang="en-US" sz="1000" dirty="0"/>
          </a:p>
          <a:p>
            <a:pPr marL="177800" indent="-177800">
              <a:spcAft>
                <a:spcPts val="500"/>
              </a:spcAft>
              <a:buSzPct val="100000"/>
              <a:buChar char="•"/>
            </a:pPr>
            <a:r>
              <a:rPr lang="en-US" sz="1450" dirty="0">
                <a:solidFill>
                  <a:srgbClr val="4A5263"/>
                </a:solidFill>
                <a:latin typeface="Arial" pitchFamily="34" charset="0"/>
                <a:ea typeface="Arial" pitchFamily="34" charset="-122"/>
                <a:cs typeface="Arial" pitchFamily="34" charset="-120"/>
              </a:rPr>
              <a:t>Giảm giao diện tab Hóa đơn: tải thêm khi cuộn, tách phần ít dùng</a:t>
            </a:r>
            <a:endParaRPr lang="en-US" sz="1000" dirty="0"/>
          </a:p>
          <a:p>
            <a:pPr marL="177800" indent="-177800">
              <a:spcAft>
                <a:spcPts val="500"/>
              </a:spcAft>
              <a:buSzPct val="100000"/>
              <a:buChar char="•"/>
            </a:pPr>
            <a:r>
              <a:rPr lang="en-US" sz="1450" dirty="0">
                <a:solidFill>
                  <a:srgbClr val="4A5263"/>
                </a:solidFill>
                <a:latin typeface="Arial" pitchFamily="34" charset="0"/>
                <a:ea typeface="Arial" pitchFamily="34" charset="-122"/>
                <a:cs typeface="Arial" pitchFamily="34" charset="-120"/>
              </a:rPr>
              <a:t>Đẩy số thông báo qua SSE thay cho hỏi định kỳ</a:t>
            </a:r>
            <a:endParaRPr lang="en-US" sz="1000" dirty="0"/>
          </a:p>
          <a:p>
            <a:pPr marL="177800" indent="-177800">
              <a:spcAft>
                <a:spcPts val="500"/>
              </a:spcAft>
              <a:buSzPct val="100000"/>
              <a:buChar char="•"/>
            </a:pPr>
            <a:r>
              <a:rPr lang="en-US" sz="1450" dirty="0">
                <a:solidFill>
                  <a:srgbClr val="4A5263"/>
                </a:solidFill>
                <a:latin typeface="Arial" pitchFamily="34" charset="0"/>
                <a:ea typeface="Arial" pitchFamily="34" charset="-122"/>
                <a:cs typeface="Arial" pitchFamily="34" charset="-120"/>
              </a:rPr>
              <a:t>Cache dữ liệu ít đổi của nhóm (thành viên, cài đặt)</a:t>
            </a:r>
            <a:endParaRPr lang="en-US" sz="1000" dirty="0"/>
          </a:p>
        </p:txBody>
      </p:sp>
      <p:sp>
        <p:nvSpPr>
          <p:cNvPr id="9" name="Shape 7"/>
          <p:cNvSpPr/>
          <p:nvPr/>
        </p:nvSpPr>
        <p:spPr>
          <a:xfrm>
            <a:off x="8127797" y="1463040"/>
            <a:ext cx="3515258" cy="4480560"/>
          </a:xfrm>
          <a:prstGeom prst="roundRect">
            <a:avLst>
              <a:gd name="adj" fmla="val 2081"/>
            </a:avLst>
          </a:prstGeom>
          <a:solidFill>
            <a:srgbClr val="F1F4FA"/>
          </a:solidFill>
          <a:ln w="12700">
            <a:solidFill>
              <a:srgbClr val="F1F4FA"/>
            </a:solidFill>
            <a:prstDash val="solid"/>
          </a:ln>
        </p:spPr>
      </p:sp>
      <p:sp>
        <p:nvSpPr>
          <p:cNvPr id="10" name="Text 8"/>
          <p:cNvSpPr/>
          <p:nvPr/>
        </p:nvSpPr>
        <p:spPr>
          <a:xfrm>
            <a:off x="8127797" y="1463040"/>
            <a:ext cx="3515258" cy="4480560"/>
          </a:xfrm>
          <a:prstGeom prst="rect">
            <a:avLst/>
          </a:prstGeom>
          <a:noFill/>
          <a:ln/>
        </p:spPr>
        <p:txBody>
          <a:bodyPr wrap="square" lIns="114300" tIns="152400" rIns="152400" bIns="114300" rtlCol="0" anchor="t"/>
          <a:lstStyle/>
          <a:p>
            <a:pPr indent="0" marL="0">
              <a:spcAft>
                <a:spcPts val="500"/>
              </a:spcAft>
              <a:buNone/>
            </a:pPr>
            <a:r>
              <a:rPr lang="en-US" sz="1000" spc="100" kern="0" dirty="0">
                <a:solidFill>
                  <a:srgbClr val="6B7385"/>
                </a:solidFill>
                <a:latin typeface="Arial" pitchFamily="34" charset="0"/>
                <a:ea typeface="Arial" pitchFamily="34" charset="-122"/>
                <a:cs typeface="Arial" pitchFamily="34" charset="-120"/>
              </a:rPr>
              <a:t>HẠ TẦNG</a:t>
            </a:r>
            <a:endParaRPr lang="en-US" sz="1000" dirty="0"/>
          </a:p>
          <a:p>
            <a:pPr marL="177800" indent="-177800">
              <a:spcAft>
                <a:spcPts val="500"/>
              </a:spcAft>
              <a:buSzPct val="100000"/>
              <a:buChar char="•"/>
            </a:pPr>
            <a:r>
              <a:rPr lang="en-US" sz="1450" dirty="0">
                <a:solidFill>
                  <a:srgbClr val="4A5263"/>
                </a:solidFill>
                <a:latin typeface="Arial" pitchFamily="34" charset="0"/>
                <a:ea typeface="Arial" pitchFamily="34" charset="-122"/>
                <a:cs typeface="Arial" pitchFamily="34" charset="-120"/>
              </a:rPr>
              <a:t>Đo lại trên server Linux, ít nhất 4 vCPU riêng cho app, máy phát tải riêng, qua HTTPS</a:t>
            </a:r>
            <a:endParaRPr lang="en-US" sz="1000" dirty="0"/>
          </a:p>
          <a:p>
            <a:pPr marL="177800" indent="-177800">
              <a:spcAft>
                <a:spcPts val="500"/>
              </a:spcAft>
              <a:buSzPct val="100000"/>
              <a:buChar char="•"/>
            </a:pPr>
            <a:r>
              <a:rPr lang="en-US" sz="1450" dirty="0">
                <a:solidFill>
                  <a:srgbClr val="4A5263"/>
                </a:solidFill>
                <a:latin typeface="Arial" pitchFamily="34" charset="0"/>
                <a:ea typeface="Arial" pitchFamily="34" charset="-122"/>
                <a:cs typeface="Arial" pitchFamily="34" charset="-120"/>
              </a:rPr>
              <a:t>Nhiều bản sao app sau load balancer, thêm PgBouncer</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2743200" cy="274320"/>
          </a:xfrm>
          <a:prstGeom prst="rect">
            <a:avLst/>
          </a:prstGeom>
          <a:noFill/>
          <a:ln/>
        </p:spPr>
        <p:txBody>
          <a:bodyPr wrap="square" lIns="0" tIns="0" rIns="0" bIns="0" rtlCol="0" anchor="ctr"/>
          <a:lstStyle/>
          <a:p>
            <a:pPr indent="0" marL="0">
              <a:buNone/>
            </a:pPr>
            <a:r>
              <a:rPr lang="en-US" sz="1000" spc="100" kern="0" dirty="0">
                <a:solidFill>
                  <a:srgbClr val="6B7385"/>
                </a:solidFill>
                <a:latin typeface="Arial" pitchFamily="34" charset="0"/>
                <a:ea typeface="Arial" pitchFamily="34" charset="-122"/>
                <a:cs typeface="Arial" pitchFamily="34" charset="-120"/>
              </a:rPr>
              <a:t>23 / 23</a:t>
            </a:r>
            <a:endParaRPr lang="en-US" sz="1000" dirty="0"/>
          </a:p>
        </p:txBody>
      </p:sp>
      <p:sp>
        <p:nvSpPr>
          <p:cNvPr id="3" name="Text 1"/>
          <p:cNvSpPr/>
          <p:nvPr/>
        </p:nvSpPr>
        <p:spPr>
          <a:xfrm>
            <a:off x="6156655" y="256032"/>
            <a:ext cx="5486400" cy="274320"/>
          </a:xfrm>
          <a:prstGeom prst="rect">
            <a:avLst/>
          </a:prstGeom>
          <a:noFill/>
          <a:ln/>
        </p:spPr>
        <p:txBody>
          <a:bodyPr wrap="square" lIns="0" tIns="0" rIns="0" bIns="0" rtlCol="0" anchor="ctr"/>
          <a:lstStyle/>
          <a:p>
            <a:pPr algn="r" indent="0" marL="0">
              <a:buNone/>
            </a:pPr>
            <a:r>
              <a:rPr lang="en-US" sz="1000" spc="100" kern="0" dirty="0">
                <a:solidFill>
                  <a:srgbClr val="6B7385"/>
                </a:solidFill>
                <a:latin typeface="Arial" pitchFamily="34" charset="0"/>
                <a:ea typeface="Arial" pitchFamily="34" charset="-122"/>
                <a:cs typeface="Arial" pitchFamily="34" charset="-120"/>
              </a:rPr>
              <a:t>KẾT LUẬN</a:t>
            </a:r>
            <a:endParaRPr lang="en-US" sz="1000" dirty="0"/>
          </a:p>
        </p:txBody>
      </p:sp>
      <p:sp>
        <p:nvSpPr>
          <p:cNvPr id="4" name="Text 2"/>
          <p:cNvSpPr/>
          <p:nvPr/>
        </p:nvSpPr>
        <p:spPr>
          <a:xfrm>
            <a:off x="548640" y="566928"/>
            <a:ext cx="11094415" cy="822960"/>
          </a:xfrm>
          <a:prstGeom prst="rect">
            <a:avLst/>
          </a:prstGeom>
          <a:noFill/>
          <a:ln/>
        </p:spPr>
        <p:txBody>
          <a:bodyPr wrap="square" lIns="0" tIns="0" rIns="0" bIns="0" rtlCol="0" anchor="t"/>
          <a:lstStyle/>
          <a:p>
            <a:pPr indent="0" marL="0">
              <a:buNone/>
            </a:pPr>
            <a:r>
              <a:rPr lang="en-US" sz="2800" b="1" dirty="0">
                <a:solidFill>
                  <a:srgbClr val="1B2130"/>
                </a:solidFill>
                <a:latin typeface="Arial" pitchFamily="34" charset="0"/>
                <a:ea typeface="Arial" pitchFamily="34" charset="-122"/>
                <a:cs typeface="Arial" pitchFamily="34" charset="-120"/>
              </a:rPr>
              <a:t>Kết luận</a:t>
            </a:r>
            <a:endParaRPr lang="en-US" sz="2800" dirty="0"/>
          </a:p>
        </p:txBody>
      </p:sp>
      <p:sp>
        <p:nvSpPr>
          <p:cNvPr id="5" name="Text 3"/>
          <p:cNvSpPr/>
          <p:nvPr/>
        </p:nvSpPr>
        <p:spPr>
          <a:xfrm>
            <a:off x="548640" y="1600200"/>
            <a:ext cx="11094415" cy="4206240"/>
          </a:xfrm>
          <a:prstGeom prst="rect">
            <a:avLst/>
          </a:prstGeom>
          <a:noFill/>
          <a:ln/>
        </p:spPr>
        <p:txBody>
          <a:bodyPr wrap="square" lIns="0" tIns="0" rIns="0" bIns="0" rtlCol="0" anchor="t"/>
          <a:lstStyle/>
          <a:p>
            <a:pPr marL="177800" indent="-177800">
              <a:spcAft>
                <a:spcPts val="1600"/>
              </a:spcAft>
              <a:buSzPct val="100000"/>
              <a:buChar char="•"/>
            </a:pPr>
            <a:r>
              <a:rPr lang="en-US" sz="1800" b="1" dirty="0">
                <a:solidFill>
                  <a:srgbClr val="1B2130"/>
                </a:solidFill>
                <a:latin typeface="Arial" pitchFamily="34" charset="0"/>
                <a:ea typeface="Arial" pitchFamily="34" charset="-122"/>
                <a:cs typeface="Arial" pitchFamily="34" charset="-120"/>
              </a:rPr>
              <a:t>Sản phẩm: </a:t>
            </a:r>
            <a:pPr indent="0" marL="0">
              <a:spcAft>
                <a:spcPts val="1600"/>
              </a:spcAft>
              <a:buNone/>
            </a:pPr>
            <a:r>
              <a:rPr lang="en-US" sz="1800" dirty="0">
                <a:solidFill>
                  <a:srgbClr val="4A5263"/>
                </a:solidFill>
                <a:latin typeface="Arial" pitchFamily="34" charset="0"/>
                <a:ea typeface="Arial" pitchFamily="34" charset="-122"/>
                <a:cs typeface="Arial" pitchFamily="34" charset="-120"/>
              </a:rPr>
              <a:t>chia hóa đơn 4 cách, tự tính nợ gom qua trưởng nhóm, trả nợ bằng VietQR và tự gạch nợ qua SePay, realtime nhiều tiến trình.</a:t>
            </a:r>
            <a:endParaRPr lang="en-US" sz="1800" dirty="0"/>
          </a:p>
          <a:p>
            <a:pPr marL="177800" indent="-177800">
              <a:spcAft>
                <a:spcPts val="1600"/>
              </a:spcAft>
              <a:buSzPct val="100000"/>
              <a:buChar char="•"/>
            </a:pPr>
            <a:r>
              <a:rPr lang="en-US" sz="1800" b="1" dirty="0">
                <a:solidFill>
                  <a:srgbClr val="1B2130"/>
                </a:solidFill>
                <a:latin typeface="Arial" pitchFamily="34" charset="0"/>
                <a:ea typeface="Arial" pitchFamily="34" charset="-122"/>
                <a:cs typeface="Arial" pitchFamily="34" charset="-120"/>
              </a:rPr>
              <a:t>Đã sửa: </a:t>
            </a:r>
            <a:pPr indent="0" marL="0">
              <a:spcAft>
                <a:spcPts val="1600"/>
              </a:spcAft>
              <a:buNone/>
            </a:pPr>
            <a:r>
              <a:rPr lang="en-US" sz="1800" dirty="0">
                <a:solidFill>
                  <a:srgbClr val="4A5263"/>
                </a:solidFill>
                <a:latin typeface="Arial" pitchFamily="34" charset="0"/>
                <a:ea typeface="Arial" pitchFamily="34" charset="-122"/>
                <a:cs typeface="Arial" pitchFamily="34" charset="-120"/>
              </a:rPr>
              <a:t>5 lỗi về thông báo trùng, gạch nợ sai và đăng nhập không giới hạn, mỗi lỗi đều có kiểm chứng sau khi sửa.</a:t>
            </a:r>
            <a:endParaRPr lang="en-US" sz="1800" dirty="0"/>
          </a:p>
          <a:p>
            <a:pPr marL="177800" indent="-177800">
              <a:spcAft>
                <a:spcPts val="1600"/>
              </a:spcAft>
              <a:buSzPct val="100000"/>
              <a:buChar char="•"/>
            </a:pPr>
            <a:r>
              <a:rPr lang="en-US" sz="1800" b="1" dirty="0">
                <a:solidFill>
                  <a:srgbClr val="1B2130"/>
                </a:solidFill>
                <a:latin typeface="Arial" pitchFamily="34" charset="0"/>
                <a:ea typeface="Arial" pitchFamily="34" charset="-122"/>
                <a:cs typeface="Arial" pitchFamily="34" charset="-120"/>
              </a:rPr>
              <a:t>Đã tối ưu: </a:t>
            </a:r>
            <a:pPr indent="0" marL="0">
              <a:spcAft>
                <a:spcPts val="1600"/>
              </a:spcAft>
              <a:buNone/>
            </a:pPr>
            <a:r>
              <a:rPr lang="en-US" sz="1800" dirty="0">
                <a:solidFill>
                  <a:srgbClr val="4A5263"/>
                </a:solidFill>
                <a:latin typeface="Arial" pitchFamily="34" charset="0"/>
                <a:ea typeface="Arial" pitchFamily="34" charset="-122"/>
                <a:cs typeface="Arial" pitchFamily="34" charset="-120"/>
              </a:rPr>
              <a:t>chuông thông báo, đăng nhập (×8), truy vấn theo tab, realtime dàn trải; 600 người từ p99 3,7 s xuống 54 ms.</a:t>
            </a:r>
            <a:endParaRPr lang="en-US" sz="1800" dirty="0"/>
          </a:p>
          <a:p>
            <a:pPr marL="177800" indent="-177800">
              <a:spcAft>
                <a:spcPts val="1600"/>
              </a:spcAft>
              <a:buSzPct val="100000"/>
              <a:buChar char="•"/>
            </a:pPr>
            <a:r>
              <a:rPr lang="en-US" sz="1800" b="1" dirty="0">
                <a:solidFill>
                  <a:srgbClr val="1B2130"/>
                </a:solidFill>
                <a:latin typeface="Arial" pitchFamily="34" charset="0"/>
                <a:ea typeface="Arial" pitchFamily="34" charset="-122"/>
                <a:cs typeface="Arial" pitchFamily="34" charset="-120"/>
              </a:rPr>
              <a:t>1.200 người cùng lúc: </a:t>
            </a:r>
            <a:pPr indent="0" marL="0">
              <a:spcAft>
                <a:spcPts val="1600"/>
              </a:spcAft>
              <a:buNone/>
            </a:pPr>
            <a:r>
              <a:rPr lang="en-US" sz="1800" dirty="0">
                <a:solidFill>
                  <a:srgbClr val="4A5263"/>
                </a:solidFill>
                <a:latin typeface="Arial" pitchFamily="34" charset="0"/>
                <a:ea typeface="Arial" pitchFamily="34" charset="-122"/>
                <a:cs typeface="Arial" pitchFamily="34" charset="-120"/>
              </a:rPr>
              <a:t>chưa đạt trên laptop này (p99 4,3 s) nhưng không lỗi, không sập; cần server Linux đủ CPU và giảm tải tab Hóa đơn.</a:t>
            </a:r>
            <a:endParaRPr lang="en-US" sz="1800" dirty="0"/>
          </a:p>
        </p:txBody>
      </p:sp>
      <p:sp>
        <p:nvSpPr>
          <p:cNvPr id="6" name="Text 4"/>
          <p:cNvSpPr/>
          <p:nvPr/>
        </p:nvSpPr>
        <p:spPr>
          <a:xfrm>
            <a:off x="548640" y="6236208"/>
            <a:ext cx="11094415" cy="411480"/>
          </a:xfrm>
          <a:prstGeom prst="rect">
            <a:avLst/>
          </a:prstGeom>
          <a:noFill/>
          <a:ln/>
        </p:spPr>
        <p:txBody>
          <a:bodyPr wrap="square" lIns="0" tIns="0" rIns="0" bIns="0" rtlCol="0" anchor="t"/>
          <a:lstStyle/>
          <a:p>
            <a:pPr indent="0" marL="0">
              <a:buNone/>
            </a:pPr>
            <a:r>
              <a:rPr lang="en-US" sz="1100" dirty="0">
                <a:solidFill>
                  <a:srgbClr val="6B7385"/>
                </a:solidFill>
                <a:latin typeface="Arial" pitchFamily="34" charset="0"/>
                <a:ea typeface="Arial" pitchFamily="34" charset="-122"/>
                <a:cs typeface="Arial" pitchFamily="34" charset="-120"/>
              </a:rPr>
              <a:t>Cảm ơn. Hỏi đáp.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GroupSplit</dc:title>
  <dc:subject>Giới thiệu chức năng, công nghệ, tối ưu và kiểm thử chịu tải</dc:subject>
  <dc:creator>PptxGenJS</dc:creator>
  <cp:lastModifiedBy>PptxGenJS</cp:lastModifiedBy>
  <cp:revision>1</cp:revision>
  <dcterms:created xsi:type="dcterms:W3CDTF">2026-10-17T07:43:50Z</dcterms:created>
  <dcterms:modified xsi:type="dcterms:W3CDTF">2026-10-17T07:43:50Z</dcterms:modified>
</cp:coreProperties>
</file>